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7555d895-ba1e-b11c-2e0d-9969e1a3d55e}">
          <p14:sldIdLst>
            <p14:sldId id="256"/>
          </p14:sldIdLst>
        </p14:section>
        <p14:section name="Latar Belakang" id="{9d83a483-0bf2-5fbe-7513-c55388091a49}">
          <p14:sldIdLst>
            <p14:sldId id="257"/>
            <p14:sldId id="258"/>
          </p14:sldIdLst>
        </p14:section>
        <p14:section name="Latar Belakang" id="{c12d5b8c-c9d5-edd5-5f84-3b7a8843463b}">
          <p14:sldIdLst/>
        </p14:section>
        <p14:section name="Proses" id="{7b81157e-1dc5-8d4f-1181-4089a2defbf5}">
          <p14:sldIdLst>
            <p14:sldId id="259"/>
          </p14:sldIdLst>
        </p14:section>
        <p14:section name="Kebutuhan" id="{19c64222-2cad-b4d7-3c20-83a009d5a933}">
          <p14:sldIdLst>
            <p14:sldId id="260"/>
            <p14:sldId id="261"/>
          </p14:sldIdLst>
        </p14:section>
        <p14:section name="Kebutuhan" id="{e187ffd0-bd5f-de2a-6102-64b4882b6004}">
          <p14:sldIdLst/>
        </p14:section>
        <p14:section name="Desain" id="{e600b175-10ed-66aa-372c-5545acc0ecc7}">
          <p14:sldIdLst>
            <p14:sldId id="262"/>
            <p14:sldId id="263"/>
            <p14:sldId id="264"/>
          </p14:sldIdLst>
        </p14:section>
        <p14:section name="Desain" id="{70d27394-5b18-c288-7b14-dba8903dd800}">
          <p14:sldIdLst/>
        </p14:section>
        <p14:section name="Desain" id="{e654bc5a-2860-d0c4-efe7-dd931e9815f2}">
          <p14:sldIdLst/>
        </p14:section>
        <p14:section name="Penutup" id="{dee97a6a-2390-0961-9df4-20aac9d5101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4305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4305E"/>
                </a:solidFill>
                <a:latin typeface="+mn-lt"/>
              </a:rPr>
              <a:t>Skor tertimbang (maks. 140)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Skor tertimbang</c:v>
                </c:pt>
              </c:strCache>
            </c:strRef>
          </c:tx>
          <c:spPr>
            <a:solidFill>
              <a:srgbClr val="A8B3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B3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B3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0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Waterfall</c:v>
                  </c:pt>
                  <c:pt idx="1">
                    <c:v>Iterative</c:v>
                  </c:pt>
                  <c:pt idx="2">
                    <c:v>Agile/Scrum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97</c:v>
                </c:pt>
                <c:pt idx="2">
                  <c:v>122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Dustin membuka dan memimpin presentasi. Ringkasan: paket SRS, arsitektur, dan desain.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Dustin. Jelaskan masalah dari tiga sudut pandang lalu perkenalkan EventKu.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Dustin. Tekankan batas MVP: tiga hal di luar lingkup.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Dustin. Skor dari matriks perbandingan 7 kriteria berbobot (maks. 140).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Dustin. 33 dari 50 FR berprioritas Must dan menjadi cakupan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Dustin. Alur ini juga skenario simulasi end-to-end pada Minggu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Bambang. Isi/ganti dengan diagram final dari Lucidchart (Minggu 6) dan keputusan design pattern (Minggu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Audrey. Ganti tiga kotak dengan tangkapan layar Figma (beranda, pencarian, dashboard).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Alexa. Tambahkan cuplikan checklist QA awal dan struktur branching yang sudah disiapkan.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Dustin. Tutup dengan roadmap dan buka sesi tanya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243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rect">
            <a:avLst/>
          </a:prstGeom>
          <a:solidFill>
            <a:srgbClr val="E8505B">
              <a:alpha val="20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43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5DAEE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B6"/>
                </a:solidFill>
              </a:rPr>
              <a:t>EventKu  |  Checkpoint UTS  |  Kelompok IV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4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243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EventKu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AEE"/>
                </a:solidFill>
              </a:rPr>
              <a:t>Website Kumpulan dan Pendaftaran Event Kampus</a:t>
            </a:r>
            <a:endParaRPr lang="en-US" sz="2000" dirty="0"/>
          </a:p>
        </p:txBody>
      </p:sp>
      <p:sp>
        <p:nvSpPr>
          <p:cNvPr id="4" name="Subjudul"/>
          <p:cNvSpPr txBox="1"/>
          <p:nvPr/>
        </p:nvSpPr>
        <p:spPr>
          <a:xfrm>
            <a:off x="640080" y="3566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Presentasi Checkpoint UTS  |  INF300 Rekayasa Perangkat Lunak</a:t>
            </a:r>
            <a:endParaRPr lang="en-US" sz="1400" dirty="0"/>
          </a:p>
        </p:txBody>
      </p:sp>
      <p:sp>
        <p:nvSpPr>
          <p:cNvPr id="5" name="Anggota"/>
          <p:cNvSpPr txBox="1"/>
          <p:nvPr/>
        </p:nvSpPr>
        <p:spPr>
          <a:xfrm>
            <a:off x="640080" y="3931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Kelompok IV: Dustin  •  Bambang  •  Audrey Gresia  •  Alexa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Informasi event kampus masih tersebar</a:t>
            </a:r>
            <a:endParaRPr lang="en-US" sz="3000" dirty="0"/>
          </a:p>
        </p:txBody>
      </p:sp>
      <p:sp>
        <p:nvSpPr>
          <p:cNvPr id="4" name="Nomor1"/>
          <p:cNvSpPr txBox="1"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Peran1"/>
          <p:cNvSpPr txBox="1"/>
          <p:nvPr/>
        </p:nvSpPr>
        <p:spPr>
          <a:xfrm>
            <a:off x="118872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Mahasiswa</a:t>
            </a:r>
            <a:endParaRPr lang="en-US" sz="1800" dirty="0"/>
          </a:p>
        </p:txBody>
      </p:sp>
      <p:sp>
        <p:nvSpPr>
          <p:cNvPr id="6" name="Masalah1"/>
          <p:cNvSpPr txBox="1"/>
          <p:nvPr/>
        </p:nvSpPr>
        <p:spPr>
          <a:xfrm>
            <a:off x="1188720" y="1600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 tersebar di poster, grup chat, dan media sosial, sehingga mudah terlewat.</a:t>
            </a:r>
            <a:endParaRPr lang="en-US" sz="1400" dirty="0"/>
          </a:p>
        </p:txBody>
      </p:sp>
      <p:sp>
        <p:nvSpPr>
          <p:cNvPr id="7" name="Nomor2"/>
          <p:cNvSpPr txBox="1"/>
          <p:nvPr/>
        </p:nvSpPr>
        <p:spPr>
          <a:xfrm>
            <a:off x="457200" y="2423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Peran2"/>
          <p:cNvSpPr txBox="1"/>
          <p:nvPr/>
        </p:nvSpPr>
        <p:spPr>
          <a:xfrm>
            <a:off x="118872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Penyelenggara</a:t>
            </a:r>
            <a:endParaRPr lang="en-US" sz="1800" dirty="0"/>
          </a:p>
        </p:txBody>
      </p:sp>
      <p:sp>
        <p:nvSpPr>
          <p:cNvPr id="9" name="Masalah2"/>
          <p:cNvSpPr txBox="1"/>
          <p:nvPr/>
        </p:nvSpPr>
        <p:spPr>
          <a:xfrm>
            <a:off x="1188720" y="2697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Sulit menjangkau peserta dan mengelola pendaftaran secara rapi.</a:t>
            </a:r>
            <a:endParaRPr lang="en-US" sz="1400" dirty="0"/>
          </a:p>
        </p:txBody>
      </p:sp>
      <p:sp>
        <p:nvSpPr>
          <p:cNvPr id="10" name="Nomor3"/>
          <p:cNvSpPr txBox="1"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Peran3"/>
          <p:cNvSpPr txBox="1"/>
          <p:nvPr/>
        </p:nvSpPr>
        <p:spPr>
          <a:xfrm>
            <a:off x="1188720" y="3429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Admin fakultas</a:t>
            </a:r>
            <a:endParaRPr lang="en-US" sz="1800" dirty="0"/>
          </a:p>
        </p:txBody>
      </p:sp>
      <p:sp>
        <p:nvSpPr>
          <p:cNvPr id="12" name="Masalah3"/>
          <p:cNvSpPr txBox="1"/>
          <p:nvPr/>
        </p:nvSpPr>
        <p:spPr>
          <a:xfrm>
            <a:off x="1188720" y="3794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Tidak ada kurasi, sehingga info palsu atau tidak valid bisa beredar.</a:t>
            </a:r>
            <a:endParaRPr lang="en-US" sz="1400" dirty="0"/>
          </a:p>
        </p:txBody>
      </p:sp>
      <p:sp>
        <p:nvSpPr>
          <p:cNvPr id="13" name="KartuSolusi"/>
          <p:cNvSpPr/>
          <p:nvPr/>
        </p:nvSpPr>
        <p:spPr>
          <a:xfrm>
            <a:off x="5577840" y="1234440"/>
            <a:ext cx="3108960" cy="320040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LabelSolusi"/>
          <p:cNvSpPr txBox="1"/>
          <p:nvPr/>
        </p:nvSpPr>
        <p:spPr>
          <a:xfrm>
            <a:off x="585216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Solusi</a:t>
            </a:r>
            <a:endParaRPr lang="en-US" sz="1400" dirty="0"/>
          </a:p>
        </p:txBody>
      </p:sp>
      <p:sp>
        <p:nvSpPr>
          <p:cNvPr id="15" name="NamaProduk"/>
          <p:cNvSpPr txBox="1"/>
          <p:nvPr/>
        </p:nvSpPr>
        <p:spPr>
          <a:xfrm>
            <a:off x="585216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EventKu</a:t>
            </a:r>
            <a:endParaRPr lang="en-US" sz="3200" dirty="0"/>
          </a:p>
        </p:txBody>
      </p:sp>
      <p:sp>
        <p:nvSpPr>
          <p:cNvPr id="16" name="DeskripsiSolusi"/>
          <p:cNvSpPr txBox="1"/>
          <p:nvPr/>
        </p:nvSpPr>
        <p:spPr>
          <a:xfrm>
            <a:off x="5852160" y="24688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Satu platform terpusat untuk menemukan, mengajukan, memoderasi, dan mendaftar event kampus.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peran pengguna, satu platform</a:t>
            </a:r>
            <a:endParaRPr lang="en-US" sz="3000" dirty="0"/>
          </a:p>
        </p:txBody>
      </p:sp>
      <p:sp>
        <p:nvSpPr>
          <p:cNvPr id="4" name="KartuPeran1"/>
          <p:cNvSpPr/>
          <p:nvPr/>
        </p:nvSpPr>
        <p:spPr>
          <a:xfrm>
            <a:off x="457200" y="1188720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konPeran1"/>
          <p:cNvSpPr txBox="1"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NamaPeran1"/>
          <p:cNvSpPr txBox="1"/>
          <p:nvPr/>
        </p:nvSpPr>
        <p:spPr>
          <a:xfrm>
            <a:off x="13258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Mahasiswa</a:t>
            </a:r>
            <a:endParaRPr lang="en-US" sz="1800" dirty="0"/>
          </a:p>
        </p:txBody>
      </p:sp>
      <p:sp>
        <p:nvSpPr>
          <p:cNvPr id="7" name="FiturPeran1"/>
          <p:cNvSpPr txBox="1"/>
          <p:nvPr/>
        </p:nvSpPr>
        <p:spPr>
          <a:xfrm>
            <a:off x="685800" y="2148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Cari dan filter event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Daftar (RSVP) dan batalkan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Kalender dan notifikasi minat</a:t>
            </a:r>
            <a:endParaRPr lang="en-US" sz="1400" dirty="0"/>
          </a:p>
        </p:txBody>
      </p:sp>
      <p:sp>
        <p:nvSpPr>
          <p:cNvPr id="8" name="KartuPeran2"/>
          <p:cNvSpPr/>
          <p:nvPr/>
        </p:nvSpPr>
        <p:spPr>
          <a:xfrm>
            <a:off x="3291840" y="1188720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konPeran2"/>
          <p:cNvSpPr txBox="1"/>
          <p:nvPr/>
        </p:nvSpPr>
        <p:spPr>
          <a:xfrm>
            <a:off x="3520440" y="14173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NamaPeran2"/>
          <p:cNvSpPr txBox="1"/>
          <p:nvPr/>
        </p:nvSpPr>
        <p:spPr>
          <a:xfrm>
            <a:off x="41605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Penyelenggara</a:t>
            </a:r>
            <a:endParaRPr lang="en-US" sz="1800" dirty="0"/>
          </a:p>
        </p:txBody>
      </p:sp>
      <p:sp>
        <p:nvSpPr>
          <p:cNvPr id="11" name="FiturPeran2"/>
          <p:cNvSpPr txBox="1"/>
          <p:nvPr/>
        </p:nvSpPr>
        <p:spPr>
          <a:xfrm>
            <a:off x="3520440" y="2148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Ajukan dan kelola event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Pantau peserta terdaftar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Ekspor data peserta (CSV)</a:t>
            </a:r>
            <a:endParaRPr lang="en-US" sz="1400" dirty="0"/>
          </a:p>
        </p:txBody>
      </p:sp>
      <p:sp>
        <p:nvSpPr>
          <p:cNvPr id="12" name="KartuPeran3"/>
          <p:cNvSpPr/>
          <p:nvPr/>
        </p:nvSpPr>
        <p:spPr>
          <a:xfrm>
            <a:off x="6126480" y="1188720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konPeran3"/>
          <p:cNvSpPr txBox="1"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NamaPeran3"/>
          <p:cNvSpPr txBox="1"/>
          <p:nvPr/>
        </p:nvSpPr>
        <p:spPr>
          <a:xfrm>
            <a:off x="69951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Admin</a:t>
            </a:r>
            <a:endParaRPr lang="en-US" sz="1800" dirty="0"/>
          </a:p>
        </p:txBody>
      </p:sp>
      <p:sp>
        <p:nvSpPr>
          <p:cNvPr id="15" name="FiturPeran3"/>
          <p:cNvSpPr txBox="1"/>
          <p:nvPr/>
        </p:nvSpPr>
        <p:spPr>
          <a:xfrm>
            <a:off x="6355080" y="2148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Moderasi: setujui atau tolak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Kelola kategori dan organisasi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Pantau statistik platform</a:t>
            </a:r>
            <a:endParaRPr lang="en-US" sz="1400" dirty="0"/>
          </a:p>
        </p:txBody>
      </p:sp>
      <p:sp>
        <p:nvSpPr>
          <p:cNvPr id="16" name="DiLuarLingkup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 luar MVP: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aplikasi mobile native  •  pembayaran / tiket berbayar  •  SSO resmi kampus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Agile/Scrum paling sesuai untuk EventKu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480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NomorAlasan1"/>
          <p:cNvSpPr txBox="1"/>
          <p:nvPr/>
        </p:nvSpPr>
        <p:spPr>
          <a:xfrm>
            <a:off x="5303520" y="12344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Alasan1"/>
          <p:cNvSpPr txBox="1"/>
          <p:nvPr/>
        </p:nvSpPr>
        <p:spPr>
          <a:xfrm>
            <a:off x="5897880" y="12161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Kebutuhan bisa berkembang</a:t>
            </a:r>
            <a:endParaRPr lang="en-US" sz="1600" dirty="0"/>
          </a:p>
        </p:txBody>
      </p:sp>
      <p:sp>
        <p:nvSpPr>
          <p:cNvPr id="7" name="DetailAlasan1"/>
          <p:cNvSpPr txBox="1"/>
          <p:nvPr/>
        </p:nvSpPr>
        <p:spPr>
          <a:xfrm>
            <a:off x="5897880" y="15270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Backlog dapat diprioritaskan ulang tiap sprint.</a:t>
            </a:r>
            <a:endParaRPr lang="en-US" sz="1400" dirty="0"/>
          </a:p>
        </p:txBody>
      </p:sp>
      <p:sp>
        <p:nvSpPr>
          <p:cNvPr id="8" name="NomorAlasan2"/>
          <p:cNvSpPr txBox="1"/>
          <p:nvPr/>
        </p:nvSpPr>
        <p:spPr>
          <a:xfrm>
            <a:off x="5303520" y="22860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Alasan2"/>
          <p:cNvSpPr txBox="1"/>
          <p:nvPr/>
        </p:nvSpPr>
        <p:spPr>
          <a:xfrm>
            <a:off x="5897880" y="22677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Waktu implementasi singkat</a:t>
            </a:r>
            <a:endParaRPr lang="en-US" sz="1600" dirty="0"/>
          </a:p>
        </p:txBody>
      </p:sp>
      <p:sp>
        <p:nvSpPr>
          <p:cNvPr id="10" name="DetailAlasan2"/>
          <p:cNvSpPr txBox="1"/>
          <p:nvPr/>
        </p:nvSpPr>
        <p:spPr>
          <a:xfrm>
            <a:off x="5897880" y="257860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Pengujian ada di tiap sprint, bukan di akhir.</a:t>
            </a:r>
            <a:endParaRPr lang="en-US" sz="1400" dirty="0"/>
          </a:p>
        </p:txBody>
      </p:sp>
      <p:sp>
        <p:nvSpPr>
          <p:cNvPr id="11" name="NomorAlasan3"/>
          <p:cNvSpPr txBox="1"/>
          <p:nvPr/>
        </p:nvSpPr>
        <p:spPr>
          <a:xfrm>
            <a:off x="5303520" y="33375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Alasan3"/>
          <p:cNvSpPr txBox="1"/>
          <p:nvPr/>
        </p:nvSpPr>
        <p:spPr>
          <a:xfrm>
            <a:off x="5897880" y="33192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Produk modular, tim kecil</a:t>
            </a:r>
            <a:endParaRPr lang="en-US" sz="1600" dirty="0"/>
          </a:p>
        </p:txBody>
      </p:sp>
      <p:sp>
        <p:nvSpPr>
          <p:cNvPr id="13" name="DetailAlasan3"/>
          <p:cNvSpPr txBox="1"/>
          <p:nvPr/>
        </p:nvSpPr>
        <p:spPr>
          <a:xfrm>
            <a:off x="5897880" y="36301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Auth, Event, Pendaftaran, Notifikasi jadi increment.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SRS: kebutuhan yang sudah ditetapkan</a:t>
            </a:r>
            <a:endParaRPr lang="en-US" sz="3000" dirty="0"/>
          </a:p>
        </p:txBody>
      </p:sp>
      <p:sp>
        <p:nvSpPr>
          <p:cNvPr id="4" name="KartuStat1"/>
          <p:cNvSpPr/>
          <p:nvPr/>
        </p:nvSpPr>
        <p:spPr>
          <a:xfrm>
            <a:off x="457200" y="1188720"/>
            <a:ext cx="26517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ngka1"/>
          <p:cNvSpPr txBox="1"/>
          <p:nvPr/>
        </p:nvSpPr>
        <p:spPr>
          <a:xfrm>
            <a:off x="731520" y="1280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6000" dirty="0"/>
          </a:p>
        </p:txBody>
      </p:sp>
      <p:sp>
        <p:nvSpPr>
          <p:cNvPr id="6" name="LabelStat1"/>
          <p:cNvSpPr txBox="1"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Kebutuhan fungsional</a:t>
            </a:r>
            <a:endParaRPr lang="en-US" sz="1600" dirty="0"/>
          </a:p>
        </p:txBody>
      </p:sp>
      <p:sp>
        <p:nvSpPr>
          <p:cNvPr id="7" name="KartuStat2"/>
          <p:cNvSpPr/>
          <p:nvPr/>
        </p:nvSpPr>
        <p:spPr>
          <a:xfrm>
            <a:off x="3291840" y="1188720"/>
            <a:ext cx="26517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ngka2"/>
          <p:cNvSpPr txBox="1"/>
          <p:nvPr/>
        </p:nvSpPr>
        <p:spPr>
          <a:xfrm>
            <a:off x="3566160" y="1280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9" name="LabelStat2"/>
          <p:cNvSpPr txBox="1"/>
          <p:nvPr/>
        </p:nvSpPr>
        <p:spPr>
          <a:xfrm>
            <a:off x="35661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Kebutuhan non-fungsional</a:t>
            </a:r>
            <a:endParaRPr lang="en-US" sz="1600" dirty="0"/>
          </a:p>
        </p:txBody>
      </p:sp>
      <p:sp>
        <p:nvSpPr>
          <p:cNvPr id="10" name="KartuStat3"/>
          <p:cNvSpPr/>
          <p:nvPr/>
        </p:nvSpPr>
        <p:spPr>
          <a:xfrm>
            <a:off x="6126480" y="1188720"/>
            <a:ext cx="26517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ngka3"/>
          <p:cNvSpPr txBox="1"/>
          <p:nvPr/>
        </p:nvSpPr>
        <p:spPr>
          <a:xfrm>
            <a:off x="6400800" y="1280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12" name="LabelStat3"/>
          <p:cNvSpPr txBox="1"/>
          <p:nvPr/>
        </p:nvSpPr>
        <p:spPr>
          <a:xfrm>
            <a:off x="6400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 case</a:t>
            </a:r>
            <a:endParaRPr lang="en-US" sz="1600" dirty="0"/>
          </a:p>
        </p:txBody>
      </p:sp>
      <p:sp>
        <p:nvSpPr>
          <p:cNvPr id="13" name="CatatanMVP"/>
          <p:cNvSpPr txBox="1"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33 kebutuhan Must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membentuk MVP. Modul: Auth, Event, Moderasi, Pencarian, Pendaftaran, Kalender, Notifikasi, Dashboard, Administrasi.</a:t>
            </a:r>
            <a:endParaRPr lang="en-US" sz="1600" dirty="0"/>
          </a:p>
        </p:txBody>
      </p:sp>
      <p:sp>
        <p:nvSpPr>
          <p:cNvPr id="14" name="CatatanNFR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Non-fungsional: performa (halaman utama &lt;= 3 detik), skalabilitas modular, keamanan (hash, RBAC, HTTPS), reliabilitas (backup harian).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utama: pengajuan hingga pendaftaran</a:t>
            </a:r>
            <a:endParaRPr lang="en-US" sz="3000" dirty="0"/>
          </a:p>
        </p:txBody>
      </p:sp>
      <p:sp>
        <p:nvSpPr>
          <p:cNvPr id="4" name="KartuAlur1"/>
          <p:cNvSpPr/>
          <p:nvPr/>
        </p:nvSpPr>
        <p:spPr>
          <a:xfrm>
            <a:off x="45720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angkahAlur1"/>
          <p:cNvSpPr txBox="1"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AktorAlur1"/>
          <p:cNvSpPr txBox="1"/>
          <p:nvPr/>
        </p:nvSpPr>
        <p:spPr>
          <a:xfrm>
            <a:off x="6400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Penyelenggara</a:t>
            </a:r>
            <a:endParaRPr lang="en-US" sz="1600" dirty="0"/>
          </a:p>
        </p:txBody>
      </p:sp>
      <p:sp>
        <p:nvSpPr>
          <p:cNvPr id="7" name="DeskripsiAlur1"/>
          <p:cNvSpPr txBox="1"/>
          <p:nvPr/>
        </p:nvSpPr>
        <p:spPr>
          <a:xfrm>
            <a:off x="64008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Mengajukan event dan poster</a:t>
            </a:r>
            <a:endParaRPr lang="en-US" sz="1400" dirty="0"/>
          </a:p>
        </p:txBody>
      </p:sp>
      <p:sp>
        <p:nvSpPr>
          <p:cNvPr id="8" name="Panah1"/>
          <p:cNvSpPr/>
          <p:nvPr/>
        </p:nvSpPr>
        <p:spPr>
          <a:xfrm>
            <a:off x="2377440" y="2377440"/>
            <a:ext cx="182880" cy="274320"/>
          </a:xfrm>
          <a:prstGeom prst="rightArrow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9" name="KartuAlur2"/>
          <p:cNvSpPr/>
          <p:nvPr/>
        </p:nvSpPr>
        <p:spPr>
          <a:xfrm>
            <a:off x="256032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angkahAlur2"/>
          <p:cNvSpPr txBox="1"/>
          <p:nvPr/>
        </p:nvSpPr>
        <p:spPr>
          <a:xfrm>
            <a:off x="27432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AktorAlur2"/>
          <p:cNvSpPr txBox="1"/>
          <p:nvPr/>
        </p:nvSpPr>
        <p:spPr>
          <a:xfrm>
            <a:off x="274320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</a:t>
            </a:r>
            <a:endParaRPr lang="en-US" sz="1600" dirty="0"/>
          </a:p>
        </p:txBody>
      </p:sp>
      <p:sp>
        <p:nvSpPr>
          <p:cNvPr id="12" name="DeskripsiAlur2"/>
          <p:cNvSpPr txBox="1"/>
          <p:nvPr/>
        </p:nvSpPr>
        <p:spPr>
          <a:xfrm>
            <a:off x="274320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Moderasi: setujui atau tolak dengan alasan</a:t>
            </a:r>
            <a:endParaRPr lang="en-US" sz="1400" dirty="0"/>
          </a:p>
        </p:txBody>
      </p:sp>
      <p:sp>
        <p:nvSpPr>
          <p:cNvPr id="13" name="Panah2"/>
          <p:cNvSpPr/>
          <p:nvPr/>
        </p:nvSpPr>
        <p:spPr>
          <a:xfrm>
            <a:off x="4480560" y="2377440"/>
            <a:ext cx="182880" cy="274320"/>
          </a:xfrm>
          <a:prstGeom prst="rightArrow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4" name="KartuAlur3"/>
          <p:cNvSpPr/>
          <p:nvPr/>
        </p:nvSpPr>
        <p:spPr>
          <a:xfrm>
            <a:off x="466344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LangkahAlur3"/>
          <p:cNvSpPr txBox="1"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AktorAlur3"/>
          <p:cNvSpPr txBox="1"/>
          <p:nvPr/>
        </p:nvSpPr>
        <p:spPr>
          <a:xfrm>
            <a:off x="484632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EventKu</a:t>
            </a:r>
            <a:endParaRPr lang="en-US" sz="1600" dirty="0"/>
          </a:p>
        </p:txBody>
      </p:sp>
      <p:sp>
        <p:nvSpPr>
          <p:cNvPr id="17" name="DeskripsiAlur3"/>
          <p:cNvSpPr txBox="1"/>
          <p:nvPr/>
        </p:nvSpPr>
        <p:spPr>
          <a:xfrm>
            <a:off x="484632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 tayang dan notifikasi ke mahasiswa berminat</a:t>
            </a:r>
            <a:endParaRPr lang="en-US" sz="1400" dirty="0"/>
          </a:p>
        </p:txBody>
      </p:sp>
      <p:sp>
        <p:nvSpPr>
          <p:cNvPr id="18" name="Panah3"/>
          <p:cNvSpPr/>
          <p:nvPr/>
        </p:nvSpPr>
        <p:spPr>
          <a:xfrm>
            <a:off x="6583680" y="2377440"/>
            <a:ext cx="182880" cy="274320"/>
          </a:xfrm>
          <a:prstGeom prst="rightArrow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9" name="KartuAlur4"/>
          <p:cNvSpPr/>
          <p:nvPr/>
        </p:nvSpPr>
        <p:spPr>
          <a:xfrm>
            <a:off x="676656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angkahAlur4"/>
          <p:cNvSpPr txBox="1"/>
          <p:nvPr/>
        </p:nvSpPr>
        <p:spPr>
          <a:xfrm>
            <a:off x="69494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AktorAlur4"/>
          <p:cNvSpPr txBox="1"/>
          <p:nvPr/>
        </p:nvSpPr>
        <p:spPr>
          <a:xfrm>
            <a:off x="694944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Mahasiswa</a:t>
            </a:r>
            <a:endParaRPr lang="en-US" sz="1600" dirty="0"/>
          </a:p>
        </p:txBody>
      </p:sp>
      <p:sp>
        <p:nvSpPr>
          <p:cNvPr id="22" name="DeskripsiAlur4"/>
          <p:cNvSpPr txBox="1"/>
          <p:nvPr/>
        </p:nvSpPr>
        <p:spPr>
          <a:xfrm>
            <a:off x="694944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Cari, filter, lalu daftar (kuota dicek)</a:t>
            </a:r>
            <a:endParaRPr lang="en-US" sz="1400" dirty="0"/>
          </a:p>
        </p:txBody>
      </p:sp>
      <p:sp>
        <p:nvSpPr>
          <p:cNvPr id="23" name="AturanTayang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Hanya event berstatus Disetujui yang tampil di daftar dan kalender publik.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modular tiga lapis</a:t>
            </a:r>
            <a:endParaRPr lang="en-US" sz="3000" dirty="0"/>
          </a:p>
        </p:txBody>
      </p:sp>
      <p:sp>
        <p:nvSpPr>
          <p:cNvPr id="4" name="Lapis1"/>
          <p:cNvSpPr/>
          <p:nvPr/>
        </p:nvSpPr>
        <p:spPr>
          <a:xfrm>
            <a:off x="457200" y="1188720"/>
            <a:ext cx="51206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amaLapis1"/>
          <p:cNvSpPr txBox="1"/>
          <p:nvPr/>
        </p:nvSpPr>
        <p:spPr>
          <a:xfrm>
            <a:off x="640080" y="1280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IsiLapis1"/>
          <p:cNvSpPr txBox="1"/>
          <p:nvPr/>
        </p:nvSpPr>
        <p:spPr>
          <a:xfrm>
            <a:off x="64008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React.js + Tailwind CSS: halaman mahasiswa, penyelenggara, admin</a:t>
            </a:r>
            <a:endParaRPr lang="en-US" sz="1400" dirty="0"/>
          </a:p>
        </p:txBody>
      </p:sp>
      <p:sp>
        <p:nvSpPr>
          <p:cNvPr id="7" name="PanahLapis1"/>
          <p:cNvSpPr/>
          <p:nvPr/>
        </p:nvSpPr>
        <p:spPr>
          <a:xfrm>
            <a:off x="2880360" y="2057400"/>
            <a:ext cx="274320" cy="274320"/>
          </a:xfrm>
          <a:prstGeom prst="downArrow">
            <a:avLst/>
          </a:prstGeom>
          <a:solidFill>
            <a:srgbClr val="7A86B6"/>
          </a:solidFill>
          <a:ln w="12700">
            <a:solidFill>
              <a:srgbClr val="7A86B6"/>
            </a:solidFill>
            <a:prstDash val="solid"/>
          </a:ln>
        </p:spPr>
      </p:sp>
      <p:sp>
        <p:nvSpPr>
          <p:cNvPr id="8" name="Lapis2"/>
          <p:cNvSpPr/>
          <p:nvPr/>
        </p:nvSpPr>
        <p:spPr>
          <a:xfrm>
            <a:off x="457200" y="2331720"/>
            <a:ext cx="512064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amaLapis2"/>
          <p:cNvSpPr txBox="1"/>
          <p:nvPr/>
        </p:nvSpPr>
        <p:spPr>
          <a:xfrm>
            <a:off x="64008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REST API (Backend)</a:t>
            </a:r>
            <a:endParaRPr lang="en-US" sz="1600" dirty="0"/>
          </a:p>
        </p:txBody>
      </p:sp>
      <p:sp>
        <p:nvSpPr>
          <p:cNvPr id="10" name="IsiLapis2"/>
          <p:cNvSpPr txBox="1"/>
          <p:nvPr/>
        </p:nvSpPr>
        <p:spPr>
          <a:xfrm>
            <a:off x="64008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Modul Auth  •  Event  •  Pendaftaran  •  Notifikasi</a:t>
            </a:r>
            <a:endParaRPr lang="en-US" sz="1400" dirty="0"/>
          </a:p>
        </p:txBody>
      </p:sp>
      <p:sp>
        <p:nvSpPr>
          <p:cNvPr id="11" name="PanahLapis2"/>
          <p:cNvSpPr/>
          <p:nvPr/>
        </p:nvSpPr>
        <p:spPr>
          <a:xfrm>
            <a:off x="2880360" y="3200400"/>
            <a:ext cx="274320" cy="274320"/>
          </a:xfrm>
          <a:prstGeom prst="downArrow">
            <a:avLst/>
          </a:prstGeom>
          <a:solidFill>
            <a:srgbClr val="7A86B6"/>
          </a:solidFill>
          <a:ln w="12700">
            <a:solidFill>
              <a:srgbClr val="7A86B6"/>
            </a:solidFill>
            <a:prstDash val="solid"/>
          </a:ln>
        </p:spPr>
      </p:sp>
      <p:sp>
        <p:nvSpPr>
          <p:cNvPr id="12" name="Lapis3"/>
          <p:cNvSpPr/>
          <p:nvPr/>
        </p:nvSpPr>
        <p:spPr>
          <a:xfrm>
            <a:off x="457200" y="3474720"/>
            <a:ext cx="51206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NamaLapis3"/>
          <p:cNvSpPr txBox="1"/>
          <p:nvPr/>
        </p:nvSpPr>
        <p:spPr>
          <a:xfrm>
            <a:off x="640080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Basis Data</a:t>
            </a:r>
            <a:endParaRPr lang="en-US" sz="1600" dirty="0"/>
          </a:p>
        </p:txBody>
      </p:sp>
      <p:sp>
        <p:nvSpPr>
          <p:cNvPr id="14" name="IsiLapis3"/>
          <p:cNvSpPr txBox="1"/>
          <p:nvPr/>
        </p:nvSpPr>
        <p:spPr>
          <a:xfrm>
            <a:off x="640080" y="3886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MySQL / PostgreSQL: User, Organisasi, Event, Pendaftaran, Notifikasi</a:t>
            </a:r>
            <a:endParaRPr lang="en-US" sz="1400" dirty="0"/>
          </a:p>
        </p:txBody>
      </p:sp>
      <p:sp>
        <p:nvSpPr>
          <p:cNvPr id="15" name="JudulPattern"/>
          <p:cNvSpPr txBox="1"/>
          <p:nvPr/>
        </p:nvSpPr>
        <p:spPr>
          <a:xfrm>
            <a:off x="603504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Design pattern</a:t>
            </a:r>
            <a:endParaRPr lang="en-US" sz="1800" dirty="0"/>
          </a:p>
        </p:txBody>
      </p:sp>
      <p:sp>
        <p:nvSpPr>
          <p:cNvPr id="16" name="KartuPattern1"/>
          <p:cNvSpPr/>
          <p:nvPr/>
        </p:nvSpPr>
        <p:spPr>
          <a:xfrm>
            <a:off x="6035040" y="164592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amaPattern1"/>
          <p:cNvSpPr txBox="1"/>
          <p:nvPr/>
        </p:nvSpPr>
        <p:spPr>
          <a:xfrm>
            <a:off x="62179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MVC</a:t>
            </a:r>
            <a:endParaRPr lang="en-US" sz="1600" dirty="0"/>
          </a:p>
        </p:txBody>
      </p:sp>
      <p:sp>
        <p:nvSpPr>
          <p:cNvPr id="18" name="FungsiPattern1"/>
          <p:cNvSpPr txBox="1"/>
          <p:nvPr/>
        </p:nvSpPr>
        <p:spPr>
          <a:xfrm>
            <a:off x="621792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Struktur aplikasi</a:t>
            </a:r>
            <a:endParaRPr lang="en-US" sz="1400" dirty="0"/>
          </a:p>
        </p:txBody>
      </p:sp>
      <p:sp>
        <p:nvSpPr>
          <p:cNvPr id="19" name="KartuPattern2"/>
          <p:cNvSpPr/>
          <p:nvPr/>
        </p:nvSpPr>
        <p:spPr>
          <a:xfrm>
            <a:off x="6035040" y="251460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amaPattern2"/>
          <p:cNvSpPr txBox="1"/>
          <p:nvPr/>
        </p:nvSpPr>
        <p:spPr>
          <a:xfrm>
            <a:off x="621792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Repository</a:t>
            </a:r>
            <a:endParaRPr lang="en-US" sz="1600" dirty="0"/>
          </a:p>
        </p:txBody>
      </p:sp>
      <p:sp>
        <p:nvSpPr>
          <p:cNvPr id="21" name="FungsiPattern2"/>
          <p:cNvSpPr txBox="1"/>
          <p:nvPr/>
        </p:nvSpPr>
        <p:spPr>
          <a:xfrm>
            <a:off x="6217920" y="2898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Akses data</a:t>
            </a:r>
            <a:endParaRPr lang="en-US" sz="1400" dirty="0"/>
          </a:p>
        </p:txBody>
      </p:sp>
      <p:sp>
        <p:nvSpPr>
          <p:cNvPr id="22" name="KartuPattern3"/>
          <p:cNvSpPr/>
          <p:nvPr/>
        </p:nvSpPr>
        <p:spPr>
          <a:xfrm>
            <a:off x="6035040" y="338328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NamaPattern3"/>
          <p:cNvSpPr txBox="1"/>
          <p:nvPr/>
        </p:nvSpPr>
        <p:spPr>
          <a:xfrm>
            <a:off x="621792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Observer</a:t>
            </a:r>
            <a:endParaRPr lang="en-US" sz="1600" dirty="0"/>
          </a:p>
        </p:txBody>
      </p:sp>
      <p:sp>
        <p:nvSpPr>
          <p:cNvPr id="24" name="FungsiPattern3"/>
          <p:cNvSpPr txBox="1"/>
          <p:nvPr/>
        </p:nvSpPr>
        <p:spPr>
          <a:xfrm>
            <a:off x="6217920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Notifikasi event baru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UI/UX: halaman per peran</a:t>
            </a:r>
            <a:endParaRPr lang="en-US" sz="3000" dirty="0"/>
          </a:p>
        </p:txBody>
      </p:sp>
      <p:sp>
        <p:nvSpPr>
          <p:cNvPr id="4" name="PeranUI1"/>
          <p:cNvSpPr txBox="1"/>
          <p:nvPr/>
        </p:nvSpPr>
        <p:spPr>
          <a:xfrm>
            <a:off x="45720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Mahasiswa</a:t>
            </a:r>
            <a:endParaRPr lang="en-US" sz="1600" dirty="0"/>
          </a:p>
        </p:txBody>
      </p:sp>
      <p:sp>
        <p:nvSpPr>
          <p:cNvPr id="5" name="HalamanUI1"/>
          <p:cNvSpPr txBox="1"/>
          <p:nvPr/>
        </p:nvSpPr>
        <p:spPr>
          <a:xfrm>
            <a:off x="45720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Beranda, pencarian, detail, kalender, riwayat</a:t>
            </a:r>
            <a:endParaRPr lang="en-US" sz="1400" dirty="0"/>
          </a:p>
        </p:txBody>
      </p:sp>
      <p:sp>
        <p:nvSpPr>
          <p:cNvPr id="6" name="PeranUI2"/>
          <p:cNvSpPr txBox="1"/>
          <p:nvPr/>
        </p:nvSpPr>
        <p:spPr>
          <a:xfrm>
            <a:off x="45720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Penyelenggara</a:t>
            </a:r>
            <a:endParaRPr lang="en-US" sz="1600" dirty="0"/>
          </a:p>
        </p:txBody>
      </p:sp>
      <p:sp>
        <p:nvSpPr>
          <p:cNvPr id="7" name="HalamanUI2"/>
          <p:cNvSpPr txBox="1"/>
          <p:nvPr/>
        </p:nvSpPr>
        <p:spPr>
          <a:xfrm>
            <a:off x="457200" y="2560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Dashboard, form pengajuan, daftar peserta</a:t>
            </a:r>
            <a:endParaRPr lang="en-US" sz="1400" dirty="0"/>
          </a:p>
        </p:txBody>
      </p:sp>
      <p:sp>
        <p:nvSpPr>
          <p:cNvPr id="8" name="PeranUI3"/>
          <p:cNvSpPr txBox="1"/>
          <p:nvPr/>
        </p:nvSpPr>
        <p:spPr>
          <a:xfrm>
            <a:off x="45720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</a:t>
            </a:r>
            <a:endParaRPr lang="en-US" sz="1600" dirty="0"/>
          </a:p>
        </p:txBody>
      </p:sp>
      <p:sp>
        <p:nvSpPr>
          <p:cNvPr id="9" name="HalamanUI3"/>
          <p:cNvSpPr txBox="1"/>
          <p:nvPr/>
        </p:nvSpPr>
        <p:spPr>
          <a:xfrm>
            <a:off x="457200" y="3611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Antrean moderasi, kategori, statistik</a:t>
            </a:r>
            <a:endParaRPr lang="en-US" sz="1400" dirty="0"/>
          </a:p>
        </p:txBody>
      </p:sp>
      <p:sp>
        <p:nvSpPr>
          <p:cNvPr id="10" name="FrameMockup1"/>
          <p:cNvSpPr/>
          <p:nvPr/>
        </p:nvSpPr>
        <p:spPr>
          <a:xfrm>
            <a:off x="3474720" y="1188720"/>
            <a:ext cx="1645920" cy="3108960"/>
          </a:xfrm>
          <a:prstGeom prst="roundRect">
            <a:avLst>
              <a:gd name="adj" fmla="val 5556"/>
            </a:avLst>
          </a:prstGeom>
          <a:solidFill>
            <a:srgbClr val="F3F5FB"/>
          </a:solidFill>
          <a:ln w="15875">
            <a:solidFill>
              <a:srgbClr val="7A86B6"/>
            </a:solidFill>
            <a:prstDash val="dash"/>
          </a:ln>
        </p:spPr>
      </p:sp>
      <p:sp>
        <p:nvSpPr>
          <p:cNvPr id="11" name="LabelMockup1"/>
          <p:cNvSpPr txBox="1"/>
          <p:nvPr/>
        </p:nvSpPr>
        <p:spPr>
          <a:xfrm>
            <a:off x="347472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Mockup: Beranda</a:t>
            </a:r>
            <a:endParaRPr lang="en-US" sz="1200" dirty="0"/>
          </a:p>
        </p:txBody>
      </p:sp>
      <p:sp>
        <p:nvSpPr>
          <p:cNvPr id="12" name="FrameMockup2"/>
          <p:cNvSpPr/>
          <p:nvPr/>
        </p:nvSpPr>
        <p:spPr>
          <a:xfrm>
            <a:off x="5257800" y="1188720"/>
            <a:ext cx="1645920" cy="3108960"/>
          </a:xfrm>
          <a:prstGeom prst="roundRect">
            <a:avLst>
              <a:gd name="adj" fmla="val 5556"/>
            </a:avLst>
          </a:prstGeom>
          <a:solidFill>
            <a:srgbClr val="F3F5FB"/>
          </a:solidFill>
          <a:ln w="15875">
            <a:solidFill>
              <a:srgbClr val="7A86B6"/>
            </a:solidFill>
            <a:prstDash val="dash"/>
          </a:ln>
        </p:spPr>
      </p:sp>
      <p:sp>
        <p:nvSpPr>
          <p:cNvPr id="13" name="LabelMockup2"/>
          <p:cNvSpPr txBox="1"/>
          <p:nvPr/>
        </p:nvSpPr>
        <p:spPr>
          <a:xfrm>
            <a:off x="525780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Mockup: Pencarian</a:t>
            </a:r>
            <a:endParaRPr lang="en-US" sz="1200" dirty="0"/>
          </a:p>
        </p:txBody>
      </p:sp>
      <p:sp>
        <p:nvSpPr>
          <p:cNvPr id="14" name="FrameMockup3"/>
          <p:cNvSpPr/>
          <p:nvPr/>
        </p:nvSpPr>
        <p:spPr>
          <a:xfrm>
            <a:off x="7040880" y="1188720"/>
            <a:ext cx="1645920" cy="3108960"/>
          </a:xfrm>
          <a:prstGeom prst="roundRect">
            <a:avLst>
              <a:gd name="adj" fmla="val 5556"/>
            </a:avLst>
          </a:prstGeom>
          <a:solidFill>
            <a:srgbClr val="F3F5FB"/>
          </a:solidFill>
          <a:ln w="15875">
            <a:solidFill>
              <a:srgbClr val="7A86B6"/>
            </a:solidFill>
            <a:prstDash val="dash"/>
          </a:ln>
        </p:spPr>
      </p:sp>
      <p:sp>
        <p:nvSpPr>
          <p:cNvPr id="15" name="LabelMockup3"/>
          <p:cNvSpPr txBox="1"/>
          <p:nvPr/>
        </p:nvSpPr>
        <p:spPr>
          <a:xfrm>
            <a:off x="704088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Mockup: Dashboard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pengujian dan alur Git</a:t>
            </a:r>
            <a:endParaRPr lang="en-US" sz="3000" dirty="0"/>
          </a:p>
        </p:txBody>
      </p:sp>
      <p:sp>
        <p:nvSpPr>
          <p:cNvPr id="4" name="KartuQA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JudulQA"/>
          <p:cNvSpPr txBox="1"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Pengujian</a:t>
            </a:r>
            <a:endParaRPr lang="en-US" sz="1800" dirty="0"/>
          </a:p>
        </p:txBody>
      </p:sp>
      <p:sp>
        <p:nvSpPr>
          <p:cNvPr id="6" name="DaftarQA"/>
          <p:cNvSpPr txBox="1"/>
          <p:nvPr/>
        </p:nvSpPr>
        <p:spPr>
          <a:xfrm>
            <a:off x="685800" y="17830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Unit test backend (Jest)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Uji API dan integrasi (Postman)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Checklist QA berdasar arsitektur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UAT bersama simulasi pengguna (Minggu 14)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Uji keamanan dasar dan performa</a:t>
            </a:r>
            <a:endParaRPr lang="en-US" sz="1400" dirty="0"/>
          </a:p>
        </p:txBody>
      </p:sp>
      <p:sp>
        <p:nvSpPr>
          <p:cNvPr id="7" name="KartuGit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JudulGit"/>
          <p:cNvSpPr txBox="1"/>
          <p:nvPr/>
        </p:nvSpPr>
        <p:spPr>
          <a:xfrm>
            <a:off x="489204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 branching</a:t>
            </a:r>
            <a:endParaRPr lang="en-US" sz="1800" dirty="0"/>
          </a:p>
        </p:txBody>
      </p:sp>
      <p:sp>
        <p:nvSpPr>
          <p:cNvPr id="9" name="Cabang1"/>
          <p:cNvSpPr txBox="1"/>
          <p:nvPr/>
        </p:nvSpPr>
        <p:spPr>
          <a:xfrm>
            <a:off x="4892040" y="1828800"/>
            <a:ext cx="12801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main</a:t>
            </a:r>
            <a:endParaRPr lang="en-US" sz="1400" dirty="0"/>
          </a:p>
        </p:txBody>
      </p:sp>
      <p:sp>
        <p:nvSpPr>
          <p:cNvPr id="10" name="KetCabang1"/>
          <p:cNvSpPr txBox="1"/>
          <p:nvPr/>
        </p:nvSpPr>
        <p:spPr>
          <a:xfrm>
            <a:off x="630936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Rilis stabil, diberi tag versi</a:t>
            </a:r>
            <a:endParaRPr lang="en-US" sz="1400" dirty="0"/>
          </a:p>
        </p:txBody>
      </p:sp>
      <p:sp>
        <p:nvSpPr>
          <p:cNvPr id="11" name="Cabang2"/>
          <p:cNvSpPr txBox="1"/>
          <p:nvPr/>
        </p:nvSpPr>
        <p:spPr>
          <a:xfrm>
            <a:off x="4892040" y="2606040"/>
            <a:ext cx="12801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develop</a:t>
            </a:r>
            <a:endParaRPr lang="en-US" sz="1400" dirty="0"/>
          </a:p>
        </p:txBody>
      </p:sp>
      <p:sp>
        <p:nvSpPr>
          <p:cNvPr id="12" name="KetCabang2"/>
          <p:cNvSpPr txBox="1"/>
          <p:nvPr/>
        </p:nvSpPr>
        <p:spPr>
          <a:xfrm>
            <a:off x="6309360" y="2715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Integrasi antar fitur</a:t>
            </a:r>
            <a:endParaRPr lang="en-US" sz="1400" dirty="0"/>
          </a:p>
        </p:txBody>
      </p:sp>
      <p:sp>
        <p:nvSpPr>
          <p:cNvPr id="13" name="Cabang3"/>
          <p:cNvSpPr txBox="1"/>
          <p:nvPr/>
        </p:nvSpPr>
        <p:spPr>
          <a:xfrm>
            <a:off x="4892040" y="3383280"/>
            <a:ext cx="128016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feature/*</a:t>
            </a:r>
            <a:endParaRPr lang="en-US" sz="1400" dirty="0"/>
          </a:p>
        </p:txBody>
      </p:sp>
      <p:sp>
        <p:nvSpPr>
          <p:cNvPr id="14" name="KetCabang3"/>
          <p:cNvSpPr txBox="1"/>
          <p:nvPr/>
        </p:nvSpPr>
        <p:spPr>
          <a:xfrm>
            <a:off x="630936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Satu cabang per fitur</a:t>
            </a:r>
            <a:endParaRPr lang="en-US" sz="1400" dirty="0"/>
          </a:p>
        </p:txBody>
      </p:sp>
      <p:sp>
        <p:nvSpPr>
          <p:cNvPr id="15" name="CatatanPR"/>
          <p:cNvSpPr txBox="1"/>
          <p:nvPr/>
        </p:nvSpPr>
        <p:spPr>
          <a:xfrm>
            <a:off x="4892040" y="3959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Merge ke develop lewat pull request + code review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dari UTS ke aplikasi live</a:t>
            </a:r>
            <a:endParaRPr lang="en-US" sz="3000" dirty="0"/>
          </a:p>
        </p:txBody>
      </p:sp>
      <p:sp>
        <p:nvSpPr>
          <p:cNvPr id="4" name="Minggu1"/>
          <p:cNvSpPr txBox="1"/>
          <p:nvPr/>
        </p:nvSpPr>
        <p:spPr>
          <a:xfrm>
            <a:off x="731520" y="14630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9</a:t>
            </a:r>
            <a:endParaRPr lang="en-US" sz="1400" dirty="0"/>
          </a:p>
        </p:txBody>
      </p:sp>
      <p:sp>
        <p:nvSpPr>
          <p:cNvPr id="5" name="Tahap1"/>
          <p:cNvSpPr txBox="1"/>
          <p:nvPr/>
        </p:nvSpPr>
        <p:spPr>
          <a:xfrm>
            <a:off x="45720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Setup</a:t>
            </a:r>
            <a:endParaRPr lang="en-US" sz="1600" dirty="0"/>
          </a:p>
        </p:txBody>
      </p:sp>
      <p:sp>
        <p:nvSpPr>
          <p:cNvPr id="6" name="IsiTahap1"/>
          <p:cNvSpPr txBox="1"/>
          <p:nvPr/>
        </p:nvSpPr>
        <p:spPr>
          <a:xfrm>
            <a:off x="457200" y="2697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Sprint planning, repo, board</a:t>
            </a:r>
            <a:endParaRPr lang="en-US" sz="1200" dirty="0"/>
          </a:p>
        </p:txBody>
      </p:sp>
      <p:sp>
        <p:nvSpPr>
          <p:cNvPr id="7" name="Minggu2"/>
          <p:cNvSpPr txBox="1"/>
          <p:nvPr/>
        </p:nvSpPr>
        <p:spPr>
          <a:xfrm>
            <a:off x="2103120" y="14630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10–11</a:t>
            </a:r>
            <a:endParaRPr lang="en-US" sz="1400" dirty="0"/>
          </a:p>
        </p:txBody>
      </p:sp>
      <p:sp>
        <p:nvSpPr>
          <p:cNvPr id="8" name="Tahap2"/>
          <p:cNvSpPr txBox="1"/>
          <p:nvPr/>
        </p:nvSpPr>
        <p:spPr>
          <a:xfrm>
            <a:off x="182880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Sprint 1</a:t>
            </a:r>
            <a:endParaRPr lang="en-US" sz="1600" dirty="0"/>
          </a:p>
        </p:txBody>
      </p:sp>
      <p:sp>
        <p:nvSpPr>
          <p:cNvPr id="9" name="IsiTahap2"/>
          <p:cNvSpPr txBox="1"/>
          <p:nvPr/>
        </p:nvSpPr>
        <p:spPr>
          <a:xfrm>
            <a:off x="1828800" y="2697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Auth dan Event API</a:t>
            </a:r>
            <a:endParaRPr lang="en-US" sz="1200" dirty="0"/>
          </a:p>
        </p:txBody>
      </p:sp>
      <p:sp>
        <p:nvSpPr>
          <p:cNvPr id="10" name="Minggu3"/>
          <p:cNvSpPr txBox="1"/>
          <p:nvPr/>
        </p:nvSpPr>
        <p:spPr>
          <a:xfrm>
            <a:off x="3474720" y="14630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12</a:t>
            </a:r>
            <a:endParaRPr lang="en-US" sz="1400" dirty="0"/>
          </a:p>
        </p:txBody>
      </p:sp>
      <p:sp>
        <p:nvSpPr>
          <p:cNvPr id="11" name="Tahap3"/>
          <p:cNvSpPr txBox="1"/>
          <p:nvPr/>
        </p:nvSpPr>
        <p:spPr>
          <a:xfrm>
            <a:off x="320040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Sprint 2</a:t>
            </a:r>
            <a:endParaRPr lang="en-US" sz="1600" dirty="0"/>
          </a:p>
        </p:txBody>
      </p:sp>
      <p:sp>
        <p:nvSpPr>
          <p:cNvPr id="12" name="IsiTahap3"/>
          <p:cNvSpPr txBox="1"/>
          <p:nvPr/>
        </p:nvSpPr>
        <p:spPr>
          <a:xfrm>
            <a:off x="3200400" y="2697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Frontend dan integrasi</a:t>
            </a:r>
            <a:endParaRPr lang="en-US" sz="1200" dirty="0"/>
          </a:p>
        </p:txBody>
      </p:sp>
      <p:sp>
        <p:nvSpPr>
          <p:cNvPr id="13" name="Minggu4"/>
          <p:cNvSpPr txBox="1"/>
          <p:nvPr/>
        </p:nvSpPr>
        <p:spPr>
          <a:xfrm>
            <a:off x="4846320" y="14630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13</a:t>
            </a:r>
            <a:endParaRPr lang="en-US" sz="1400" dirty="0"/>
          </a:p>
        </p:txBody>
      </p:sp>
      <p:sp>
        <p:nvSpPr>
          <p:cNvPr id="14" name="Tahap4"/>
          <p:cNvSpPr txBox="1"/>
          <p:nvPr/>
        </p:nvSpPr>
        <p:spPr>
          <a:xfrm>
            <a:off x="457200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Sprint 3</a:t>
            </a:r>
            <a:endParaRPr lang="en-US" sz="1600" dirty="0"/>
          </a:p>
        </p:txBody>
      </p:sp>
      <p:sp>
        <p:nvSpPr>
          <p:cNvPr id="15" name="IsiTahap4"/>
          <p:cNvSpPr txBox="1"/>
          <p:nvPr/>
        </p:nvSpPr>
        <p:spPr>
          <a:xfrm>
            <a:off x="4572000" y="2697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Kalender, notifikasi, dashboard</a:t>
            </a:r>
            <a:endParaRPr lang="en-US" sz="1200" dirty="0"/>
          </a:p>
        </p:txBody>
      </p:sp>
      <p:sp>
        <p:nvSpPr>
          <p:cNvPr id="16" name="Minggu5"/>
          <p:cNvSpPr txBox="1"/>
          <p:nvPr/>
        </p:nvSpPr>
        <p:spPr>
          <a:xfrm>
            <a:off x="6217920" y="14630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14</a:t>
            </a:r>
            <a:endParaRPr lang="en-US" sz="1400" dirty="0"/>
          </a:p>
        </p:txBody>
      </p:sp>
      <p:sp>
        <p:nvSpPr>
          <p:cNvPr id="17" name="Tahap5"/>
          <p:cNvSpPr txBox="1"/>
          <p:nvPr/>
        </p:nvSpPr>
        <p:spPr>
          <a:xfrm>
            <a:off x="594360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QA / UAT</a:t>
            </a:r>
            <a:endParaRPr lang="en-US" sz="1600" dirty="0"/>
          </a:p>
        </p:txBody>
      </p:sp>
      <p:sp>
        <p:nvSpPr>
          <p:cNvPr id="18" name="IsiTahap5"/>
          <p:cNvSpPr txBox="1"/>
          <p:nvPr/>
        </p:nvSpPr>
        <p:spPr>
          <a:xfrm>
            <a:off x="5943600" y="2697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Bebas bug kritis</a:t>
            </a:r>
            <a:endParaRPr lang="en-US" sz="1200" dirty="0"/>
          </a:p>
        </p:txBody>
      </p:sp>
      <p:sp>
        <p:nvSpPr>
          <p:cNvPr id="19" name="Minggu6"/>
          <p:cNvSpPr txBox="1"/>
          <p:nvPr/>
        </p:nvSpPr>
        <p:spPr>
          <a:xfrm>
            <a:off x="7589520" y="1463040"/>
            <a:ext cx="685800" cy="685800"/>
          </a:xfrm>
          <a:prstGeom prst="ellipse">
            <a:avLst/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15–16</a:t>
            </a:r>
            <a:endParaRPr lang="en-US" sz="1400" dirty="0"/>
          </a:p>
        </p:txBody>
      </p:sp>
      <p:sp>
        <p:nvSpPr>
          <p:cNvPr id="20" name="Tahap6"/>
          <p:cNvSpPr txBox="1"/>
          <p:nvPr/>
        </p:nvSpPr>
        <p:spPr>
          <a:xfrm>
            <a:off x="731520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Rilis</a:t>
            </a:r>
            <a:endParaRPr lang="en-US" sz="1600" dirty="0"/>
          </a:p>
        </p:txBody>
      </p:sp>
      <p:sp>
        <p:nvSpPr>
          <p:cNvPr id="21" name="IsiTahap6"/>
          <p:cNvSpPr txBox="1"/>
          <p:nvPr/>
        </p:nvSpPr>
        <p:spPr>
          <a:xfrm>
            <a:off x="7315200" y="2697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Deploy, dokumentasi, demo</a:t>
            </a:r>
            <a:endParaRPr lang="en-US" sz="1200" dirty="0"/>
          </a:p>
        </p:txBody>
      </p:sp>
      <p:sp>
        <p:nvSpPr>
          <p:cNvPr id="22" name="Penutup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kasih. Ada pertanyaan?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entKu">
  <a:themeElements>
    <a:clrScheme name="EventKu">
      <a:dk1>
        <a:srgbClr val="1B1F3B"/>
      </a:dk1>
      <a:lt1>
        <a:srgbClr val="FFFFFF"/>
      </a:lt1>
      <a:dk2>
        <a:srgbClr val="24305E"/>
      </a:dk2>
      <a:lt2>
        <a:srgbClr val="F3F5FB"/>
      </a:lt2>
      <a:accent1>
        <a:srgbClr val="E8505B"/>
      </a:accent1>
      <a:accent2>
        <a:srgbClr val="24305E"/>
      </a:accent2>
      <a:accent3>
        <a:srgbClr val="F4B942"/>
      </a:accent3>
      <a:accent4>
        <a:srgbClr val="2A9D8F"/>
      </a:accent4>
      <a:accent5>
        <a:srgbClr val="7A86B6"/>
      </a:accent5>
      <a:accent6>
        <a:srgbClr val="D5DAEE"/>
      </a:accent6>
      <a:hlink>
        <a:srgbClr val="E8505B"/>
      </a:hlink>
      <a:folHlink>
        <a:srgbClr val="7A86B6"/>
      </a:folHlink>
    </a:clrScheme>
    <a:fontScheme name="EventK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EventKu – Presentasi Checkpoint UTS</dc:title>
  <dc:subject>PptxGenJS Presentation</dc:subject>
  <dc:creator>Kelompok IV</dc:creator>
  <cp:lastModifiedBy>Kelompok IV</cp:lastModifiedBy>
  <cp:revision>1</cp:revision>
  <dcterms:created xsi:type="dcterms:W3CDTF">2026-10-05T01:54:42Z</dcterms:created>
  <dcterms:modified xsi:type="dcterms:W3CDTF">2026-10-05T01:54:42Z</dcterms:modified>
</cp:coreProperties>
</file>