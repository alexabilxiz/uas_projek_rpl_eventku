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b9ca0c700704527" /><Relationship Type="http://schemas.openxmlformats.org/officeDocument/2006/relationships/extended-properties" Target="/docProps/app.xml" Id="Rfd3f6ab5ba1041b5" /><Relationship Type="http://schemas.openxmlformats.org/officeDocument/2006/relationships/officeDocument" Target="/ppt/presentation.xml" Id="R2a827946c16b4358" /></Relationships>
</file>

<file path=ppt/presentation.xml><?xml version="1.0" encoding="utf-8"?>
<p:presentation xmlns:p="http://schemas.openxmlformats.org/presentationml/2006/main">
  <p:sldMasterIdLst>
    <p:sldMasterId xmlns:r="http://schemas.openxmlformats.org/officeDocument/2006/relationships" id="2147483648" r:id="R14312d536e2148fb"/>
  </p:sldMasterIdLst>
  <p:notesMasterIdLst>
    <p:notesMasterId xmlns:r="http://schemas.openxmlformats.org/officeDocument/2006/relationships" r:id="Rf2ecf6f9fcce478d"/>
  </p:notesMasterIdLst>
  <p:sldIdLst>
    <p:sldId xmlns:r="http://schemas.openxmlformats.org/officeDocument/2006/relationships" id="256" r:id="R0bb6510511f34bec"/>
    <p:sldId xmlns:r="http://schemas.openxmlformats.org/officeDocument/2006/relationships" id="257" r:id="R0c71ff13e5044f98"/>
    <p:sldId xmlns:r="http://schemas.openxmlformats.org/officeDocument/2006/relationships" id="258" r:id="R67df5e8bb57b470d"/>
    <p:sldId xmlns:r="http://schemas.openxmlformats.org/officeDocument/2006/relationships" id="259" r:id="R4f1c196523d74b31"/>
    <p:sldId xmlns:r="http://schemas.openxmlformats.org/officeDocument/2006/relationships" id="260" r:id="Rf330178ba3eb463f"/>
    <p:sldId xmlns:r="http://schemas.openxmlformats.org/officeDocument/2006/relationships" id="261" r:id="R277c2c550fd945f1"/>
    <p:sldId xmlns:r="http://schemas.openxmlformats.org/officeDocument/2006/relationships" id="262" r:id="R2994da7dcea74bd5"/>
    <p:sldId xmlns:r="http://schemas.openxmlformats.org/officeDocument/2006/relationships" id="263" r:id="R282080fd413448dc"/>
    <p:sldId xmlns:r="http://schemas.openxmlformats.org/officeDocument/2006/relationships" id="264" r:id="R851ac7d0b02d44fc"/>
    <p:sldId xmlns:r="http://schemas.openxmlformats.org/officeDocument/2006/relationships" id="265" r:id="Rd1748c89c70d4ed8"/>
    <p:sldId xmlns:r="http://schemas.openxmlformats.org/officeDocument/2006/relationships" id="266" r:id="R41ffb7811eb94ec5"/>
    <p:sldId xmlns:r="http://schemas.openxmlformats.org/officeDocument/2006/relationships" id="267" r:id="Re30f841e903c44d0"/>
    <p:sldId xmlns:r="http://schemas.openxmlformats.org/officeDocument/2006/relationships" id="268" r:id="Red99f90305c74e10"/>
    <p:sldId xmlns:r="http://schemas.openxmlformats.org/officeDocument/2006/relationships" id="269" r:id="Rc749ef58e8a6454f"/>
    <p:sldId xmlns:r="http://schemas.openxmlformats.org/officeDocument/2006/relationships" id="270" r:id="R3042f0622a4b41f0"/>
    <p:sldId xmlns:r="http://schemas.openxmlformats.org/officeDocument/2006/relationships" id="271" r:id="R7f5ddf53a1dc4cad"/>
    <p:sldId xmlns:r="http://schemas.openxmlformats.org/officeDocument/2006/relationships" id="272" r:id="Red8fcdb4a1604791"/>
    <p:sldId xmlns:r="http://schemas.openxmlformats.org/officeDocument/2006/relationships" id="273" r:id="Rd7a27c5f484947ce"/>
    <p:sldId xmlns:r="http://schemas.openxmlformats.org/officeDocument/2006/relationships" id="274" r:id="R7d8a2e0ca61c4d2b"/>
    <p:sldId xmlns:r="http://schemas.openxmlformats.org/officeDocument/2006/relationships" id="275" r:id="R8649b4e8a72149d5"/>
    <p:sldId xmlns:r="http://schemas.openxmlformats.org/officeDocument/2006/relationships" id="276" r:id="Rc8a33d0bd8b542fb"/>
    <p:sldId xmlns:r="http://schemas.openxmlformats.org/officeDocument/2006/relationships" id="277" r:id="R2dcf4abab3224cbb"/>
    <p:sldId xmlns:r="http://schemas.openxmlformats.org/officeDocument/2006/relationships" id="278" r:id="Rd81709551997429e"/>
    <p:sldId xmlns:r="http://schemas.openxmlformats.org/officeDocument/2006/relationships" id="279" r:id="Re0cf762185af4e14"/>
    <p:sldId xmlns:r="http://schemas.openxmlformats.org/officeDocument/2006/relationships" id="280" r:id="R9f1471e6647a493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2e017b6fac457e" /><Relationship Type="http://schemas.openxmlformats.org/officeDocument/2006/relationships/slideMaster" Target="/ppt/slideMasters/slideMaster1.xml" Id="R14312d536e2148fb" /><Relationship Type="http://schemas.openxmlformats.org/officeDocument/2006/relationships/notesMaster" Target="/ppt/notesMasters/notesMaster1.xml" Id="Rf2ecf6f9fcce478d" /><Relationship Type="http://schemas.openxmlformats.org/officeDocument/2006/relationships/presProps" Target="/ppt/presProps.xml" Id="R42f803d8954c4480" /><Relationship Type="http://schemas.openxmlformats.org/officeDocument/2006/relationships/tableStyles" Target="/ppt/tableStyles.xml" Id="Rfd934915671543e3" /><Relationship Type="http://schemas.openxmlformats.org/officeDocument/2006/relationships/slide" Target="/ppt/slides/slide1.xml" Id="R0bb6510511f34bec" /><Relationship Type="http://schemas.openxmlformats.org/officeDocument/2006/relationships/slide" Target="/ppt/slides/slide2.xml" Id="R0c71ff13e5044f98" /><Relationship Type="http://schemas.openxmlformats.org/officeDocument/2006/relationships/slide" Target="/ppt/slides/slide3.xml" Id="R67df5e8bb57b470d" /><Relationship Type="http://schemas.openxmlformats.org/officeDocument/2006/relationships/slide" Target="/ppt/slides/slide4.xml" Id="R4f1c196523d74b31" /><Relationship Type="http://schemas.openxmlformats.org/officeDocument/2006/relationships/slide" Target="/ppt/slides/slide5.xml" Id="Rf330178ba3eb463f" /><Relationship Type="http://schemas.openxmlformats.org/officeDocument/2006/relationships/slide" Target="/ppt/slides/slide6.xml" Id="R277c2c550fd945f1" /><Relationship Type="http://schemas.openxmlformats.org/officeDocument/2006/relationships/slide" Target="/ppt/slides/slide7.xml" Id="R2994da7dcea74bd5" /><Relationship Type="http://schemas.openxmlformats.org/officeDocument/2006/relationships/slide" Target="/ppt/slides/slide8.xml" Id="R282080fd413448dc" /><Relationship Type="http://schemas.openxmlformats.org/officeDocument/2006/relationships/slide" Target="/ppt/slides/slide9.xml" Id="R851ac7d0b02d44fc" /><Relationship Type="http://schemas.openxmlformats.org/officeDocument/2006/relationships/slide" Target="/ppt/slides/slide10.xml" Id="Rd1748c89c70d4ed8" /><Relationship Type="http://schemas.openxmlformats.org/officeDocument/2006/relationships/slide" Target="/ppt/slides/slide11.xml" Id="R41ffb7811eb94ec5" /><Relationship Type="http://schemas.openxmlformats.org/officeDocument/2006/relationships/slide" Target="/ppt/slides/slide12.xml" Id="Re30f841e903c44d0" /><Relationship Type="http://schemas.openxmlformats.org/officeDocument/2006/relationships/slide" Target="/ppt/slides/slide13.xml" Id="Red99f90305c74e10" /><Relationship Type="http://schemas.openxmlformats.org/officeDocument/2006/relationships/slide" Target="/ppt/slides/slide14.xml" Id="Rc749ef58e8a6454f" /><Relationship Type="http://schemas.openxmlformats.org/officeDocument/2006/relationships/slide" Target="/ppt/slides/slide15.xml" Id="R3042f0622a4b41f0" /><Relationship Type="http://schemas.openxmlformats.org/officeDocument/2006/relationships/slide" Target="/ppt/slides/slide16.xml" Id="R7f5ddf53a1dc4cad" /><Relationship Type="http://schemas.openxmlformats.org/officeDocument/2006/relationships/slide" Target="/ppt/slides/slide17.xml" Id="Red8fcdb4a1604791" /><Relationship Type="http://schemas.openxmlformats.org/officeDocument/2006/relationships/slide" Target="/ppt/slides/slide18.xml" Id="Rd7a27c5f484947ce" /><Relationship Type="http://schemas.openxmlformats.org/officeDocument/2006/relationships/slide" Target="/ppt/slides/slide19.xml" Id="R7d8a2e0ca61c4d2b" /><Relationship Type="http://schemas.openxmlformats.org/officeDocument/2006/relationships/slide" Target="/ppt/slides/slide20.xml" Id="R8649b4e8a72149d5" /><Relationship Type="http://schemas.openxmlformats.org/officeDocument/2006/relationships/slide" Target="/ppt/slides/slide21.xml" Id="Rc8a33d0bd8b542fb" /><Relationship Type="http://schemas.openxmlformats.org/officeDocument/2006/relationships/slide" Target="/ppt/slides/slide22.xml" Id="R2dcf4abab3224cbb" /><Relationship Type="http://schemas.openxmlformats.org/officeDocument/2006/relationships/slide" Target="/ppt/slides/slide23.xml" Id="Rd81709551997429e" /><Relationship Type="http://schemas.openxmlformats.org/officeDocument/2006/relationships/slide" Target="/ppt/slides/slide24.xml" Id="Re0cf762185af4e14" /><Relationship Type="http://schemas.openxmlformats.org/officeDocument/2006/relationships/slide" Target="/ppt/slides/slide25.xml" Id="R9f1471e6647a49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2bc9855f1b49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aa46a6b9e7478a" /><Relationship Type="http://schemas.openxmlformats.org/officeDocument/2006/relationships/notesMaster" Target="/ppt/notesMasters/notesMaster1.xml" Id="Rb31dea3af60b4b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5b6ec468d744d8" /><Relationship Type="http://schemas.openxmlformats.org/officeDocument/2006/relationships/notesMaster" Target="/ppt/notesMasters/notesMaster1.xml" Id="R211056cb7f064aa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f1bdd23ba14e2d" /><Relationship Type="http://schemas.openxmlformats.org/officeDocument/2006/relationships/notesMaster" Target="/ppt/notesMasters/notesMaster1.xml" Id="Rf4092f6a30db4b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d3df2c6d3b4d12" /><Relationship Type="http://schemas.openxmlformats.org/officeDocument/2006/relationships/notesMaster" Target="/ppt/notesMasters/notesMaster1.xml" Id="R161d80c216d54c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abd0c1bd6364f83" /><Relationship Type="http://schemas.openxmlformats.org/officeDocument/2006/relationships/notesMaster" Target="/ppt/notesMasters/notesMaster1.xml" Id="R84b65c54c7894c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a4a04130544da6" /><Relationship Type="http://schemas.openxmlformats.org/officeDocument/2006/relationships/notesMaster" Target="/ppt/notesMasters/notesMaster1.xml" Id="R94ec055fd6924e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ff8c7e66dd48b3" /><Relationship Type="http://schemas.openxmlformats.org/officeDocument/2006/relationships/notesMaster" Target="/ppt/notesMasters/notesMaster1.xml" Id="Ree03a5545f7843b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c9aa8c6fb584d50" /><Relationship Type="http://schemas.openxmlformats.org/officeDocument/2006/relationships/notesMaster" Target="/ppt/notesMasters/notesMaster1.xml" Id="R127f9b8f64ca4c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4472d57cc0334693" /><Relationship Type="http://schemas.openxmlformats.org/officeDocument/2006/relationships/notesMaster" Target="/ppt/notesMasters/notesMaster1.xml" Id="Rd95762af0ec8414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93de4a46aa7487a" /><Relationship Type="http://schemas.openxmlformats.org/officeDocument/2006/relationships/notesMaster" Target="/ppt/notesMasters/notesMaster1.xml" Id="R33514e8bf11d43c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d3a570f2124920" /><Relationship Type="http://schemas.openxmlformats.org/officeDocument/2006/relationships/notesMaster" Target="/ppt/notesMasters/notesMaster1.xml" Id="Rc8564e4c99444f8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f6683c453924b60" /><Relationship Type="http://schemas.openxmlformats.org/officeDocument/2006/relationships/notesMaster" Target="/ppt/notesMasters/notesMaster1.xml" Id="R0bb585e2d817424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cb2d0c0f91d45a5" /><Relationship Type="http://schemas.openxmlformats.org/officeDocument/2006/relationships/notesMaster" Target="/ppt/notesMasters/notesMaster1.xml" Id="R33cac12e344842a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f37675dcca44984" /><Relationship Type="http://schemas.openxmlformats.org/officeDocument/2006/relationships/notesMaster" Target="/ppt/notesMasters/notesMaster1.xml" Id="R260f5d61180f4ea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8c7e9a3636a4668" /><Relationship Type="http://schemas.openxmlformats.org/officeDocument/2006/relationships/notesMaster" Target="/ppt/notesMasters/notesMaster1.xml" Id="Rb571fcb9ecad4ed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edd680a993b4a9f" /><Relationship Type="http://schemas.openxmlformats.org/officeDocument/2006/relationships/notesMaster" Target="/ppt/notesMasters/notesMaster1.xml" Id="Re3bde052b96a40d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1846514444f4d14" /><Relationship Type="http://schemas.openxmlformats.org/officeDocument/2006/relationships/notesMaster" Target="/ppt/notesMasters/notesMaster1.xml" Id="R28db9023720d498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88b0531cb7045ba" /><Relationship Type="http://schemas.openxmlformats.org/officeDocument/2006/relationships/notesMaster" Target="/ppt/notesMasters/notesMaster1.xml" Id="R8c81f8700d7b489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c0a14b539504ebe" /><Relationship Type="http://schemas.openxmlformats.org/officeDocument/2006/relationships/notesMaster" Target="/ppt/notesMasters/notesMaster1.xml" Id="Rbc70f1e4454a488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02da3e0268f49d4" /><Relationship Type="http://schemas.openxmlformats.org/officeDocument/2006/relationships/notesMaster" Target="/ppt/notesMasters/notesMaster1.xml" Id="Red155b767a5347c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c717c81e7a9438c" /><Relationship Type="http://schemas.openxmlformats.org/officeDocument/2006/relationships/notesMaster" Target="/ppt/notesMasters/notesMaster1.xml" Id="R4e490961464341a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83230c333f04e8e" /><Relationship Type="http://schemas.openxmlformats.org/officeDocument/2006/relationships/notesMaster" Target="/ppt/notesMasters/notesMaster1.xml" Id="R9431361c59af49d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79719b232c94be2" /><Relationship Type="http://schemas.openxmlformats.org/officeDocument/2006/relationships/notesMaster" Target="/ppt/notesMasters/notesMaster1.xml" Id="R0047c8a54680409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9bb7fa2bf3c473d" /><Relationship Type="http://schemas.openxmlformats.org/officeDocument/2006/relationships/notesMaster" Target="/ppt/notesMasters/notesMaster1.xml" Id="R2a8edde1392342d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aba0b16479d4a6b" /><Relationship Type="http://schemas.openxmlformats.org/officeDocument/2006/relationships/notesMaster" Target="/ppt/notesMasters/notesMaster1.xml" Id="R3af91ce6b46e4c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Presentasi kelompok untuk UTS. Kemajuan dibatasi sampai Minggu 8. Kegiatan Minggu 9–16 hanya rencana menuju UAS. Database PostgreSQL dikonfirmasi Bambang. Diagram use case final dan jawaban pribadi C–D belum tersedia. Latar dekoratif dibuat dengan imagegen pada pekerjaan sebelumnya.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Sumber: laporan UTS EventKu sampai Minggu 8, SRS versi 2, Project Charter, Justifikasi SDLC dan DOCX rancangan Minggu 5–7.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Sumber: laporan UTS EventKu sampai Minggu 8, SRS versi 2, Project Charter, Justifikasi SDLC dan DOCX rancangan Minggu 5–7.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Sumber: laporan UTS EventKu sampai Minggu 8, SRS versi 2, Project Charter, Justifikasi SDLC dan DOCX rancangan Minggu 5–7.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Scrum dipilih dalam Justifikasi SDLC, dengan adaptasi perkuliahan. Tidak mengklaim semua praktik Scrum resmi telah dilaksanakan. Rencana sprint implementasi ada setelah UTS.</a:t>
            </a:r>
          </a:p>
          <a:p xmlns:a="http://schemas.openxmlformats.org/drawingml/2006/main">
            <a:r>
              <a:t>Sumber: laporan UTS EventKu sampai Minggu 8, SRS versi 2, Project Charter, Justifikasi SDLC dan DOCX rancangan Minggu 5–7.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SRS memuat 50 kebutuhan: 33 Must, 13 Should, 4 Could. Jangan menyamakan seluruh kebutuhan dengan lingkup wajib. Registrasi publik bukan untuk akun admin. Notifikasi hasil moderasi Must; konfirmasi RSVP dan H-1 Should.</a:t>
            </a:r>
          </a:p>
          <a:p xmlns:a="http://schemas.openxmlformats.org/drawingml/2006/main">
            <a:r>
              <a:t>Sumber: laporan UTS EventKu sampai Minggu 8, SRS versi 2, Project Charter, Justifikasi SDLC dan DOCX rancangan Minggu 5–7.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NFR belum merupakan hasil uji. Angka performa harus diuji dengan perangkat, jaringan, data dan beban yang dicatat. Target 100 concurrent dan coverage 60% adalah Should.</a:t>
            </a:r>
          </a:p>
          <a:p xmlns:a="http://schemas.openxmlformats.org/drawingml/2006/main">
            <a:r>
              <a:t>Sumber: laporan UTS EventKu sampai Minggu 8, SRS versi 2, Project Charter, Justifikasi SDLC dan DOCX rancangan Minggu 5–7.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Daftar/deskripsi 17 use case tersedia di SRS. Diagram use case final Dustin belum ditemukan di GitHub. Slide ini menjelaskan skenario dan tidak menampilkan diagram buatan sebagai ekspor Lucidchart.</a:t>
            </a:r>
          </a:p>
          <a:p xmlns:a="http://schemas.openxmlformats.org/drawingml/2006/main">
            <a:r>
              <a:t>Sumber: laporan UTS EventKu sampai Minggu 8, SRS versi 2, Project Charter, Justifikasi SDLC dan DOCX rancangan Minggu 5–7.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Database PostgreSQL telah dikonfirmasi pengguna. README menyebut Neon PostgreSQL, Vercel frontend dan Render backend sebagai rencana hosting. Tipe ID belum diputuskan. Diagram diambil dari gambar aktif DOCX Minggu 6, caption sumber Lucidchart.</a:t>
            </a:r>
          </a:p>
          <a:p xmlns:a="http://schemas.openxmlformats.org/drawingml/2006/main">
            <a:r>
              <a:t>Sumber: laporan UTS EventKu sampai Minggu 8, SRS versi 2, Project Charter, Justifikasi SDLC dan DOCX rancangan Minggu 5–7.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Sumber: laporan UTS EventKu sampai Minggu 8, SRS versi 2, Project Charter, Justifikasi SDLC dan DOCX rancangan Minggu 5–7.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Filter AND; hanya Disetujui untuk publik. Query berparameter dan count memakai predikat sama. Rentang akhir eksklusif from &lt;= start_at &lt; to. Pagination urut stabil start_at/event_id. Sumber diagram Lucidchart dari DOCX Minggu 6.</a:t>
            </a:r>
          </a:p>
          <a:p xmlns:a="http://schemas.openxmlformats.org/drawingml/2006/main">
            <a:r>
              <a:t>Sumber: laporan UTS EventKu sampai Minggu 8, SRS versi 2, Project Charter, Justifikasi SDLC dan DOCX rancangan Minggu 5–7.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adalah pola akses data, bukan kategori GoF. EventService memakai kontrak EventRepository; implementasi SQL dapat diganti dengan test double. Modul lain memakai facade publik.</a:t>
            </a:r>
          </a:p>
          <a:p xmlns:a="http://schemas.openxmlformats.org/drawingml/2006/main">
            <a:r>
              <a:t>Sumber: laporan UTS EventKu sampai Minggu 8, SRS versi 2, Project Charter, Justifikasi SDLC dan DOCX rancangan Minggu 5–7.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Behavioral pattern. EventModerated memberi hasil kepada penyelenggara, EventApproved memberi event baru sesuai minat. StudentRegistered memicu konfirmasi RSVP Should. Domain event sesudah commit. EventBus in-process belum menjamin retry persisten.</a:t>
            </a:r>
          </a:p>
          <a:p xmlns:a="http://schemas.openxmlformats.org/drawingml/2006/main">
            <a:r>
              <a:t>Sumber: laporan UTS EventKu sampai Minggu 8, SRS versi 2, Project Charter, Justifikasi SDLC dan DOCX rancangan Minggu 5–7.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Home mendukung UC-03/04. Detail mendukung UC-04/05. Simpan Event adalah bookmark Could. Data event merupakan contoh mockup.</a:t>
            </a:r>
          </a:p>
          <a:p xmlns:a="http://schemas.openxmlformats.org/drawingml/2006/main">
            <a:r>
              <a:t>Sumber gambar: docs/planning/EventKuWeek7_wireframe &amp; UI high-fidelity Figma.docx, Audrey Elizabeth Gracesia, Minggu 7. Desain visual tidak diubah. Mockup bukan bukti implementasi atau cakupan seluruh SRS.</a:t>
            </a:r>
          </a:p>
          <a:p xmlns:a="http://schemas.openxmlformats.org/drawingml/2006/main">
            <a:r>
              <a:t>Desain: https://www.figma.com/design/msefrhl4aO32NFpVU4MRlo/RPL-EventKu--UTS-</a:t>
            </a:r>
          </a:p>
          <a:p xmlns:a="http://schemas.openxmlformats.org/drawingml/2006/main">
            <a:r>
              <a:t>Prototype: https://www.figma.com/proto/msefrhl4aO32NFpVU4MRlo/RPL-EventKu--UTS-?node-id=1-52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Dashboard mahasiswa mendukung riwayat kegiatan. Calendar mendukung UC-08. Gambar berasal dari dokumen Audrey, tanpa mengubah desain.</a:t>
            </a:r>
          </a:p>
          <a:p xmlns:a="http://schemas.openxmlformats.org/drawingml/2006/main">
            <a:r>
              <a:t>Sumber gambar: docs/planning/EventKuWeek7_wireframe &amp; UI high-fidelity Figma.docx, Audrey Elizabeth Gracesia, Minggu 7. Desain visual tidak diubah. Mockup bukan bukti implementasi atau cakupan seluruh SRS.</a:t>
            </a:r>
          </a:p>
          <a:p xmlns:a="http://schemas.openxmlformats.org/drawingml/2006/main">
            <a:r>
              <a:t>Desain: https://www.figma.com/design/msefrhl4aO32NFpVU4MRlo/RPL-EventKu--UTS-</a:t>
            </a:r>
          </a:p>
          <a:p xmlns:a="http://schemas.openxmlformats.org/drawingml/2006/main">
            <a:r>
              <a:t>Prototype: https://www.figma.com/proto/msefrhl4aO32NFpVU4MRlo/RPL-EventKu--UTS-?node-id=1-52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Halaman Kelola Event menampilkan label Admin/Campus dan Dipublikasikan pada desain awal. SRS terbaru membagi pengajuan/pengelolaan kepada penyelenggara terverifikasi dan moderasi kepada admin. Hak akses/status server mengikuti SRS. Form Tambah/Edit/Login/Register tersedia lengkap pada lampiran laporan.</a:t>
            </a:r>
          </a:p>
          <a:p xmlns:a="http://schemas.openxmlformats.org/drawingml/2006/main">
            <a:r>
              <a:t>Sumber gambar: docs/planning/EventKuWeek7_wireframe &amp; UI high-fidelity Figma.docx, Audrey Elizabeth Gracesia, Minggu 7. Desain visual tidak diubah. Mockup bukan bukti implementasi atau cakupan seluruh SRS.</a:t>
            </a:r>
          </a:p>
          <a:p xmlns:a="http://schemas.openxmlformats.org/drawingml/2006/main">
            <a:r>
              <a:t>Desain: https://www.figma.com/design/msefrhl4aO32NFpVU4MRlo/RPL-EventKu--UTS-</a:t>
            </a:r>
          </a:p>
          <a:p xmlns:a="http://schemas.openxmlformats.org/drawingml/2006/main">
            <a:r>
              <a:t>Prototype: https://www.figma.com/proto/msefrhl4aO32NFpVU4MRlo/RPL-EventKu--UTS-?node-id=1-52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Tidak ada kendala yang dilaporkan berdasarkan konfirmasi Bambang. Artefak tersedia tidak otomatis membuktikan approval atau pengujian. Diagram use case belum ditemukan di GitHub; hal ini adalah status kelengkapan, bukan klaim keterlambatan.</a:t>
            </a:r>
          </a:p>
          <a:p xmlns:a="http://schemas.openxmlformats.org/drawingml/2006/main">
            <a:r>
              <a:t>Sumber: laporan UTS EventKu sampai Minggu 8, SRS versi 2, Project Charter, Justifikasi SDLC dan DOCX rancangan Minggu 5–7.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Semua aktivitas pada slide ini adalah rencana Minggu 9–16, bukan kekurangan pencapaian UTS. Pembagian tiga sprint dalam lima minggu perlu disepakati. Risiko berikut belum diklaim terjadi.</a:t>
            </a:r>
          </a:p>
          <a:p xmlns:a="http://schemas.openxmlformats.org/drawingml/2006/main">
            <a:r>
              <a:t>Sumber: laporan UTS EventKu sampai Minggu 8, SRS versi 2, Project Charter, Justifikasi SDLC dan DOCX rancangan Minggu 5–7.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Sumber: laporan UTS EventKu sampai Minggu 8, SRS versi 2, Project Charter, Justifikasi SDLC dan DOCX rancangan Minggu 5–7.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Jira: https://eventku.atlassian.net/ — sumber tautan workspace pada docs/planning/Minggu3_Menyusun User Stories untuk modul non-fungsional.docx. Bukan tautan board khusus. Memerlukan login/izin tim.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Delapan entitas termasuk Organization dan ModerationHistory Should. PostgreSQL dipilih; tipe ID fisik perlu final.</a:t>
            </a:r>
          </a:p>
          <a:p xmlns:a="http://schemas.openxmlformats.org/drawingml/2006/main">
            <a:r>
              <a:t>Sumber: laporan UTS EventKu sampai Minggu 8, SRS versi 2, Project Charter, Justifikasi SDLC dan DOCX rancangan Minggu 5–7.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Akun, JWT, organisasi dan kontrak AuthPublicApi. DTO tidak mengirim password hash.</a:t>
            </a:r>
          </a:p>
          <a:p xmlns:a="http://schemas.openxmlformats.org/drawingml/2006/main">
            <a:r>
              <a:t>Sumber: laporan UTS EventKu sampai Minggu 8, SRS versi 2, Project Charter, Justifikasi SDLC dan DOCX rancangan Minggu 5–7.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Draft, pengajuan, moderasi dan pencarian; EventPublicApi untuk akses lintas modul.</a:t>
            </a:r>
          </a:p>
          <a:p xmlns:a="http://schemas.openxmlformats.org/drawingml/2006/main">
            <a:r>
              <a:t>Sumber: laporan UTS EventKu sampai Minggu 8, SRS versi 2, Project Charter, Justifikasi SDLC dan DOCX rancangan Minggu 5–7.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Reservasi kursi dan simpan RSVP dalam satu transaksi. Unik event/mahasiswa; publish sesudah commit.</a:t>
            </a:r>
          </a:p>
          <a:p xmlns:a="http://schemas.openxmlformats.org/drawingml/2006/main">
            <a:r>
              <a:t>Sumber: laporan UTS EventKu sampai Minggu 8, SRS versi 2, Project Charter, Justifikasi SDLC dan DOCX rancangan Minggu 5–7.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Handler domain event; H-1 peserta RSVP aktif; deduplikasi berdasarkan sumber/versi.</a:t>
            </a:r>
          </a:p>
          <a:p xmlns:a="http://schemas.openxmlformats.org/drawingml/2006/main">
            <a:r>
              <a:t>Sumber: laporan UTS EventKu sampai Minggu 8, SRS versi 2, Project Charter, Justifikasi SDLC dan DOCX rancangan Minggu 5–7.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7c5e95922c47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cad0db95d64dfe" /><Relationship Type="http://schemas.openxmlformats.org/officeDocument/2006/relationships/slideLayout" Target="/ppt/slideLayouts/slideLayout1.xml" Id="Rfe5018b1f09c4e2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5018b1f09c4e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7571fad312347d5" /><Relationship Type="http://schemas.openxmlformats.org/officeDocument/2006/relationships/image" Target="/ppt/media/image.png" Id="Re97ff1e131934f8e" /><Relationship Type="http://schemas.openxmlformats.org/officeDocument/2006/relationships/notesSlide" Target="/ppt/notesSlides/notesSlide1.xml" Id="R2d21ecf74ee548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2b511978767440b" /><Relationship Type="http://schemas.openxmlformats.org/officeDocument/2006/relationships/image" Target="/ppt/media/image2.png" Id="R2f7684cdd7c04a6b" /><Relationship Type="http://schemas.openxmlformats.org/officeDocument/2006/relationships/notesSlide" Target="/ppt/notesSlides/notesSlide2.xml" Id="Rb2b660cef2df4a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48dfea8b4104514" /><Relationship Type="http://schemas.openxmlformats.org/officeDocument/2006/relationships/image" Target="/ppt/media/image3.png" Id="R477ee8099b7c45c1" /><Relationship Type="http://schemas.openxmlformats.org/officeDocument/2006/relationships/notesSlide" Target="/ppt/notesSlides/notesSlide3.xml" Id="Rf394518b2bdf46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c54c08331884bfe" /><Relationship Type="http://schemas.openxmlformats.org/officeDocument/2006/relationships/image" Target="/ppt/media/image4.png" Id="R6431580b81d246db" /><Relationship Type="http://schemas.openxmlformats.org/officeDocument/2006/relationships/notesSlide" Target="/ppt/notesSlides/notesSlide4.xml" Id="R6527ca0033b8446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c17b0fbd94642a2" /><Relationship Type="http://schemas.openxmlformats.org/officeDocument/2006/relationships/image" Target="/ppt/media/image5.png" Id="Rd333bd38ac8045a2" /><Relationship Type="http://schemas.openxmlformats.org/officeDocument/2006/relationships/notesSlide" Target="/ppt/notesSlides/notesSlide5.xml" Id="Rd11888898e9848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19ae297aa26421f" /><Relationship Type="http://schemas.openxmlformats.org/officeDocument/2006/relationships/image" Target="/ppt/media/image6.png" Id="Ra096e879203948d5" /><Relationship Type="http://schemas.openxmlformats.org/officeDocument/2006/relationships/notesSlide" Target="/ppt/notesSlides/notesSlide6.xml" Id="Rf5f44f7f2c2f44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aa934d2d27f4413" /><Relationship Type="http://schemas.openxmlformats.org/officeDocument/2006/relationships/image" Target="/ppt/media/image7.png" Id="Ra6085b75b8db47fc" /><Relationship Type="http://schemas.openxmlformats.org/officeDocument/2006/relationships/notesSlide" Target="/ppt/notesSlides/notesSlide7.xml" Id="R9708baf2af6943f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19be52e74af4eb3" /><Relationship Type="http://schemas.openxmlformats.org/officeDocument/2006/relationships/image" Target="/ppt/media/image8.png" Id="Re9b9b1854dc7455a" /><Relationship Type="http://schemas.openxmlformats.org/officeDocument/2006/relationships/notesSlide" Target="/ppt/notesSlides/notesSlide8.xml" Id="R065137b4d271410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e25132057044d6a" /><Relationship Type="http://schemas.openxmlformats.org/officeDocument/2006/relationships/image" Target="/ppt/media/image9.png" Id="R5b71d564e2774682" /><Relationship Type="http://schemas.openxmlformats.org/officeDocument/2006/relationships/image" Target="/ppt/media/image10.png" Id="R2ff95d2542aa415b" /><Relationship Type="http://schemas.openxmlformats.org/officeDocument/2006/relationships/notesSlide" Target="/ppt/notesSlides/notesSlide9.xml" Id="R5021694a5204417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d2ed25cd2a048d8" /><Relationship Type="http://schemas.openxmlformats.org/officeDocument/2006/relationships/image" Target="/ppt/media/image11.png" Id="R2a06d8ca038846b1" /><Relationship Type="http://schemas.openxmlformats.org/officeDocument/2006/relationships/notesSlide" Target="/ppt/notesSlides/notesSlide10.xml" Id="R94e0a74ecd58400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a4504c0a40a4419" /><Relationship Type="http://schemas.openxmlformats.org/officeDocument/2006/relationships/image" Target="/ppt/media/image12.png" Id="R00f7c2304e8a4a71" /><Relationship Type="http://schemas.openxmlformats.org/officeDocument/2006/relationships/image" Target="/ppt/media/image13.png" Id="R0c4934bbb8644e43" /><Relationship Type="http://schemas.openxmlformats.org/officeDocument/2006/relationships/notesSlide" Target="/ppt/notesSlides/notesSlide11.xml" Id="Re577e4e0aebd4eb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0a74caf9b5d46d6" /><Relationship Type="http://schemas.openxmlformats.org/officeDocument/2006/relationships/image" Target="/ppt/media/image14.png" Id="R3f6d6ff9400d46cb" /><Relationship Type="http://schemas.openxmlformats.org/officeDocument/2006/relationships/image" Target="/ppt/media/image15.png" Id="R46916e69e2cb405e" /><Relationship Type="http://schemas.openxmlformats.org/officeDocument/2006/relationships/notesSlide" Target="/ppt/notesSlides/notesSlide12.xml" Id="Rd9980b3bf60240d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6dd33d567f54da5" /><Relationship Type="http://schemas.openxmlformats.org/officeDocument/2006/relationships/image" Target="/ppt/media/image16.png" Id="R69a65e11e3924f28" /><Relationship Type="http://schemas.openxmlformats.org/officeDocument/2006/relationships/image" Target="/ppt/media/image17.png" Id="R485d212dc2524d51" /><Relationship Type="http://schemas.openxmlformats.org/officeDocument/2006/relationships/notesSlide" Target="/ppt/notesSlides/notesSlide13.xml" Id="R2c08c1e894c84b3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c2f8341e2b54c2a" /><Relationship Type="http://schemas.openxmlformats.org/officeDocument/2006/relationships/image" Target="/ppt/media/image18.png" Id="R3f6d96c82f004e23" /><Relationship Type="http://schemas.openxmlformats.org/officeDocument/2006/relationships/image" Target="/ppt/media/image19.png" Id="Rf117e9030e604749" /><Relationship Type="http://schemas.openxmlformats.org/officeDocument/2006/relationships/image" Target="/ppt/media/image20.png" Id="R0a22eea334e54148" /><Relationship Type="http://schemas.openxmlformats.org/officeDocument/2006/relationships/notesSlide" Target="/ppt/notesSlides/notesSlide14.xml" Id="Rc932314f2bee440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416b707b3934e1b" /><Relationship Type="http://schemas.openxmlformats.org/officeDocument/2006/relationships/image" Target="/ppt/media/image21.png" Id="R08b0557bf80f48eb" /><Relationship Type="http://schemas.openxmlformats.org/officeDocument/2006/relationships/image" Target="/ppt/media/image22.png" Id="R4d9deb4cb6c345e5" /><Relationship Type="http://schemas.openxmlformats.org/officeDocument/2006/relationships/image" Target="/ppt/media/image23.png" Id="Rd1d12342eefe4d2e" /><Relationship Type="http://schemas.openxmlformats.org/officeDocument/2006/relationships/notesSlide" Target="/ppt/notesSlides/notesSlide15.xml" Id="Raf7929df2ba8469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dabf72501a647a4" /><Relationship Type="http://schemas.openxmlformats.org/officeDocument/2006/relationships/image" Target="/ppt/media/image24.png" Id="R1176744a61a34fb7" /><Relationship Type="http://schemas.openxmlformats.org/officeDocument/2006/relationships/image" Target="/ppt/media/image25.png" Id="R1ae44353ec4a4dbd" /><Relationship Type="http://schemas.openxmlformats.org/officeDocument/2006/relationships/hyperlink" Target="https://www.figma.com/design/msefrhl4aO32NFpVU4MRlo/RPL-EventKu--UTS-" TargetMode="External" Id="Rb6b142fddaab4a36" /><Relationship Type="http://schemas.openxmlformats.org/officeDocument/2006/relationships/hyperlink" Target="https://www.figma.com/proto/msefrhl4aO32NFpVU4MRlo/RPL-EventKu--UTS-?node-id=1-52" TargetMode="External" Id="Rb39d8e97eba04ba7" /><Relationship Type="http://schemas.openxmlformats.org/officeDocument/2006/relationships/notesSlide" Target="/ppt/notesSlides/notesSlide16.xml" Id="R2309e9c5f001417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a69404d4add4471" /><Relationship Type="http://schemas.openxmlformats.org/officeDocument/2006/relationships/image" Target="/ppt/media/image26.png" Id="R4adc4813a8694e92" /><Relationship Type="http://schemas.openxmlformats.org/officeDocument/2006/relationships/notesSlide" Target="/ppt/notesSlides/notesSlide17.xml" Id="Rd37328120bea4f8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dd917a70855488e" /><Relationship Type="http://schemas.openxmlformats.org/officeDocument/2006/relationships/image" Target="/ppt/media/image27.png" Id="Rbb51dc9dfd3e4c5e" /><Relationship Type="http://schemas.openxmlformats.org/officeDocument/2006/relationships/notesSlide" Target="/ppt/notesSlides/notesSlide18.xml" Id="R50e0d34da43c440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59abf18025448f4" /><Relationship Type="http://schemas.openxmlformats.org/officeDocument/2006/relationships/image" Target="/ppt/media/image28.png" Id="Rf8acbf3173584628" /><Relationship Type="http://schemas.openxmlformats.org/officeDocument/2006/relationships/notesSlide" Target="/ppt/notesSlides/notesSlide19.xml" Id="R308de07bdec445a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4314116685c4d82" /><Relationship Type="http://schemas.openxmlformats.org/officeDocument/2006/relationships/image" Target="/ppt/media/image29.png" Id="Rbc83567c86ee4084" /><Relationship Type="http://schemas.openxmlformats.org/officeDocument/2006/relationships/hyperlink" Target="https://lucid.app/lucidchart/c1ed1ac4-eabd-423c-a2b8-d558d07f165d/edit" TargetMode="External" Id="R7899c78f14f04a67" /><Relationship Type="http://schemas.openxmlformats.org/officeDocument/2006/relationships/hyperlink" Target="https://github.com/alexabilxiz/UAS_PROJEK_RPL_EventKu" TargetMode="External" Id="R1171a5bb493e4999" /><Relationship Type="http://schemas.openxmlformats.org/officeDocument/2006/relationships/hyperlink" Target="https://eventku.atlassian.net/" TargetMode="External" Id="Rf081139d27c249f1" /><Relationship Type="http://schemas.openxmlformats.org/officeDocument/2006/relationships/notesSlide" Target="/ppt/notesSlides/notesSlide20.xml" Id="R674cad0ee782440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55425070a7548dd" /><Relationship Type="http://schemas.openxmlformats.org/officeDocument/2006/relationships/image" Target="/ppt/media/image30.png" Id="R7aece1832adc4219" /><Relationship Type="http://schemas.openxmlformats.org/officeDocument/2006/relationships/image" Target="/ppt/media/image31.png" Id="Rcbcb57019396478a" /><Relationship Type="http://schemas.openxmlformats.org/officeDocument/2006/relationships/notesSlide" Target="/ppt/notesSlides/notesSlide21.xml" Id="R3ebde3a33f6041e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1ca564c90a341a3" /><Relationship Type="http://schemas.openxmlformats.org/officeDocument/2006/relationships/image" Target="/ppt/media/image32.png" Id="R50892ec7136b4fb5" /><Relationship Type="http://schemas.openxmlformats.org/officeDocument/2006/relationships/image" Target="/ppt/media/image33.png" Id="Rdabf270e33834438" /><Relationship Type="http://schemas.openxmlformats.org/officeDocument/2006/relationships/notesSlide" Target="/ppt/notesSlides/notesSlide22.xml" Id="R7b0944fe26b04fe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e177295a77f4df3" /><Relationship Type="http://schemas.openxmlformats.org/officeDocument/2006/relationships/image" Target="/ppt/media/image34.png" Id="Rf2724a39e56a4f53" /><Relationship Type="http://schemas.openxmlformats.org/officeDocument/2006/relationships/image" Target="/ppt/media/image35.png" Id="Rffa8816c3732427c" /><Relationship Type="http://schemas.openxmlformats.org/officeDocument/2006/relationships/notesSlide" Target="/ppt/notesSlides/notesSlide23.xml" Id="Rf81c8c9f58a2478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77daa2c0cd34098" /><Relationship Type="http://schemas.openxmlformats.org/officeDocument/2006/relationships/image" Target="/ppt/media/image36.png" Id="R7701241591464367" /><Relationship Type="http://schemas.openxmlformats.org/officeDocument/2006/relationships/image" Target="/ppt/media/image37.png" Id="R0c9cc3e2aa0448ab" /><Relationship Type="http://schemas.openxmlformats.org/officeDocument/2006/relationships/notesSlide" Target="/ppt/notesSlides/notesSlide24.xml" Id="R6fae27a58a6f4ae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3fd5510c6f14040" /><Relationship Type="http://schemas.openxmlformats.org/officeDocument/2006/relationships/image" Target="/ppt/media/image38.png" Id="R65223cb595db4b6c" /><Relationship Type="http://schemas.openxmlformats.org/officeDocument/2006/relationships/image" Target="/ppt/media/image39.png" Id="R5bacc13e6a574240" /><Relationship Type="http://schemas.openxmlformats.org/officeDocument/2006/relationships/notesSlide" Target="/ppt/notesSlides/notesSlide25.xml" Id="R2f3ee126f2654676" /></Relationships>
</file>

<file path=ppt/slides/slide1.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97ff1e131934f8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253F783-7256-4599-9A0D-F594DC41C694}"/>
              </a:ext>
            </a:extLst>
          </p:cNvPr>
          <p:cNvSpPr>
            <a:spLocks xmlns:a="http://schemas.openxmlformats.org/drawingml/2006/main" noGrp="1"/>
          </p:cNvSpPr>
          <p:nvPr/>
        </p:nvSpPr>
        <p:spPr>
          <a:xfrm xmlns:a="http://schemas.openxmlformats.org/drawingml/2006/main">
            <a:off x="685800" y="1409700"/>
            <a:ext cx="7620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7200" b="1">
                <a:solidFill>
                  <a:srgbClr val="FFFFFF"/>
                </a:solidFill>
                <a:latin typeface="Arial"/>
                <a:ea typeface="Arial"/>
                <a:cs typeface="Arial"/>
              </a:defRPr>
            </a:pPr>
            <a:r>
              <a:rPr sz="7200" b="1">
                <a:solidFill>
                  <a:srgbClr val="FFFFFF"/>
                </a:solidFill>
                <a:latin typeface="Arial"/>
                <a:ea typeface="Arial"/>
                <a:cs typeface="Arial"/>
              </a:rPr>
              <a:t>EventKu</a:t>
            </a:r>
          </a:p>
        </p:txBody>
      </p:sp>
      <p:sp>
        <p:nvSpPr>
          <p:cNvPr id="3" name="">
            <a:extLst xmlns:a="http://schemas.openxmlformats.org/drawingml/2006/main">
              <a:ext uri="{FF2B5EF4-FFF2-40B4-BE49-F238E27FC236}">
                <a16:creationId xmlns:a16="http://schemas.microsoft.com/office/drawing/2014/main" id="{1A1600D1-2A93-4967-A39C-8D0D6CA16B86}"/>
              </a:ext>
            </a:extLst>
          </p:cNvPr>
          <p:cNvSpPr>
            <a:spLocks xmlns:a="http://schemas.openxmlformats.org/drawingml/2006/main" noGrp="1"/>
          </p:cNvSpPr>
          <p:nvPr/>
        </p:nvSpPr>
        <p:spPr>
          <a:xfrm xmlns:a="http://schemas.openxmlformats.org/drawingml/2006/main">
            <a:off x="723900" y="2857500"/>
            <a:ext cx="762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0">
                <a:solidFill>
                  <a:srgbClr val="FFFFFF"/>
                </a:solidFill>
                <a:latin typeface="Arial"/>
                <a:ea typeface="Arial"/>
                <a:cs typeface="Arial"/>
              </a:defRPr>
            </a:pPr>
            <a:r>
              <a:rPr sz="3225" b="0">
                <a:solidFill>
                  <a:srgbClr val="FFFFFF"/>
                </a:solidFill>
                <a:latin typeface="Arial"/>
                <a:ea typeface="Arial"/>
                <a:cs typeface="Arial"/>
              </a:rPr>
              <a:t>Laporan dan Rancangan UTS</a:t>
            </a:r>
          </a:p>
        </p:txBody>
      </p:sp>
      <p:sp>
        <p:nvSpPr>
          <p:cNvPr id="4" name="">
            <a:extLst xmlns:a="http://schemas.openxmlformats.org/drawingml/2006/main">
              <a:ext uri="{FF2B5EF4-FFF2-40B4-BE49-F238E27FC236}">
                <a16:creationId xmlns:a16="http://schemas.microsoft.com/office/drawing/2014/main" id="{10FC08B2-4E54-4F8B-B490-D33C9A8B6E39}"/>
              </a:ext>
            </a:extLst>
          </p:cNvPr>
          <p:cNvSpPr>
            <a:spLocks xmlns:a="http://schemas.openxmlformats.org/drawingml/2006/main" noGrp="1"/>
          </p:cNvSpPr>
          <p:nvPr/>
        </p:nvSpPr>
        <p:spPr>
          <a:xfrm xmlns:a="http://schemas.openxmlformats.org/drawingml/2006/main">
            <a:off x="723900" y="4124325"/>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550" b="1">
                <a:solidFill>
                  <a:srgbClr val="FFA56E"/>
                </a:solidFill>
                <a:latin typeface="Arial"/>
                <a:ea typeface="Arial"/>
                <a:cs typeface="Arial"/>
              </a:defRPr>
            </a:pPr>
            <a:r>
              <a:rPr sz="2550" b="1">
                <a:solidFill>
                  <a:srgbClr val="FFA56E"/>
                </a:solidFill>
                <a:latin typeface="Arial"/>
                <a:ea typeface="Arial"/>
                <a:cs typeface="Arial"/>
              </a:rPr>
              <a:t>Kelompok IV</a:t>
            </a:r>
          </a:p>
        </p:txBody>
      </p:sp>
      <p:sp>
        <p:nvSpPr>
          <p:cNvPr id="5" name="">
            <a:extLst xmlns:a="http://schemas.openxmlformats.org/drawingml/2006/main">
              <a:ext uri="{FF2B5EF4-FFF2-40B4-BE49-F238E27FC236}">
                <a16:creationId xmlns:a16="http://schemas.microsoft.com/office/drawing/2014/main" id="{3F308952-B531-4DB4-9D0A-7F092439654C}"/>
              </a:ext>
            </a:extLst>
          </p:cNvPr>
          <p:cNvSpPr>
            <a:spLocks xmlns:a="http://schemas.openxmlformats.org/drawingml/2006/main" noGrp="1"/>
          </p:cNvSpPr>
          <p:nvPr/>
        </p:nvSpPr>
        <p:spPr>
          <a:xfrm xmlns:a="http://schemas.openxmlformats.org/drawingml/2006/main">
            <a:off x="723900" y="4781550"/>
            <a:ext cx="742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DFE9F1"/>
                </a:solidFill>
                <a:latin typeface="Arial"/>
                <a:ea typeface="Arial"/>
                <a:cs typeface="Arial"/>
              </a:defRPr>
            </a:pPr>
            <a:r>
              <a:rPr sz="2100" b="0">
                <a:solidFill>
                  <a:srgbClr val="DFE9F1"/>
                </a:solidFill>
                <a:latin typeface="Arial"/>
                <a:ea typeface="Arial"/>
                <a:cs typeface="Arial"/>
              </a:rPr>
              <a:t>INF300 Rekayasa Perangkat Lunak</a:t>
            </a:r>
          </a:p>
          <a:p xmlns:a="http://schemas.openxmlformats.org/drawingml/2006/main">
            <a:pPr>
              <a:buNone/>
              <a:defRPr sz="2100" b="0">
                <a:solidFill>
                  <a:srgbClr val="DFE9F1"/>
                </a:solidFill>
                <a:latin typeface="Arial"/>
                <a:ea typeface="Arial"/>
                <a:cs typeface="Arial"/>
              </a:defRPr>
            </a:pPr>
            <a:r>
              <a:rPr sz="2100" b="0">
                <a:solidFill>
                  <a:srgbClr val="DFE9F1"/>
                </a:solidFill>
                <a:latin typeface="Arial"/>
                <a:ea typeface="Arial"/>
                <a:cs typeface="Arial"/>
              </a:rPr>
              <a:t>Cakupan Minggu 1–8 • 7 Oktober 2026</a:t>
            </a:r>
          </a:p>
        </p:txBody>
      </p:sp>
    </p:spTree>
    <p:extLst>
      <p:ext uri="{BB962C8B-B14F-4D97-AF65-F5344CB8AC3E}">
        <p14:creationId xmlns:p14="http://schemas.microsoft.com/office/powerpoint/2010/main" val="330396752"/>
      </p:ext>
    </p:extLst>
  </p:cSld>
</p:sld>
</file>

<file path=ppt/slides/slide2.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f7684cdd7c04a6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0A4B018-3F6A-4B2D-B44F-54C0AE229A62}"/>
              </a:ext>
            </a:extLst>
          </p:cNvPr>
          <p:cNvSpPr>
            <a:spLocks xmlns:a="http://schemas.openxmlformats.org/drawingml/2006/main" noGrp="1"/>
          </p:cNvSpPr>
          <p:nvPr/>
        </p:nvSpPr>
        <p:spPr>
          <a:xfrm xmlns:a="http://schemas.openxmlformats.org/drawingml/2006/main">
            <a:off x="5715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Tim dan pembagian peran</a:t>
            </a:r>
          </a:p>
        </p:txBody>
      </p:sp>
      <p:sp>
        <p:nvSpPr>
          <p:cNvPr id="3" name="">
            <a:extLst xmlns:a="http://schemas.openxmlformats.org/drawingml/2006/main">
              <a:ext uri="{FF2B5EF4-FFF2-40B4-BE49-F238E27FC236}">
                <a16:creationId xmlns:a16="http://schemas.microsoft.com/office/drawing/2014/main" id="{A842A491-0DDC-4BC1-9DD3-40AE18E0935C}"/>
              </a:ext>
            </a:extLst>
          </p:cNvPr>
          <p:cNvSpPr>
            <a:spLocks xmlns:a="http://schemas.openxmlformats.org/drawingml/2006/main" noGrp="1"/>
          </p:cNvSpPr>
          <p:nvPr/>
        </p:nvSpPr>
        <p:spPr>
          <a:xfrm xmlns:a="http://schemas.openxmlformats.org/drawingml/2006/main">
            <a:off x="1123950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B0C0CE"/>
                </a:solidFill>
                <a:latin typeface="Arial"/>
                <a:ea typeface="Arial"/>
                <a:cs typeface="Arial"/>
              </a:defRPr>
            </a:pPr>
            <a:r>
              <a:rPr sz="1125" b="0">
                <a:solidFill>
                  <a:srgbClr val="B0C0CE"/>
                </a:solidFill>
                <a:latin typeface="Arial"/>
                <a:ea typeface="Arial"/>
                <a:cs typeface="Arial"/>
              </a:rPr>
              <a:t>02</a:t>
            </a:r>
          </a:p>
        </p:txBody>
      </p:sp>
      <p:graphicFrame>
        <p:nvGraphicFramePr>
          <p:cNvPr id="11" name=""/>
          <p:cNvGraphicFramePr/>
          <p:nvPr/>
        </p:nvGraphicFramePr>
        <p:xfrm>
          <a:off xmlns:a="http://schemas.openxmlformats.org/drawingml/2006/main" x="571500" y="1571625"/>
          <a:ext xmlns:a="http://schemas.openxmlformats.org/drawingml/2006/main" cx="11049000" cy="3714750"/>
        </p:xfrm>
        <a:graphic xmlns:a="http://schemas.openxmlformats.org/drawingml/2006/main">
          <a:graphicData uri="http://schemas.openxmlformats.org/drawingml/2006/table">
            <a:tbl>
              <a:tblPr/>
              <a:tblGrid>
                <a:gridCol w="4476750"/>
                <a:gridCol w="2381250"/>
                <a:gridCol w="4191000"/>
              </a:tblGrid>
              <a:tr h="742950">
                <a:tc>
                  <a:txBody>
                    <a:bodyPr>
                      <a:noAutofit/>
                    </a:bodyPr>
                    <a:lstStyle/>
                    <a:p>
                      <a:r>
                        <a:rPr sz="1875" b="1">
                          <a:solidFill>
                            <a:srgbClr val="FFD0AB"/>
                          </a:solidFill>
                          <a:latin typeface="Arial"/>
                          <a:ea typeface="Arial"/>
                          <a:cs typeface="Arial"/>
                        </a:rPr>
                        <a:t>Anggota</a:t>
                      </a:r>
                    </a:p>
                  </a:txBody>
                  <a:tcPr marL="91440" marR="91440" marT="45720" marB="45720">
                    <a:solidFill>
                      <a:srgbClr val="3B566E"/>
                    </a:solidFill>
                  </a:tcPr>
                </a:tc>
                <a:tc>
                  <a:txBody>
                    <a:bodyPr>
                      <a:noAutofit/>
                    </a:bodyPr>
                    <a:lstStyle/>
                    <a:p>
                      <a:r>
                        <a:rPr sz="1875" b="1">
                          <a:solidFill>
                            <a:srgbClr val="FFD0AB"/>
                          </a:solidFill>
                          <a:latin typeface="Arial"/>
                          <a:ea typeface="Arial"/>
                          <a:cs typeface="Arial"/>
                        </a:rPr>
                        <a:t>NRP</a:t>
                      </a:r>
                    </a:p>
                  </a:txBody>
                  <a:tcPr marL="91440" marR="91440" marT="45720" marB="45720">
                    <a:solidFill>
                      <a:srgbClr val="3B566E"/>
                    </a:solidFill>
                  </a:tcPr>
                </a:tc>
                <a:tc>
                  <a:txBody>
                    <a:bodyPr>
                      <a:noAutofit/>
                    </a:bodyPr>
                    <a:lstStyle/>
                    <a:p>
                      <a:r>
                        <a:rPr sz="1875" b="1">
                          <a:solidFill>
                            <a:srgbClr val="FFD0AB"/>
                          </a:solidFill>
                          <a:latin typeface="Arial"/>
                          <a:ea typeface="Arial"/>
                          <a:cs typeface="Arial"/>
                        </a:rPr>
                        <a:t>Peran</a:t>
                      </a:r>
                    </a:p>
                  </a:txBody>
                  <a:tcPr marL="91440" marR="91440" marT="45720" marB="45720">
                    <a:solidFill>
                      <a:srgbClr val="3B566E"/>
                    </a:solidFill>
                  </a:tcPr>
                </a:tc>
              </a:tr>
              <a:tr h="742950">
                <a:tc>
                  <a:txBody>
                    <a:bodyPr>
                      <a:noAutofit/>
                    </a:bodyPr>
                    <a:lstStyle/>
                    <a:p>
                      <a:r>
                        <a:rPr sz="1875" b="0">
                          <a:solidFill>
                            <a:srgbClr val="DFE9F1"/>
                          </a:solidFill>
                          <a:latin typeface="Arial"/>
                          <a:ea typeface="Arial"/>
                          <a:cs typeface="Arial"/>
                        </a:rPr>
                        <a:t>Audrey Elizabeth Gracesia</a:t>
                      </a:r>
                    </a:p>
                  </a:txBody>
                  <a:tcPr marL="91440" marR="91440" marT="45720" marB="45720">
                    <a:solidFill>
                      <a:srgbClr val="203B54"/>
                    </a:solidFill>
                  </a:tcPr>
                </a:tc>
                <a:tc>
                  <a:txBody>
                    <a:bodyPr>
                      <a:noAutofit/>
                    </a:bodyPr>
                    <a:lstStyle/>
                    <a:p>
                      <a:r>
                        <a:rPr sz="1875" b="0">
                          <a:solidFill>
                            <a:srgbClr val="DFE9F1"/>
                          </a:solidFill>
                          <a:latin typeface="Arial"/>
                          <a:ea typeface="Arial"/>
                          <a:cs typeface="Arial"/>
                        </a:rPr>
                        <a:t>5803024014</a:t>
                      </a:r>
                    </a:p>
                  </a:txBody>
                  <a:tcPr marL="91440" marR="91440" marT="45720" marB="45720">
                    <a:solidFill>
                      <a:srgbClr val="203B54"/>
                    </a:solidFill>
                  </a:tcPr>
                </a:tc>
                <a:tc>
                  <a:txBody>
                    <a:bodyPr>
                      <a:noAutofit/>
                    </a:bodyPr>
                    <a:lstStyle/>
                    <a:p>
                      <a:r>
                        <a:rPr sz="1875" b="0">
                          <a:solidFill>
                            <a:srgbClr val="DFE9F1"/>
                          </a:solidFill>
                          <a:latin typeface="Arial"/>
                          <a:ea typeface="Arial"/>
                          <a:cs typeface="Arial"/>
                        </a:rPr>
                        <a:t>Backend dan UI/UX</a:t>
                      </a:r>
                    </a:p>
                  </a:txBody>
                  <a:tcPr marL="91440" marR="91440" marT="45720" marB="45720">
                    <a:solidFill>
                      <a:srgbClr val="203B54"/>
                    </a:solidFill>
                  </a:tcPr>
                </a:tc>
              </a:tr>
              <a:tr h="742950">
                <a:tc>
                  <a:txBody>
                    <a:bodyPr>
                      <a:noAutofit/>
                    </a:bodyPr>
                    <a:lstStyle/>
                    <a:p>
                      <a:r>
                        <a:rPr sz="1875" b="0">
                          <a:solidFill>
                            <a:srgbClr val="DFE9F1"/>
                          </a:solidFill>
                          <a:latin typeface="Arial"/>
                          <a:ea typeface="Arial"/>
                          <a:cs typeface="Arial"/>
                        </a:rPr>
                        <a:t>Bambang Herlambang</a:t>
                      </a:r>
                    </a:p>
                  </a:txBody>
                  <a:tcPr marL="91440" marR="91440" marT="45720" marB="45720">
                    <a:solidFill>
                      <a:srgbClr val="29475F"/>
                    </a:solidFill>
                  </a:tcPr>
                </a:tc>
                <a:tc>
                  <a:txBody>
                    <a:bodyPr>
                      <a:noAutofit/>
                    </a:bodyPr>
                    <a:lstStyle/>
                    <a:p>
                      <a:r>
                        <a:rPr sz="1875" b="0">
                          <a:solidFill>
                            <a:srgbClr val="DFE9F1"/>
                          </a:solidFill>
                          <a:latin typeface="Arial"/>
                          <a:ea typeface="Arial"/>
                          <a:cs typeface="Arial"/>
                        </a:rPr>
                        <a:t>5803024019</a:t>
                      </a:r>
                    </a:p>
                  </a:txBody>
                  <a:tcPr marL="91440" marR="91440" marT="45720" marB="45720">
                    <a:solidFill>
                      <a:srgbClr val="29475F"/>
                    </a:solidFill>
                  </a:tcPr>
                </a:tc>
                <a:tc>
                  <a:txBody>
                    <a:bodyPr>
                      <a:noAutofit/>
                    </a:bodyPr>
                    <a:lstStyle/>
                    <a:p>
                      <a:r>
                        <a:rPr sz="1875" b="0">
                          <a:solidFill>
                            <a:srgbClr val="DFE9F1"/>
                          </a:solidFill>
                          <a:latin typeface="Arial"/>
                          <a:ea typeface="Arial"/>
                          <a:cs typeface="Arial"/>
                        </a:rPr>
                        <a:t>System Architect dan Frontend</a:t>
                      </a:r>
                    </a:p>
                  </a:txBody>
                  <a:tcPr marL="91440" marR="91440" marT="45720" marB="45720">
                    <a:solidFill>
                      <a:srgbClr val="29475F"/>
                    </a:solidFill>
                  </a:tcPr>
                </a:tc>
              </a:tr>
              <a:tr h="742950">
                <a:tc>
                  <a:txBody>
                    <a:bodyPr>
                      <a:noAutofit/>
                    </a:bodyPr>
                    <a:lstStyle/>
                    <a:p>
                      <a:r>
                        <a:rPr sz="1875" b="0">
                          <a:solidFill>
                            <a:srgbClr val="DFE9F1"/>
                          </a:solidFill>
                          <a:latin typeface="Arial"/>
                          <a:ea typeface="Arial"/>
                          <a:cs typeface="Arial"/>
                        </a:rPr>
                        <a:t>Dustin Pranata Wangsawidjaja</a:t>
                      </a:r>
                    </a:p>
                  </a:txBody>
                  <a:tcPr marL="91440" marR="91440" marT="45720" marB="45720">
                    <a:solidFill>
                      <a:srgbClr val="203B54"/>
                    </a:solidFill>
                  </a:tcPr>
                </a:tc>
                <a:tc>
                  <a:txBody>
                    <a:bodyPr>
                      <a:noAutofit/>
                    </a:bodyPr>
                    <a:lstStyle/>
                    <a:p>
                      <a:r>
                        <a:rPr sz="1875" b="0">
                          <a:solidFill>
                            <a:srgbClr val="DFE9F1"/>
                          </a:solidFill>
                          <a:latin typeface="Arial"/>
                          <a:ea typeface="Arial"/>
                          <a:cs typeface="Arial"/>
                        </a:rPr>
                        <a:t>5803024021</a:t>
                      </a:r>
                    </a:p>
                  </a:txBody>
                  <a:tcPr marL="91440" marR="91440" marT="45720" marB="45720">
                    <a:solidFill>
                      <a:srgbClr val="203B54"/>
                    </a:solidFill>
                  </a:tcPr>
                </a:tc>
                <a:tc>
                  <a:txBody>
                    <a:bodyPr>
                      <a:noAutofit/>
                    </a:bodyPr>
                    <a:lstStyle/>
                    <a:p>
                      <a:r>
                        <a:rPr sz="1875" b="0">
                          <a:solidFill>
                            <a:srgbClr val="DFE9F1"/>
                          </a:solidFill>
                          <a:latin typeface="Arial"/>
                          <a:ea typeface="Arial"/>
                          <a:cs typeface="Arial"/>
                        </a:rPr>
                        <a:t>PM dan Business Analyst</a:t>
                      </a:r>
                    </a:p>
                  </a:txBody>
                  <a:tcPr marL="91440" marR="91440" marT="45720" marB="45720">
                    <a:solidFill>
                      <a:srgbClr val="203B54"/>
                    </a:solidFill>
                  </a:tcPr>
                </a:tc>
              </a:tr>
              <a:tr h="742950">
                <a:tc>
                  <a:txBody>
                    <a:bodyPr>
                      <a:noAutofit/>
                    </a:bodyPr>
                    <a:lstStyle/>
                    <a:p>
                      <a:r>
                        <a:rPr sz="1875" b="0">
                          <a:solidFill>
                            <a:srgbClr val="DFE9F1"/>
                          </a:solidFill>
                          <a:latin typeface="Arial"/>
                          <a:ea typeface="Arial"/>
                          <a:cs typeface="Arial"/>
                        </a:rPr>
                        <a:t>Alexa Bilxiz Aulia</a:t>
                      </a:r>
                    </a:p>
                  </a:txBody>
                  <a:tcPr marL="91440" marR="91440" marT="45720" marB="45720">
                    <a:solidFill>
                      <a:srgbClr val="29475F"/>
                    </a:solidFill>
                  </a:tcPr>
                </a:tc>
                <a:tc>
                  <a:txBody>
                    <a:bodyPr>
                      <a:noAutofit/>
                    </a:bodyPr>
                    <a:lstStyle/>
                    <a:p>
                      <a:r>
                        <a:rPr sz="1875" b="0">
                          <a:solidFill>
                            <a:srgbClr val="DFE9F1"/>
                          </a:solidFill>
                          <a:latin typeface="Arial"/>
                          <a:ea typeface="Arial"/>
                          <a:cs typeface="Arial"/>
                        </a:rPr>
                        <a:t>5803024023</a:t>
                      </a:r>
                    </a:p>
                  </a:txBody>
                  <a:tcPr marL="91440" marR="91440" marT="45720" marB="45720">
                    <a:solidFill>
                      <a:srgbClr val="29475F"/>
                    </a:solidFill>
                  </a:tcPr>
                </a:tc>
                <a:tc>
                  <a:txBody>
                    <a:bodyPr>
                      <a:noAutofit/>
                    </a:bodyPr>
                    <a:lstStyle/>
                    <a:p>
                      <a:r>
                        <a:rPr sz="1875" b="0">
                          <a:solidFill>
                            <a:srgbClr val="DFE9F1"/>
                          </a:solidFill>
                          <a:latin typeface="Arial"/>
                          <a:ea typeface="Arial"/>
                          <a:cs typeface="Arial"/>
                        </a:rPr>
                        <a:t>QA dan DevOps</a:t>
                      </a:r>
                    </a:p>
                  </a:txBody>
                  <a:tcPr marL="91440" marR="91440" marT="45720" marB="45720">
                    <a:solidFill>
                      <a:srgbClr val="29475F"/>
                    </a:solidFill>
                  </a:tcPr>
                </a:tc>
              </a:tr>
            </a:tbl>
          </a:graphicData>
        </a:graphic>
      </p:graphicFrame>
      <p:sp>
        <p:nvSpPr>
          <p:cNvPr id="5" name="">
            <a:extLst xmlns:a="http://schemas.openxmlformats.org/drawingml/2006/main">
              <a:ext uri="{FF2B5EF4-FFF2-40B4-BE49-F238E27FC236}">
                <a16:creationId xmlns:a16="http://schemas.microsoft.com/office/drawing/2014/main" id="{969EE01A-BF9D-4F75-B2E3-B822BDFD47E6}"/>
              </a:ext>
            </a:extLst>
          </p:cNvPr>
          <p:cNvSpPr>
            <a:spLocks xmlns:a="http://schemas.openxmlformats.org/drawingml/2006/main" noGrp="1"/>
          </p:cNvSpPr>
          <p:nvPr/>
        </p:nvSpPr>
        <p:spPr>
          <a:xfrm xmlns:a="http://schemas.openxmlformats.org/drawingml/2006/main">
            <a:off x="571500" y="566737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B0C0CE"/>
                </a:solidFill>
                <a:latin typeface="Arial"/>
                <a:ea typeface="Arial"/>
                <a:cs typeface="Arial"/>
              </a:defRPr>
            </a:pPr>
            <a:r>
              <a:rPr sz="1950" b="0">
                <a:solidFill>
                  <a:srgbClr val="B0C0CE"/>
                </a:solidFill>
                <a:latin typeface="Arial"/>
                <a:ea typeface="Arial"/>
                <a:cs typeface="Arial"/>
              </a:rPr>
              <a:t>Use case: Dustin mengoordinasikan; Bambang meninjau kesesuaian rancangan.</a:t>
            </a:r>
          </a:p>
        </p:txBody>
      </p:sp>
    </p:spTree>
    <p:extLst>
      <p:ext uri="{BB962C8B-B14F-4D97-AF65-F5344CB8AC3E}">
        <p14:creationId xmlns:p14="http://schemas.microsoft.com/office/powerpoint/2010/main" val="434560648"/>
      </p:ext>
    </p:extLst>
  </p:cSld>
</p:sld>
</file>

<file path=ppt/slides/slide3.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77ee8099b7c45c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D1C5FAD-258A-4A9B-8ABE-AD30A660C6C8}"/>
              </a:ext>
            </a:extLst>
          </p:cNvPr>
          <p:cNvSpPr>
            <a:spLocks xmlns:a="http://schemas.openxmlformats.org/drawingml/2006/main" noGrp="1"/>
          </p:cNvSpPr>
          <p:nvPr/>
        </p:nvSpPr>
        <p:spPr>
          <a:xfrm xmlns:a="http://schemas.openxmlformats.org/drawingml/2006/main">
            <a:off x="5715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Masalah dan tujuan proyek</a:t>
            </a:r>
          </a:p>
        </p:txBody>
      </p:sp>
      <p:sp>
        <p:nvSpPr>
          <p:cNvPr id="3" name="">
            <a:extLst xmlns:a="http://schemas.openxmlformats.org/drawingml/2006/main">
              <a:ext uri="{FF2B5EF4-FFF2-40B4-BE49-F238E27FC236}">
                <a16:creationId xmlns:a16="http://schemas.microsoft.com/office/drawing/2014/main" id="{45CFE591-76BB-4DC7-9884-E2983F70B296}"/>
              </a:ext>
            </a:extLst>
          </p:cNvPr>
          <p:cNvSpPr>
            <a:spLocks xmlns:a="http://schemas.openxmlformats.org/drawingml/2006/main" noGrp="1"/>
          </p:cNvSpPr>
          <p:nvPr/>
        </p:nvSpPr>
        <p:spPr>
          <a:xfrm xmlns:a="http://schemas.openxmlformats.org/drawingml/2006/main">
            <a:off x="1123950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B0C0CE"/>
                </a:solidFill>
                <a:latin typeface="Arial"/>
                <a:ea typeface="Arial"/>
                <a:cs typeface="Arial"/>
              </a:defRPr>
            </a:pPr>
            <a:r>
              <a:rPr sz="1125" b="0">
                <a:solidFill>
                  <a:srgbClr val="B0C0CE"/>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443EE587-3464-4B5E-B024-C2757D49007D}"/>
              </a:ext>
            </a:extLst>
          </p:cNvPr>
          <p:cNvSpPr>
            <a:spLocks xmlns:a="http://schemas.openxmlformats.org/drawingml/2006/main" noGrp="1"/>
          </p:cNvSpPr>
          <p:nvPr/>
        </p:nvSpPr>
        <p:spPr>
          <a:xfrm xmlns:a="http://schemas.openxmlformats.org/drawingml/2006/main">
            <a:off x="571500" y="14763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Informasi kegiatan tersebar</a:t>
            </a:r>
          </a:p>
        </p:txBody>
      </p:sp>
      <p:sp>
        <p:nvSpPr>
          <p:cNvPr id="5" name="">
            <a:extLst xmlns:a="http://schemas.openxmlformats.org/drawingml/2006/main">
              <a:ext uri="{FF2B5EF4-FFF2-40B4-BE49-F238E27FC236}">
                <a16:creationId xmlns:a16="http://schemas.microsoft.com/office/drawing/2014/main" id="{363796CF-5E29-4750-907A-41D858096378}"/>
              </a:ext>
            </a:extLst>
          </p:cNvPr>
          <p:cNvSpPr>
            <a:spLocks xmlns:a="http://schemas.openxmlformats.org/drawingml/2006/main" noGrp="1"/>
          </p:cNvSpPr>
          <p:nvPr/>
        </p:nvSpPr>
        <p:spPr>
          <a:xfrm xmlns:a="http://schemas.openxmlformats.org/drawingml/2006/main">
            <a:off x="571500" y="194310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Poster, grup percakapan dan media sosial membuat jadwal sulit ditelusuri.</a:t>
            </a:r>
          </a:p>
        </p:txBody>
      </p:sp>
      <p:sp>
        <p:nvSpPr>
          <p:cNvPr id="6" name="">
            <a:extLst xmlns:a="http://schemas.openxmlformats.org/drawingml/2006/main">
              <a:ext uri="{FF2B5EF4-FFF2-40B4-BE49-F238E27FC236}">
                <a16:creationId xmlns:a16="http://schemas.microsoft.com/office/drawing/2014/main" id="{31F910C5-5BB2-44F3-B1C2-6D32D6CB643E}"/>
              </a:ext>
            </a:extLst>
          </p:cNvPr>
          <p:cNvSpPr>
            <a:spLocks xmlns:a="http://schemas.openxmlformats.org/drawingml/2006/main" noGrp="1"/>
          </p:cNvSpPr>
          <p:nvPr/>
        </p:nvSpPr>
        <p:spPr>
          <a:xfrm xmlns:a="http://schemas.openxmlformats.org/drawingml/2006/main">
            <a:off x="571500" y="30289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Pendaftaran perlu ditertibkan</a:t>
            </a:r>
          </a:p>
        </p:txBody>
      </p:sp>
      <p:sp>
        <p:nvSpPr>
          <p:cNvPr id="7" name="">
            <a:extLst xmlns:a="http://schemas.openxmlformats.org/drawingml/2006/main">
              <a:ext uri="{FF2B5EF4-FFF2-40B4-BE49-F238E27FC236}">
                <a16:creationId xmlns:a16="http://schemas.microsoft.com/office/drawing/2014/main" id="{6266448E-3BAC-434A-B6E8-35EFED13FAE5}"/>
              </a:ext>
            </a:extLst>
          </p:cNvPr>
          <p:cNvSpPr>
            <a:spLocks xmlns:a="http://schemas.openxmlformats.org/drawingml/2006/main" noGrp="1"/>
          </p:cNvSpPr>
          <p:nvPr/>
        </p:nvSpPr>
        <p:spPr>
          <a:xfrm xmlns:a="http://schemas.openxmlformats.org/drawingml/2006/main">
            <a:off x="571500" y="34956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Peserta dan kuota harus konsisten, termasuk saat banyak pengguna mendaftar.</a:t>
            </a:r>
          </a:p>
        </p:txBody>
      </p:sp>
      <p:sp>
        <p:nvSpPr>
          <p:cNvPr id="8" name="">
            <a:extLst xmlns:a="http://schemas.openxmlformats.org/drawingml/2006/main">
              <a:ext uri="{FF2B5EF4-FFF2-40B4-BE49-F238E27FC236}">
                <a16:creationId xmlns:a16="http://schemas.microsoft.com/office/drawing/2014/main" id="{C79773EA-E6E6-4689-822C-07D2609ECE08}"/>
              </a:ext>
            </a:extLst>
          </p:cNvPr>
          <p:cNvSpPr>
            <a:spLocks xmlns:a="http://schemas.openxmlformats.org/drawingml/2006/main" noGrp="1"/>
          </p:cNvSpPr>
          <p:nvPr/>
        </p:nvSpPr>
        <p:spPr>
          <a:xfrm xmlns:a="http://schemas.openxmlformats.org/drawingml/2006/main">
            <a:off x="571500" y="45815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EventKu memusatkan informasi</a:t>
            </a:r>
          </a:p>
        </p:txBody>
      </p:sp>
      <p:sp>
        <p:nvSpPr>
          <p:cNvPr id="9" name="">
            <a:extLst xmlns:a="http://schemas.openxmlformats.org/drawingml/2006/main">
              <a:ext uri="{FF2B5EF4-FFF2-40B4-BE49-F238E27FC236}">
                <a16:creationId xmlns:a16="http://schemas.microsoft.com/office/drawing/2014/main" id="{291F7E60-FA21-4C12-AC59-626D5CC42FBC}"/>
              </a:ext>
            </a:extLst>
          </p:cNvPr>
          <p:cNvSpPr>
            <a:spLocks xmlns:a="http://schemas.openxmlformats.org/drawingml/2006/main" noGrp="1"/>
          </p:cNvSpPr>
          <p:nvPr/>
        </p:nvSpPr>
        <p:spPr>
          <a:xfrm xmlns:a="http://schemas.openxmlformats.org/drawingml/2006/main">
            <a:off x="571500" y="504825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Katalog, pencarian, RSVP dan moderasi dalam satu aplikasi web.</a:t>
            </a:r>
          </a:p>
        </p:txBody>
      </p:sp>
    </p:spTree>
    <p:extLst>
      <p:ext uri="{BB962C8B-B14F-4D97-AF65-F5344CB8AC3E}">
        <p14:creationId xmlns:p14="http://schemas.microsoft.com/office/powerpoint/2010/main" val="1468158650"/>
      </p:ext>
    </p:extLst>
  </p:cSld>
</p:sld>
</file>

<file path=ppt/slides/slide4.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431580b81d246d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A43AF8C-0EFD-4E0B-805F-3664457D5D50}"/>
              </a:ext>
            </a:extLst>
          </p:cNvPr>
          <p:cNvSpPr>
            <a:spLocks xmlns:a="http://schemas.openxmlformats.org/drawingml/2006/main" noGrp="1"/>
          </p:cNvSpPr>
          <p:nvPr/>
        </p:nvSpPr>
        <p:spPr>
          <a:xfrm xmlns:a="http://schemas.openxmlformats.org/drawingml/2006/main">
            <a:off x="5715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Ruang lingkup aplikasi</a:t>
            </a:r>
          </a:p>
        </p:txBody>
      </p:sp>
      <p:sp>
        <p:nvSpPr>
          <p:cNvPr id="3" name="">
            <a:extLst xmlns:a="http://schemas.openxmlformats.org/drawingml/2006/main">
              <a:ext uri="{FF2B5EF4-FFF2-40B4-BE49-F238E27FC236}">
                <a16:creationId xmlns:a16="http://schemas.microsoft.com/office/drawing/2014/main" id="{90FC7B3A-224E-4346-881D-337A8C5729A2}"/>
              </a:ext>
            </a:extLst>
          </p:cNvPr>
          <p:cNvSpPr>
            <a:spLocks xmlns:a="http://schemas.openxmlformats.org/drawingml/2006/main" noGrp="1"/>
          </p:cNvSpPr>
          <p:nvPr/>
        </p:nvSpPr>
        <p:spPr>
          <a:xfrm xmlns:a="http://schemas.openxmlformats.org/drawingml/2006/main">
            <a:off x="1123950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B0C0CE"/>
                </a:solidFill>
                <a:latin typeface="Arial"/>
                <a:ea typeface="Arial"/>
                <a:cs typeface="Arial"/>
              </a:defRPr>
            </a:pPr>
            <a:r>
              <a:rPr sz="1125" b="0">
                <a:solidFill>
                  <a:srgbClr val="B0C0CE"/>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87B25354-4F02-4D9F-AADE-5AD16751F34E}"/>
              </a:ext>
            </a:extLst>
          </p:cNvPr>
          <p:cNvSpPr>
            <a:spLocks xmlns:a="http://schemas.openxmlformats.org/drawingml/2006/main" noGrp="1"/>
          </p:cNvSpPr>
          <p:nvPr/>
        </p:nvSpPr>
        <p:spPr>
          <a:xfrm xmlns:a="http://schemas.openxmlformats.org/drawingml/2006/main">
            <a:off x="571500" y="14287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Mahasiswa dan pengunjung</a:t>
            </a:r>
          </a:p>
        </p:txBody>
      </p:sp>
      <p:sp>
        <p:nvSpPr>
          <p:cNvPr id="5" name="">
            <a:extLst xmlns:a="http://schemas.openxmlformats.org/drawingml/2006/main">
              <a:ext uri="{FF2B5EF4-FFF2-40B4-BE49-F238E27FC236}">
                <a16:creationId xmlns:a16="http://schemas.microsoft.com/office/drawing/2014/main" id="{71D191CF-BEBC-4023-807B-EFC38A69D324}"/>
              </a:ext>
            </a:extLst>
          </p:cNvPr>
          <p:cNvSpPr>
            <a:spLocks xmlns:a="http://schemas.openxmlformats.org/drawingml/2006/main" noGrp="1"/>
          </p:cNvSpPr>
          <p:nvPr/>
        </p:nvSpPr>
        <p:spPr>
          <a:xfrm xmlns:a="http://schemas.openxmlformats.org/drawingml/2006/main">
            <a:off x="571500" y="1895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Cari kegiatan, lihat detail dan kalender. Mahasiswa dapat RSVP dan memilih minat.</a:t>
            </a:r>
          </a:p>
        </p:txBody>
      </p:sp>
      <p:sp>
        <p:nvSpPr>
          <p:cNvPr id="6" name="">
            <a:extLst xmlns:a="http://schemas.openxmlformats.org/drawingml/2006/main">
              <a:ext uri="{FF2B5EF4-FFF2-40B4-BE49-F238E27FC236}">
                <a16:creationId xmlns:a16="http://schemas.microsoft.com/office/drawing/2014/main" id="{0758B20B-07C6-4251-8A72-7DE64916EBBF}"/>
              </a:ext>
            </a:extLst>
          </p:cNvPr>
          <p:cNvSpPr>
            <a:spLocks xmlns:a="http://schemas.openxmlformats.org/drawingml/2006/main" noGrp="1"/>
          </p:cNvSpPr>
          <p:nvPr/>
        </p:nvSpPr>
        <p:spPr>
          <a:xfrm xmlns:a="http://schemas.openxmlformats.org/drawingml/2006/main">
            <a:off x="571500" y="29813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Penyelenggara dan admin</a:t>
            </a:r>
          </a:p>
        </p:txBody>
      </p:sp>
      <p:sp>
        <p:nvSpPr>
          <p:cNvPr id="7" name="">
            <a:extLst xmlns:a="http://schemas.openxmlformats.org/drawingml/2006/main">
              <a:ext uri="{FF2B5EF4-FFF2-40B4-BE49-F238E27FC236}">
                <a16:creationId xmlns:a16="http://schemas.microsoft.com/office/drawing/2014/main" id="{3B80D719-7294-42FF-BF52-611CD9E38B0C}"/>
              </a:ext>
            </a:extLst>
          </p:cNvPr>
          <p:cNvSpPr>
            <a:spLocks xmlns:a="http://schemas.openxmlformats.org/drawingml/2006/main" noGrp="1"/>
          </p:cNvSpPr>
          <p:nvPr/>
        </p:nvSpPr>
        <p:spPr>
          <a:xfrm xmlns:a="http://schemas.openxmlformats.org/drawingml/2006/main">
            <a:off x="571500" y="344805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Organisasi terverifikasi mengajukan event; admin memoderasi publikasi.</a:t>
            </a:r>
          </a:p>
        </p:txBody>
      </p:sp>
      <p:sp>
        <p:nvSpPr>
          <p:cNvPr id="8" name="">
            <a:extLst xmlns:a="http://schemas.openxmlformats.org/drawingml/2006/main">
              <a:ext uri="{FF2B5EF4-FFF2-40B4-BE49-F238E27FC236}">
                <a16:creationId xmlns:a16="http://schemas.microsoft.com/office/drawing/2014/main" id="{4649417C-F1C3-461A-A42D-7BB81962D0BE}"/>
              </a:ext>
            </a:extLst>
          </p:cNvPr>
          <p:cNvSpPr>
            <a:spLocks xmlns:a="http://schemas.openxmlformats.org/drawingml/2006/main" noGrp="1"/>
          </p:cNvSpPr>
          <p:nvPr/>
        </p:nvSpPr>
        <p:spPr>
          <a:xfrm xmlns:a="http://schemas.openxmlformats.org/drawingml/2006/main">
            <a:off x="571500" y="45339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Batas MVP</a:t>
            </a:r>
          </a:p>
        </p:txBody>
      </p:sp>
      <p:sp>
        <p:nvSpPr>
          <p:cNvPr id="9" name="">
            <a:extLst xmlns:a="http://schemas.openxmlformats.org/drawingml/2006/main">
              <a:ext uri="{FF2B5EF4-FFF2-40B4-BE49-F238E27FC236}">
                <a16:creationId xmlns:a16="http://schemas.microsoft.com/office/drawing/2014/main" id="{980A54B3-FD5D-414A-9480-66ABBE0A3D72}"/>
              </a:ext>
            </a:extLst>
          </p:cNvPr>
          <p:cNvSpPr>
            <a:spLocks xmlns:a="http://schemas.openxmlformats.org/drawingml/2006/main" noGrp="1"/>
          </p:cNvSpPr>
          <p:nvPr/>
        </p:nvSpPr>
        <p:spPr>
          <a:xfrm xmlns:a="http://schemas.openxmlformats.org/drawingml/2006/main">
            <a:off x="571500" y="500062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Web responsif. Tiket berbayar, aplikasi native dan SSO di luar lingkup awal.</a:t>
            </a:r>
          </a:p>
        </p:txBody>
      </p:sp>
    </p:spTree>
    <p:extLst>
      <p:ext uri="{BB962C8B-B14F-4D97-AF65-F5344CB8AC3E}">
        <p14:creationId xmlns:p14="http://schemas.microsoft.com/office/powerpoint/2010/main" val="242751616"/>
      </p:ext>
    </p:extLst>
  </p:cSld>
</p:sld>
</file>

<file path=ppt/slides/slide5.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333bd38ac8045a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2138765-02C3-42D3-B658-1946B570A154}"/>
              </a:ext>
            </a:extLst>
          </p:cNvPr>
          <p:cNvSpPr>
            <a:spLocks xmlns:a="http://schemas.openxmlformats.org/drawingml/2006/main" noGrp="1"/>
          </p:cNvSpPr>
          <p:nvPr/>
        </p:nvSpPr>
        <p:spPr>
          <a:xfrm xmlns:a="http://schemas.openxmlformats.org/drawingml/2006/main">
            <a:off x="5715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SDLC dan posisi sampai UTS</a:t>
            </a:r>
          </a:p>
        </p:txBody>
      </p:sp>
      <p:sp>
        <p:nvSpPr>
          <p:cNvPr id="3" name="">
            <a:extLst xmlns:a="http://schemas.openxmlformats.org/drawingml/2006/main">
              <a:ext uri="{FF2B5EF4-FFF2-40B4-BE49-F238E27FC236}">
                <a16:creationId xmlns:a16="http://schemas.microsoft.com/office/drawing/2014/main" id="{1F2EB02D-692D-492B-AB5C-A5C47ACCD41F}"/>
              </a:ext>
            </a:extLst>
          </p:cNvPr>
          <p:cNvSpPr>
            <a:spLocks xmlns:a="http://schemas.openxmlformats.org/drawingml/2006/main" noGrp="1"/>
          </p:cNvSpPr>
          <p:nvPr/>
        </p:nvSpPr>
        <p:spPr>
          <a:xfrm xmlns:a="http://schemas.openxmlformats.org/drawingml/2006/main">
            <a:off x="1123950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B0C0CE"/>
                </a:solidFill>
                <a:latin typeface="Arial"/>
                <a:ea typeface="Arial"/>
                <a:cs typeface="Arial"/>
              </a:defRPr>
            </a:pPr>
            <a:r>
              <a:rPr sz="1125" b="0">
                <a:solidFill>
                  <a:srgbClr val="B0C0CE"/>
                </a:solidFill>
                <a:latin typeface="Arial"/>
                <a:ea typeface="Arial"/>
                <a:cs typeface="Arial"/>
              </a:rPr>
              <a:t>05</a:t>
            </a:r>
          </a:p>
        </p:txBody>
      </p:sp>
      <p:graphicFrame>
        <p:nvGraphicFramePr>
          <p:cNvPr id="11" name=""/>
          <p:cNvGraphicFramePr/>
          <p:nvPr/>
        </p:nvGraphicFramePr>
        <p:xfrm>
          <a:off xmlns:a="http://schemas.openxmlformats.org/drawingml/2006/main" x="571500" y="1476375"/>
          <a:ext xmlns:a="http://schemas.openxmlformats.org/drawingml/2006/main" cx="11049000" cy="3552825"/>
        </p:xfrm>
        <a:graphic xmlns:a="http://schemas.openxmlformats.org/drawingml/2006/main">
          <a:graphicData uri="http://schemas.openxmlformats.org/drawingml/2006/table">
            <a:tbl>
              <a:tblPr/>
              <a:tblGrid>
                <a:gridCol w="2571750"/>
                <a:gridCol w="1524000"/>
                <a:gridCol w="6953250"/>
              </a:tblGrid>
              <a:tr h="710565">
                <a:tc>
                  <a:txBody>
                    <a:bodyPr>
                      <a:noAutofit/>
                    </a:bodyPr>
                    <a:lstStyle/>
                    <a:p>
                      <a:r>
                        <a:rPr sz="2025" b="1">
                          <a:solidFill>
                            <a:srgbClr val="FFD0AB"/>
                          </a:solidFill>
                          <a:latin typeface="Arial"/>
                          <a:ea typeface="Arial"/>
                          <a:cs typeface="Arial"/>
                        </a:rPr>
                        <a:t>Tahap</a:t>
                      </a:r>
                    </a:p>
                  </a:txBody>
                  <a:tcPr marL="91440" marR="91440" marT="45720" marB="45720">
                    <a:solidFill>
                      <a:srgbClr val="3B566E"/>
                    </a:solidFill>
                  </a:tcPr>
                </a:tc>
                <a:tc>
                  <a:txBody>
                    <a:bodyPr>
                      <a:noAutofit/>
                    </a:bodyPr>
                    <a:lstStyle/>
                    <a:p>
                      <a:r>
                        <a:rPr sz="2025" b="1">
                          <a:solidFill>
                            <a:srgbClr val="FFD0AB"/>
                          </a:solidFill>
                          <a:latin typeface="Arial"/>
                          <a:ea typeface="Arial"/>
                          <a:cs typeface="Arial"/>
                        </a:rPr>
                        <a:t>Minggu</a:t>
                      </a:r>
                    </a:p>
                  </a:txBody>
                  <a:tcPr marL="91440" marR="91440" marT="45720" marB="45720">
                    <a:solidFill>
                      <a:srgbClr val="3B566E"/>
                    </a:solidFill>
                  </a:tcPr>
                </a:tc>
                <a:tc>
                  <a:txBody>
                    <a:bodyPr>
                      <a:noAutofit/>
                    </a:bodyPr>
                    <a:lstStyle/>
                    <a:p>
                      <a:r>
                        <a:rPr sz="2025" b="1">
                          <a:solidFill>
                            <a:srgbClr val="FFD0AB"/>
                          </a:solidFill>
                          <a:latin typeface="Arial"/>
                          <a:ea typeface="Arial"/>
                          <a:cs typeface="Arial"/>
                        </a:rPr>
                        <a:t>Artefak</a:t>
                      </a:r>
                    </a:p>
                  </a:txBody>
                  <a:tcPr marL="91440" marR="91440" marT="45720" marB="45720">
                    <a:solidFill>
                      <a:srgbClr val="3B566E"/>
                    </a:solidFill>
                  </a:tcPr>
                </a:tc>
              </a:tr>
              <a:tr h="710565">
                <a:tc>
                  <a:txBody>
                    <a:bodyPr>
                      <a:noAutofit/>
                    </a:bodyPr>
                    <a:lstStyle/>
                    <a:p>
                      <a:r>
                        <a:rPr sz="2025" b="0">
                          <a:solidFill>
                            <a:srgbClr val="DFE9F1"/>
                          </a:solidFill>
                          <a:latin typeface="Arial"/>
                          <a:ea typeface="Arial"/>
                          <a:cs typeface="Arial"/>
                        </a:rPr>
                        <a:t>Inisiasi</a:t>
                      </a:r>
                    </a:p>
                  </a:txBody>
                  <a:tcPr marL="91440" marR="91440" marT="45720" marB="45720">
                    <a:solidFill>
                      <a:srgbClr val="203B54"/>
                    </a:solidFill>
                  </a:tcPr>
                </a:tc>
                <a:tc>
                  <a:txBody>
                    <a:bodyPr>
                      <a:noAutofit/>
                    </a:bodyPr>
                    <a:lstStyle/>
                    <a:p>
                      <a:r>
                        <a:rPr sz="2025" b="0">
                          <a:solidFill>
                            <a:srgbClr val="DFE9F1"/>
                          </a:solidFill>
                          <a:latin typeface="Arial"/>
                          <a:ea typeface="Arial"/>
                          <a:cs typeface="Arial"/>
                        </a:rPr>
                        <a:t>1</a:t>
                      </a:r>
                    </a:p>
                  </a:txBody>
                  <a:tcPr marL="91440" marR="91440" marT="45720" marB="45720">
                    <a:solidFill>
                      <a:srgbClr val="203B54"/>
                    </a:solidFill>
                  </a:tcPr>
                </a:tc>
                <a:tc>
                  <a:txBody>
                    <a:bodyPr>
                      <a:noAutofit/>
                    </a:bodyPr>
                    <a:lstStyle/>
                    <a:p>
                      <a:r>
                        <a:rPr sz="2025" b="0">
                          <a:solidFill>
                            <a:srgbClr val="DFE9F1"/>
                          </a:solidFill>
                          <a:latin typeface="Arial"/>
                          <a:ea typeface="Arial"/>
                          <a:cs typeface="Arial"/>
                        </a:rPr>
                        <a:t>Charter, masalah dan peran</a:t>
                      </a:r>
                    </a:p>
                  </a:txBody>
                  <a:tcPr marL="91440" marR="91440" marT="45720" marB="45720">
                    <a:solidFill>
                      <a:srgbClr val="203B54"/>
                    </a:solidFill>
                  </a:tcPr>
                </a:tc>
              </a:tr>
              <a:tr h="710565">
                <a:tc>
                  <a:txBody>
                    <a:bodyPr>
                      <a:noAutofit/>
                    </a:bodyPr>
                    <a:lstStyle/>
                    <a:p>
                      <a:r>
                        <a:rPr sz="2025" b="0">
                          <a:solidFill>
                            <a:srgbClr val="DFE9F1"/>
                          </a:solidFill>
                          <a:latin typeface="Arial"/>
                          <a:ea typeface="Arial"/>
                          <a:cs typeface="Arial"/>
                        </a:rPr>
                        <a:t>Analisis</a:t>
                      </a:r>
                    </a:p>
                  </a:txBody>
                  <a:tcPr marL="91440" marR="91440" marT="45720" marB="45720">
                    <a:solidFill>
                      <a:srgbClr val="29475F"/>
                    </a:solidFill>
                  </a:tcPr>
                </a:tc>
                <a:tc>
                  <a:txBody>
                    <a:bodyPr>
                      <a:noAutofit/>
                    </a:bodyPr>
                    <a:lstStyle/>
                    <a:p>
                      <a:r>
                        <a:rPr sz="2025" b="0">
                          <a:solidFill>
                            <a:srgbClr val="DFE9F1"/>
                          </a:solidFill>
                          <a:latin typeface="Arial"/>
                          <a:ea typeface="Arial"/>
                          <a:cs typeface="Arial"/>
                        </a:rPr>
                        <a:t>2–4</a:t>
                      </a:r>
                    </a:p>
                  </a:txBody>
                  <a:tcPr marL="91440" marR="91440" marT="45720" marB="45720">
                    <a:solidFill>
                      <a:srgbClr val="29475F"/>
                    </a:solidFill>
                  </a:tcPr>
                </a:tc>
                <a:tc>
                  <a:txBody>
                    <a:bodyPr>
                      <a:noAutofit/>
                    </a:bodyPr>
                    <a:lstStyle/>
                    <a:p>
                      <a:r>
                        <a:rPr sz="2025" b="0">
                          <a:solidFill>
                            <a:srgbClr val="DFE9F1"/>
                          </a:solidFill>
                          <a:latin typeface="Arial"/>
                          <a:ea typeface="Arial"/>
                          <a:cs typeface="Arial"/>
                        </a:rPr>
                        <a:t>SRS, user story, backlog</a:t>
                      </a:r>
                    </a:p>
                  </a:txBody>
                  <a:tcPr marL="91440" marR="91440" marT="45720" marB="45720">
                    <a:solidFill>
                      <a:srgbClr val="29475F"/>
                    </a:solidFill>
                  </a:tcPr>
                </a:tc>
              </a:tr>
              <a:tr h="710565">
                <a:tc>
                  <a:txBody>
                    <a:bodyPr>
                      <a:noAutofit/>
                    </a:bodyPr>
                    <a:lstStyle/>
                    <a:p>
                      <a:r>
                        <a:rPr sz="2025" b="0">
                          <a:solidFill>
                            <a:srgbClr val="DFE9F1"/>
                          </a:solidFill>
                          <a:latin typeface="Arial"/>
                          <a:ea typeface="Arial"/>
                          <a:cs typeface="Arial"/>
                        </a:rPr>
                        <a:t>Perancangan</a:t>
                      </a:r>
                    </a:p>
                  </a:txBody>
                  <a:tcPr marL="91440" marR="91440" marT="45720" marB="45720">
                    <a:solidFill>
                      <a:srgbClr val="203B54"/>
                    </a:solidFill>
                  </a:tcPr>
                </a:tc>
                <a:tc>
                  <a:txBody>
                    <a:bodyPr>
                      <a:noAutofit/>
                    </a:bodyPr>
                    <a:lstStyle/>
                    <a:p>
                      <a:r>
                        <a:rPr sz="2025" b="0">
                          <a:solidFill>
                            <a:srgbClr val="DFE9F1"/>
                          </a:solidFill>
                          <a:latin typeface="Arial"/>
                          <a:ea typeface="Arial"/>
                          <a:cs typeface="Arial"/>
                        </a:rPr>
                        <a:t>5–7</a:t>
                      </a:r>
                    </a:p>
                  </a:txBody>
                  <a:tcPr marL="91440" marR="91440" marT="45720" marB="45720">
                    <a:solidFill>
                      <a:srgbClr val="203B54"/>
                    </a:solidFill>
                  </a:tcPr>
                </a:tc>
                <a:tc>
                  <a:txBody>
                    <a:bodyPr>
                      <a:noAutofit/>
                    </a:bodyPr>
                    <a:lstStyle/>
                    <a:p>
                      <a:r>
                        <a:rPr sz="2025" b="0">
                          <a:solidFill>
                            <a:srgbClr val="DFE9F1"/>
                          </a:solidFill>
                          <a:latin typeface="Arial"/>
                          <a:ea typeface="Arial"/>
                          <a:cs typeface="Arial"/>
                        </a:rPr>
                        <a:t>Diagram, arsitektur, Figma, pattern</a:t>
                      </a:r>
                    </a:p>
                  </a:txBody>
                  <a:tcPr marL="91440" marR="91440" marT="45720" marB="45720">
                    <a:solidFill>
                      <a:srgbClr val="203B54"/>
                    </a:solidFill>
                  </a:tcPr>
                </a:tc>
              </a:tr>
              <a:tr h="710565">
                <a:tc>
                  <a:txBody>
                    <a:bodyPr>
                      <a:noAutofit/>
                    </a:bodyPr>
                    <a:lstStyle/>
                    <a:p>
                      <a:r>
                        <a:rPr sz="2025" b="0">
                          <a:solidFill>
                            <a:srgbClr val="DFE9F1"/>
                          </a:solidFill>
                          <a:latin typeface="Arial"/>
                          <a:ea typeface="Arial"/>
                          <a:cs typeface="Arial"/>
                        </a:rPr>
                        <a:t>Konsolidasi UTS</a:t>
                      </a:r>
                    </a:p>
                  </a:txBody>
                  <a:tcPr marL="91440" marR="91440" marT="45720" marB="45720">
                    <a:solidFill>
                      <a:srgbClr val="29475F"/>
                    </a:solidFill>
                  </a:tcPr>
                </a:tc>
                <a:tc>
                  <a:txBody>
                    <a:bodyPr>
                      <a:noAutofit/>
                    </a:bodyPr>
                    <a:lstStyle/>
                    <a:p>
                      <a:r>
                        <a:rPr sz="2025" b="0">
                          <a:solidFill>
                            <a:srgbClr val="DFE9F1"/>
                          </a:solidFill>
                          <a:latin typeface="Arial"/>
                          <a:ea typeface="Arial"/>
                          <a:cs typeface="Arial"/>
                        </a:rPr>
                        <a:t>8</a:t>
                      </a:r>
                    </a:p>
                  </a:txBody>
                  <a:tcPr marL="91440" marR="91440" marT="45720" marB="45720">
                    <a:solidFill>
                      <a:srgbClr val="29475F"/>
                    </a:solidFill>
                  </a:tcPr>
                </a:tc>
                <a:tc>
                  <a:txBody>
                    <a:bodyPr>
                      <a:noAutofit/>
                    </a:bodyPr>
                    <a:lstStyle/>
                    <a:p>
                      <a:r>
                        <a:rPr sz="2025" b="0">
                          <a:solidFill>
                            <a:srgbClr val="DFE9F1"/>
                          </a:solidFill>
                          <a:latin typeface="Arial"/>
                          <a:ea typeface="Arial"/>
                          <a:cs typeface="Arial"/>
                        </a:rPr>
                        <a:t>Laporan dan presentasi kelompok</a:t>
                      </a:r>
                    </a:p>
                  </a:txBody>
                  <a:tcPr marL="91440" marR="91440" marT="45720" marB="45720">
                    <a:solidFill>
                      <a:srgbClr val="29475F"/>
                    </a:solidFill>
                  </a:tcPr>
                </a:tc>
              </a:tr>
            </a:tbl>
          </a:graphicData>
        </a:graphic>
      </p:graphicFrame>
      <p:sp>
        <p:nvSpPr>
          <p:cNvPr id="5" name="">
            <a:extLst xmlns:a="http://schemas.openxmlformats.org/drawingml/2006/main">
              <a:ext uri="{FF2B5EF4-FFF2-40B4-BE49-F238E27FC236}">
                <a16:creationId xmlns:a16="http://schemas.microsoft.com/office/drawing/2014/main" id="{D6BE5A38-7FDB-44D8-B24C-9CAD01E774C9}"/>
              </a:ext>
            </a:extLst>
          </p:cNvPr>
          <p:cNvSpPr>
            <a:spLocks xmlns:a="http://schemas.openxmlformats.org/drawingml/2006/main" noGrp="1"/>
          </p:cNvSpPr>
          <p:nvPr/>
        </p:nvSpPr>
        <p:spPr>
          <a:xfrm xmlns:a="http://schemas.openxmlformats.org/drawingml/2006/main">
            <a:off x="571500" y="541020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FFA56E"/>
                </a:solidFill>
                <a:latin typeface="Arial"/>
                <a:ea typeface="Arial"/>
                <a:cs typeface="Arial"/>
              </a:defRPr>
            </a:pPr>
            <a:r>
              <a:rPr sz="2175" b="0">
                <a:solidFill>
                  <a:srgbClr val="FFA56E"/>
                </a:solidFill>
                <a:latin typeface="Arial"/>
                <a:ea typeface="Arial"/>
                <a:cs typeface="Arial"/>
              </a:rPr>
              <a:t>Scrum diadaptasi: backlog berprioritas, increment, review dan retrospective.</a:t>
            </a:r>
          </a:p>
        </p:txBody>
      </p:sp>
    </p:spTree>
    <p:extLst>
      <p:ext uri="{BB962C8B-B14F-4D97-AF65-F5344CB8AC3E}">
        <p14:creationId xmlns:p14="http://schemas.microsoft.com/office/powerpoint/2010/main" val="2043738687"/>
      </p:ext>
    </p:extLst>
  </p:cSld>
</p:sld>
</file>

<file path=ppt/slides/slide6.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096e879203948d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A7AC78E-8041-481E-B12B-F34488F7F60D}"/>
              </a:ext>
            </a:extLst>
          </p:cNvPr>
          <p:cNvSpPr>
            <a:spLocks xmlns:a="http://schemas.openxmlformats.org/drawingml/2006/main" noGrp="1"/>
          </p:cNvSpPr>
          <p:nvPr/>
        </p:nvSpPr>
        <p:spPr>
          <a:xfrm xmlns:a="http://schemas.openxmlformats.org/drawingml/2006/main">
            <a:off x="5715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Kebutuhan fungsional utama</a:t>
            </a:r>
          </a:p>
        </p:txBody>
      </p:sp>
      <p:sp>
        <p:nvSpPr>
          <p:cNvPr id="3" name="">
            <a:extLst xmlns:a="http://schemas.openxmlformats.org/drawingml/2006/main">
              <a:ext uri="{FF2B5EF4-FFF2-40B4-BE49-F238E27FC236}">
                <a16:creationId xmlns:a16="http://schemas.microsoft.com/office/drawing/2014/main" id="{E82CB482-F5EB-4757-9651-C4BC820DFEC8}"/>
              </a:ext>
            </a:extLst>
          </p:cNvPr>
          <p:cNvSpPr>
            <a:spLocks xmlns:a="http://schemas.openxmlformats.org/drawingml/2006/main" noGrp="1"/>
          </p:cNvSpPr>
          <p:nvPr/>
        </p:nvSpPr>
        <p:spPr>
          <a:xfrm xmlns:a="http://schemas.openxmlformats.org/drawingml/2006/main">
            <a:off x="1123950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B0C0CE"/>
                </a:solidFill>
                <a:latin typeface="Arial"/>
                <a:ea typeface="Arial"/>
                <a:cs typeface="Arial"/>
              </a:defRPr>
            </a:pPr>
            <a:r>
              <a:rPr sz="1125" b="0">
                <a:solidFill>
                  <a:srgbClr val="B0C0CE"/>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A2ABEFC0-0AC9-4C3F-95A4-4E2384BF1277}"/>
              </a:ext>
            </a:extLst>
          </p:cNvPr>
          <p:cNvSpPr>
            <a:spLocks xmlns:a="http://schemas.openxmlformats.org/drawingml/2006/main" noGrp="1"/>
          </p:cNvSpPr>
          <p:nvPr/>
        </p:nvSpPr>
        <p:spPr>
          <a:xfrm xmlns:a="http://schemas.openxmlformats.org/drawingml/2006/main">
            <a:off x="571500" y="13811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Akun dan publikasi</a:t>
            </a:r>
          </a:p>
        </p:txBody>
      </p:sp>
      <p:sp>
        <p:nvSpPr>
          <p:cNvPr id="5" name="">
            <a:extLst xmlns:a="http://schemas.openxmlformats.org/drawingml/2006/main">
              <a:ext uri="{FF2B5EF4-FFF2-40B4-BE49-F238E27FC236}">
                <a16:creationId xmlns:a16="http://schemas.microsoft.com/office/drawing/2014/main" id="{635A54A4-1F84-4A76-8B09-9882BDF77AFF}"/>
              </a:ext>
            </a:extLst>
          </p:cNvPr>
          <p:cNvSpPr>
            <a:spLocks xmlns:a="http://schemas.openxmlformats.org/drawingml/2006/main" noGrp="1"/>
          </p:cNvSpPr>
          <p:nvPr/>
        </p:nvSpPr>
        <p:spPr>
          <a:xfrm xmlns:a="http://schemas.openxmlformats.org/drawingml/2006/main">
            <a:off x="571500" y="184785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Peran, verifikasi organisasi, draft, pengajuan dan keputusan moderasi.</a:t>
            </a:r>
          </a:p>
        </p:txBody>
      </p:sp>
      <p:sp>
        <p:nvSpPr>
          <p:cNvPr id="6" name="">
            <a:extLst xmlns:a="http://schemas.openxmlformats.org/drawingml/2006/main">
              <a:ext uri="{FF2B5EF4-FFF2-40B4-BE49-F238E27FC236}">
                <a16:creationId xmlns:a16="http://schemas.microsoft.com/office/drawing/2014/main" id="{660D0F08-2DA7-422D-9CCB-DB26BD6CAD48}"/>
              </a:ext>
            </a:extLst>
          </p:cNvPr>
          <p:cNvSpPr>
            <a:spLocks xmlns:a="http://schemas.openxmlformats.org/drawingml/2006/main" noGrp="1"/>
          </p:cNvSpPr>
          <p:nvPr/>
        </p:nvSpPr>
        <p:spPr>
          <a:xfrm xmlns:a="http://schemas.openxmlformats.org/drawingml/2006/main">
            <a:off x="571500" y="29241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Pencarian dan pendaftaran</a:t>
            </a:r>
          </a:p>
        </p:txBody>
      </p:sp>
      <p:sp>
        <p:nvSpPr>
          <p:cNvPr id="7" name="">
            <a:extLst xmlns:a="http://schemas.openxmlformats.org/drawingml/2006/main">
              <a:ext uri="{FF2B5EF4-FFF2-40B4-BE49-F238E27FC236}">
                <a16:creationId xmlns:a16="http://schemas.microsoft.com/office/drawing/2014/main" id="{49E69D75-F3AF-424E-98DC-61C518B4468F}"/>
              </a:ext>
            </a:extLst>
          </p:cNvPr>
          <p:cNvSpPr>
            <a:spLocks xmlns:a="http://schemas.openxmlformats.org/drawingml/2006/main" noGrp="1"/>
          </p:cNvSpPr>
          <p:nvPr/>
        </p:nvSpPr>
        <p:spPr>
          <a:xfrm xmlns:a="http://schemas.openxmlformats.org/drawingml/2006/main">
            <a:off x="571500" y="339090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Filter gabungan, katalog Disetujui, RSVP unik dan kuota konsisten.</a:t>
            </a:r>
          </a:p>
        </p:txBody>
      </p:sp>
      <p:sp>
        <p:nvSpPr>
          <p:cNvPr id="8" name="">
            <a:extLst xmlns:a="http://schemas.openxmlformats.org/drawingml/2006/main">
              <a:ext uri="{FF2B5EF4-FFF2-40B4-BE49-F238E27FC236}">
                <a16:creationId xmlns:a16="http://schemas.microsoft.com/office/drawing/2014/main" id="{A330F418-3D5E-4915-84C5-6BC8E8D0B849}"/>
              </a:ext>
            </a:extLst>
          </p:cNvPr>
          <p:cNvSpPr>
            <a:spLocks xmlns:a="http://schemas.openxmlformats.org/drawingml/2006/main" noGrp="1"/>
          </p:cNvSpPr>
          <p:nvPr/>
        </p:nvSpPr>
        <p:spPr>
          <a:xfrm xmlns:a="http://schemas.openxmlformats.org/drawingml/2006/main">
            <a:off x="571500" y="44672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Pengelolaan dan notifikasi</a:t>
            </a:r>
          </a:p>
        </p:txBody>
      </p:sp>
      <p:sp>
        <p:nvSpPr>
          <p:cNvPr id="9" name="">
            <a:extLst xmlns:a="http://schemas.openxmlformats.org/drawingml/2006/main">
              <a:ext uri="{FF2B5EF4-FFF2-40B4-BE49-F238E27FC236}">
                <a16:creationId xmlns:a16="http://schemas.microsoft.com/office/drawing/2014/main" id="{5D427A77-6A25-40CB-9AC3-9D9068A9B65B}"/>
              </a:ext>
            </a:extLst>
          </p:cNvPr>
          <p:cNvSpPr>
            <a:spLocks xmlns:a="http://schemas.openxmlformats.org/drawingml/2006/main" noGrp="1"/>
          </p:cNvSpPr>
          <p:nvPr/>
        </p:nvSpPr>
        <p:spPr>
          <a:xfrm xmlns:a="http://schemas.openxmlformats.org/drawingml/2006/main">
            <a:off x="571500" y="493395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Peserta, CSV, kategori minat dan hasil moderasi untuk penyelenggara.</a:t>
            </a:r>
          </a:p>
        </p:txBody>
      </p:sp>
      <p:sp>
        <p:nvSpPr>
          <p:cNvPr id="10" name="">
            <a:extLst xmlns:a="http://schemas.openxmlformats.org/drawingml/2006/main">
              <a:ext uri="{FF2B5EF4-FFF2-40B4-BE49-F238E27FC236}">
                <a16:creationId xmlns:a16="http://schemas.microsoft.com/office/drawing/2014/main" id="{172EBAC4-5009-4BB5-83CD-B5F6D8D1ABB3}"/>
              </a:ext>
            </a:extLst>
          </p:cNvPr>
          <p:cNvSpPr>
            <a:spLocks xmlns:a="http://schemas.openxmlformats.org/drawingml/2006/main" noGrp="1"/>
          </p:cNvSpPr>
          <p:nvPr/>
        </p:nvSpPr>
        <p:spPr>
          <a:xfrm xmlns:a="http://schemas.openxmlformats.org/drawingml/2006/main">
            <a:off x="571500" y="6076950"/>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B0C0CE"/>
                </a:solidFill>
                <a:latin typeface="Arial"/>
                <a:ea typeface="Arial"/>
                <a:cs typeface="Arial"/>
              </a:defRPr>
            </a:pPr>
            <a:r>
              <a:rPr sz="1725" b="0">
                <a:solidFill>
                  <a:srgbClr val="B0C0CE"/>
                </a:solidFill>
                <a:latin typeface="Arial"/>
                <a:ea typeface="Arial"/>
                <a:cs typeface="Arial"/>
              </a:rPr>
              <a:t>SRS: 50 kebutuhan • 33 Must • 13 Should • 4 Could</a:t>
            </a:r>
          </a:p>
        </p:txBody>
      </p:sp>
    </p:spTree>
    <p:extLst>
      <p:ext uri="{BB962C8B-B14F-4D97-AF65-F5344CB8AC3E}">
        <p14:creationId xmlns:p14="http://schemas.microsoft.com/office/powerpoint/2010/main" val="277269454"/>
      </p:ext>
    </p:extLst>
  </p:cSld>
</p:sld>
</file>

<file path=ppt/slides/slide7.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6085b75b8db47f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1EE8378-DAC3-4950-967E-CD2D5539C2A9}"/>
              </a:ext>
            </a:extLst>
          </p:cNvPr>
          <p:cNvSpPr>
            <a:spLocks xmlns:a="http://schemas.openxmlformats.org/drawingml/2006/main" noGrp="1"/>
          </p:cNvSpPr>
          <p:nvPr/>
        </p:nvSpPr>
        <p:spPr>
          <a:xfrm xmlns:a="http://schemas.openxmlformats.org/drawingml/2006/main">
            <a:off x="5715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Target kualitas dan verifikasi</a:t>
            </a:r>
          </a:p>
        </p:txBody>
      </p:sp>
      <p:sp>
        <p:nvSpPr>
          <p:cNvPr id="3" name="">
            <a:extLst xmlns:a="http://schemas.openxmlformats.org/drawingml/2006/main">
              <a:ext uri="{FF2B5EF4-FFF2-40B4-BE49-F238E27FC236}">
                <a16:creationId xmlns:a16="http://schemas.microsoft.com/office/drawing/2014/main" id="{79DD6098-1C20-4E46-9A96-36A45F2AE360}"/>
              </a:ext>
            </a:extLst>
          </p:cNvPr>
          <p:cNvSpPr>
            <a:spLocks xmlns:a="http://schemas.openxmlformats.org/drawingml/2006/main" noGrp="1"/>
          </p:cNvSpPr>
          <p:nvPr/>
        </p:nvSpPr>
        <p:spPr>
          <a:xfrm xmlns:a="http://schemas.openxmlformats.org/drawingml/2006/main">
            <a:off x="1123950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B0C0CE"/>
                </a:solidFill>
                <a:latin typeface="Arial"/>
                <a:ea typeface="Arial"/>
                <a:cs typeface="Arial"/>
              </a:defRPr>
            </a:pPr>
            <a:r>
              <a:rPr sz="1125" b="0">
                <a:solidFill>
                  <a:srgbClr val="B0C0CE"/>
                </a:solidFill>
                <a:latin typeface="Arial"/>
                <a:ea typeface="Arial"/>
                <a:cs typeface="Arial"/>
              </a:rPr>
              <a:t>07</a:t>
            </a:r>
          </a:p>
        </p:txBody>
      </p:sp>
      <p:graphicFrame>
        <p:nvGraphicFramePr>
          <p:cNvPr id="11" name=""/>
          <p:cNvGraphicFramePr/>
          <p:nvPr/>
        </p:nvGraphicFramePr>
        <p:xfrm>
          <a:off xmlns:a="http://schemas.openxmlformats.org/drawingml/2006/main" x="571500" y="1381125"/>
          <a:ext xmlns:a="http://schemas.openxmlformats.org/drawingml/2006/main" cx="11049000" cy="4171950"/>
        </p:xfrm>
        <a:graphic xmlns:a="http://schemas.openxmlformats.org/drawingml/2006/main">
          <a:graphicData uri="http://schemas.openxmlformats.org/drawingml/2006/table">
            <a:tbl>
              <a:tblPr/>
              <a:tblGrid>
                <a:gridCol w="2286000"/>
                <a:gridCol w="4953000"/>
                <a:gridCol w="3810000"/>
              </a:tblGrid>
              <a:tr h="695325">
                <a:tc>
                  <a:txBody>
                    <a:bodyPr>
                      <a:noAutofit/>
                    </a:bodyPr>
                    <a:lstStyle/>
                    <a:p>
                      <a:r>
                        <a:rPr sz="1875" b="1">
                          <a:solidFill>
                            <a:srgbClr val="FFD0AB"/>
                          </a:solidFill>
                          <a:latin typeface="Arial"/>
                          <a:ea typeface="Arial"/>
                          <a:cs typeface="Arial"/>
                        </a:rPr>
                        <a:t>Aspek</a:t>
                      </a:r>
                    </a:p>
                  </a:txBody>
                  <a:tcPr marL="91440" marR="91440" marT="45720" marB="45720">
                    <a:solidFill>
                      <a:srgbClr val="3B566E"/>
                    </a:solidFill>
                  </a:tcPr>
                </a:tc>
                <a:tc>
                  <a:txBody>
                    <a:bodyPr>
                      <a:noAutofit/>
                    </a:bodyPr>
                    <a:lstStyle/>
                    <a:p>
                      <a:r>
                        <a:rPr sz="1875" b="1">
                          <a:solidFill>
                            <a:srgbClr val="FFD0AB"/>
                          </a:solidFill>
                          <a:latin typeface="Arial"/>
                          <a:ea typeface="Arial"/>
                          <a:cs typeface="Arial"/>
                        </a:rPr>
                        <a:t>Target rancangan</a:t>
                      </a:r>
                    </a:p>
                  </a:txBody>
                  <a:tcPr marL="91440" marR="91440" marT="45720" marB="45720">
                    <a:solidFill>
                      <a:srgbClr val="3B566E"/>
                    </a:solidFill>
                  </a:tcPr>
                </a:tc>
                <a:tc>
                  <a:txBody>
                    <a:bodyPr>
                      <a:noAutofit/>
                    </a:bodyPr>
                    <a:lstStyle/>
                    <a:p>
                      <a:r>
                        <a:rPr sz="1875" b="1">
                          <a:solidFill>
                            <a:srgbClr val="FFD0AB"/>
                          </a:solidFill>
                          <a:latin typeface="Arial"/>
                          <a:ea typeface="Arial"/>
                          <a:cs typeface="Arial"/>
                        </a:rPr>
                        <a:t>Verifikasi</a:t>
                      </a:r>
                    </a:p>
                  </a:txBody>
                  <a:tcPr marL="91440" marR="91440" marT="45720" marB="45720">
                    <a:solidFill>
                      <a:srgbClr val="3B566E"/>
                    </a:solidFill>
                  </a:tcPr>
                </a:tc>
              </a:tr>
              <a:tr h="695325">
                <a:tc>
                  <a:txBody>
                    <a:bodyPr>
                      <a:noAutofit/>
                    </a:bodyPr>
                    <a:lstStyle/>
                    <a:p>
                      <a:r>
                        <a:rPr sz="1875" b="0">
                          <a:solidFill>
                            <a:srgbClr val="DFE9F1"/>
                          </a:solidFill>
                          <a:latin typeface="Arial"/>
                          <a:ea typeface="Arial"/>
                          <a:cs typeface="Arial"/>
                        </a:rPr>
                        <a:t>Performa</a:t>
                      </a:r>
                    </a:p>
                  </a:txBody>
                  <a:tcPr marL="91440" marR="91440" marT="45720" marB="45720">
                    <a:solidFill>
                      <a:srgbClr val="203B54"/>
                    </a:solidFill>
                  </a:tcPr>
                </a:tc>
                <a:tc>
                  <a:txBody>
                    <a:bodyPr>
                      <a:noAutofit/>
                    </a:bodyPr>
                    <a:lstStyle/>
                    <a:p>
                      <a:r>
                        <a:rPr sz="1875" b="0">
                          <a:solidFill>
                            <a:srgbClr val="DFE9F1"/>
                          </a:solidFill>
                          <a:latin typeface="Arial"/>
                          <a:ea typeface="Arial"/>
                          <a:cs typeface="Arial"/>
                        </a:rPr>
                        <a:t>Home/daftar ≤3 detik pada 4G</a:t>
                      </a:r>
                    </a:p>
                  </a:txBody>
                  <a:tcPr marL="91440" marR="91440" marT="45720" marB="45720">
                    <a:solidFill>
                      <a:srgbClr val="203B54"/>
                    </a:solidFill>
                  </a:tcPr>
                </a:tc>
                <a:tc>
                  <a:txBody>
                    <a:bodyPr>
                      <a:noAutofit/>
                    </a:bodyPr>
                    <a:lstStyle/>
                    <a:p>
                      <a:r>
                        <a:rPr sz="1875" b="0">
                          <a:solidFill>
                            <a:srgbClr val="DFE9F1"/>
                          </a:solidFill>
                          <a:latin typeface="Arial"/>
                          <a:ea typeface="Arial"/>
                          <a:cs typeface="Arial"/>
                        </a:rPr>
                        <a:t>Uji waktu muat</a:t>
                      </a:r>
                    </a:p>
                  </a:txBody>
                  <a:tcPr marL="91440" marR="91440" marT="45720" marB="45720">
                    <a:solidFill>
                      <a:srgbClr val="203B54"/>
                    </a:solidFill>
                  </a:tcPr>
                </a:tc>
              </a:tr>
              <a:tr h="695325">
                <a:tc>
                  <a:txBody>
                    <a:bodyPr>
                      <a:noAutofit/>
                    </a:bodyPr>
                    <a:lstStyle/>
                    <a:p>
                      <a:r>
                        <a:rPr sz="1875" b="0">
                          <a:solidFill>
                            <a:srgbClr val="DFE9F1"/>
                          </a:solidFill>
                          <a:latin typeface="Arial"/>
                          <a:ea typeface="Arial"/>
                          <a:cs typeface="Arial"/>
                        </a:rPr>
                        <a:t>API</a:t>
                      </a:r>
                    </a:p>
                  </a:txBody>
                  <a:tcPr marL="91440" marR="91440" marT="45720" marB="45720">
                    <a:solidFill>
                      <a:srgbClr val="29475F"/>
                    </a:solidFill>
                  </a:tcPr>
                </a:tc>
                <a:tc>
                  <a:txBody>
                    <a:bodyPr>
                      <a:noAutofit/>
                    </a:bodyPr>
                    <a:lstStyle/>
                    <a:p>
                      <a:r>
                        <a:rPr sz="1875" b="0">
                          <a:solidFill>
                            <a:srgbClr val="DFE9F1"/>
                          </a:solidFill>
                          <a:latin typeface="Arial"/>
                          <a:ea typeface="Arial"/>
                          <a:cs typeface="Arial"/>
                        </a:rPr>
                        <a:t>95% baca ≤500 ms; tulis ≤1 s</a:t>
                      </a:r>
                    </a:p>
                  </a:txBody>
                  <a:tcPr marL="91440" marR="91440" marT="45720" marB="45720">
                    <a:solidFill>
                      <a:srgbClr val="29475F"/>
                    </a:solidFill>
                  </a:tcPr>
                </a:tc>
                <a:tc>
                  <a:txBody>
                    <a:bodyPr>
                      <a:noAutofit/>
                    </a:bodyPr>
                    <a:lstStyle/>
                    <a:p>
                      <a:r>
                        <a:rPr sz="1875" b="0">
                          <a:solidFill>
                            <a:srgbClr val="DFE9F1"/>
                          </a:solidFill>
                          <a:latin typeface="Arial"/>
                          <a:ea typeface="Arial"/>
                          <a:cs typeface="Arial"/>
                        </a:rPr>
                        <a:t>Uji beban terukur</a:t>
                      </a:r>
                    </a:p>
                  </a:txBody>
                  <a:tcPr marL="91440" marR="91440" marT="45720" marB="45720">
                    <a:solidFill>
                      <a:srgbClr val="29475F"/>
                    </a:solidFill>
                  </a:tcPr>
                </a:tc>
              </a:tr>
              <a:tr h="695325">
                <a:tc>
                  <a:txBody>
                    <a:bodyPr>
                      <a:noAutofit/>
                    </a:bodyPr>
                    <a:lstStyle/>
                    <a:p>
                      <a:r>
                        <a:rPr sz="1875" b="0">
                          <a:solidFill>
                            <a:srgbClr val="DFE9F1"/>
                          </a:solidFill>
                          <a:latin typeface="Arial"/>
                          <a:ea typeface="Arial"/>
                          <a:cs typeface="Arial"/>
                        </a:rPr>
                        <a:t>Keamanan</a:t>
                      </a:r>
                    </a:p>
                  </a:txBody>
                  <a:tcPr marL="91440" marR="91440" marT="45720" marB="45720">
                    <a:solidFill>
                      <a:srgbClr val="203B54"/>
                    </a:solidFill>
                  </a:tcPr>
                </a:tc>
                <a:tc>
                  <a:txBody>
                    <a:bodyPr>
                      <a:noAutofit/>
                    </a:bodyPr>
                    <a:lstStyle/>
                    <a:p>
                      <a:r>
                        <a:rPr sz="1875" b="0">
                          <a:solidFill>
                            <a:srgbClr val="DFE9F1"/>
                          </a:solidFill>
                          <a:latin typeface="Arial"/>
                          <a:ea typeface="Arial"/>
                          <a:cs typeface="Arial"/>
                        </a:rPr>
                        <a:t>Hash, JWT, HTTPS, izin server</a:t>
                      </a:r>
                    </a:p>
                  </a:txBody>
                  <a:tcPr marL="91440" marR="91440" marT="45720" marB="45720">
                    <a:solidFill>
                      <a:srgbClr val="203B54"/>
                    </a:solidFill>
                  </a:tcPr>
                </a:tc>
                <a:tc>
                  <a:txBody>
                    <a:bodyPr>
                      <a:noAutofit/>
                    </a:bodyPr>
                    <a:lstStyle/>
                    <a:p>
                      <a:r>
                        <a:rPr sz="1875" b="0">
                          <a:solidFill>
                            <a:srgbClr val="DFE9F1"/>
                          </a:solidFill>
                          <a:latin typeface="Arial"/>
                          <a:ea typeface="Arial"/>
                          <a:cs typeface="Arial"/>
                        </a:rPr>
                        <a:t>Uji lintas akun/peran</a:t>
                      </a:r>
                    </a:p>
                  </a:txBody>
                  <a:tcPr marL="91440" marR="91440" marT="45720" marB="45720">
                    <a:solidFill>
                      <a:srgbClr val="203B54"/>
                    </a:solidFill>
                  </a:tcPr>
                </a:tc>
              </a:tr>
              <a:tr h="695325">
                <a:tc>
                  <a:txBody>
                    <a:bodyPr>
                      <a:noAutofit/>
                    </a:bodyPr>
                    <a:lstStyle/>
                    <a:p>
                      <a:r>
                        <a:rPr sz="1875" b="0">
                          <a:solidFill>
                            <a:srgbClr val="DFE9F1"/>
                          </a:solidFill>
                          <a:latin typeface="Arial"/>
                          <a:ea typeface="Arial"/>
                          <a:cs typeface="Arial"/>
                        </a:rPr>
                        <a:t>Responsif</a:t>
                      </a:r>
                    </a:p>
                  </a:txBody>
                  <a:tcPr marL="91440" marR="91440" marT="45720" marB="45720">
                    <a:solidFill>
                      <a:srgbClr val="29475F"/>
                    </a:solidFill>
                  </a:tcPr>
                </a:tc>
                <a:tc>
                  <a:txBody>
                    <a:bodyPr>
                      <a:noAutofit/>
                    </a:bodyPr>
                    <a:lstStyle/>
                    <a:p>
                      <a:r>
                        <a:rPr sz="1875" b="0">
                          <a:solidFill>
                            <a:srgbClr val="DFE9F1"/>
                          </a:solidFill>
                          <a:latin typeface="Arial"/>
                          <a:ea typeface="Arial"/>
                          <a:cs typeface="Arial"/>
                        </a:rPr>
                        <a:t>Lebar minimal 360 piksel</a:t>
                      </a:r>
                    </a:p>
                  </a:txBody>
                  <a:tcPr marL="91440" marR="91440" marT="45720" marB="45720">
                    <a:solidFill>
                      <a:srgbClr val="29475F"/>
                    </a:solidFill>
                  </a:tcPr>
                </a:tc>
                <a:tc>
                  <a:txBody>
                    <a:bodyPr>
                      <a:noAutofit/>
                    </a:bodyPr>
                    <a:lstStyle/>
                    <a:p>
                      <a:r>
                        <a:rPr sz="1875" b="0">
                          <a:solidFill>
                            <a:srgbClr val="DFE9F1"/>
                          </a:solidFill>
                          <a:latin typeface="Arial"/>
                          <a:ea typeface="Arial"/>
                          <a:cs typeface="Arial"/>
                        </a:rPr>
                        <a:t>Periksa mobile/desktop</a:t>
                      </a:r>
                    </a:p>
                  </a:txBody>
                  <a:tcPr marL="91440" marR="91440" marT="45720" marB="45720">
                    <a:solidFill>
                      <a:srgbClr val="29475F"/>
                    </a:solidFill>
                  </a:tcPr>
                </a:tc>
              </a:tr>
              <a:tr h="695325">
                <a:tc>
                  <a:txBody>
                    <a:bodyPr>
                      <a:noAutofit/>
                    </a:bodyPr>
                    <a:lstStyle/>
                    <a:p>
                      <a:r>
                        <a:rPr sz="1875" b="0">
                          <a:solidFill>
                            <a:srgbClr val="DFE9F1"/>
                          </a:solidFill>
                          <a:latin typeface="Arial"/>
                          <a:ea typeface="Arial"/>
                          <a:cs typeface="Arial"/>
                        </a:rPr>
                        <a:t>Modularitas</a:t>
                      </a:r>
                    </a:p>
                  </a:txBody>
                  <a:tcPr marL="91440" marR="91440" marT="45720" marB="45720">
                    <a:solidFill>
                      <a:srgbClr val="203B54"/>
                    </a:solidFill>
                  </a:tcPr>
                </a:tc>
                <a:tc>
                  <a:txBody>
                    <a:bodyPr>
                      <a:noAutofit/>
                    </a:bodyPr>
                    <a:lstStyle/>
                    <a:p>
                      <a:r>
                        <a:rPr sz="1875" b="0">
                          <a:solidFill>
                            <a:srgbClr val="DFE9F1"/>
                          </a:solidFill>
                          <a:latin typeface="Arial"/>
                          <a:ea typeface="Arial"/>
                          <a:cs typeface="Arial"/>
                        </a:rPr>
                        <a:t>Empat modul dan repository</a:t>
                      </a:r>
                    </a:p>
                  </a:txBody>
                  <a:tcPr marL="91440" marR="91440" marT="45720" marB="45720">
                    <a:solidFill>
                      <a:srgbClr val="203B54"/>
                    </a:solidFill>
                  </a:tcPr>
                </a:tc>
                <a:tc>
                  <a:txBody>
                    <a:bodyPr>
                      <a:noAutofit/>
                    </a:bodyPr>
                    <a:lstStyle/>
                    <a:p>
                      <a:r>
                        <a:rPr sz="1875" b="0">
                          <a:solidFill>
                            <a:srgbClr val="DFE9F1"/>
                          </a:solidFill>
                          <a:latin typeface="Arial"/>
                          <a:ea typeface="Arial"/>
                          <a:cs typeface="Arial"/>
                        </a:rPr>
                        <a:t>Review kontrak/dependensi</a:t>
                      </a:r>
                    </a:p>
                  </a:txBody>
                  <a:tcPr marL="91440" marR="91440" marT="45720" marB="45720">
                    <a:solidFill>
                      <a:srgbClr val="203B54"/>
                    </a:solidFill>
                  </a:tcPr>
                </a:tc>
              </a:tr>
            </a:tbl>
          </a:graphicData>
        </a:graphic>
      </p:graphicFrame>
      <p:sp>
        <p:nvSpPr>
          <p:cNvPr id="5" name="">
            <a:extLst xmlns:a="http://schemas.openxmlformats.org/drawingml/2006/main">
              <a:ext uri="{FF2B5EF4-FFF2-40B4-BE49-F238E27FC236}">
                <a16:creationId xmlns:a16="http://schemas.microsoft.com/office/drawing/2014/main" id="{42277FCA-09DD-414D-A0B0-20C432614B09}"/>
              </a:ext>
            </a:extLst>
          </p:cNvPr>
          <p:cNvSpPr>
            <a:spLocks xmlns:a="http://schemas.openxmlformats.org/drawingml/2006/main" noGrp="1"/>
          </p:cNvSpPr>
          <p:nvPr/>
        </p:nvSpPr>
        <p:spPr>
          <a:xfrm xmlns:a="http://schemas.openxmlformats.org/drawingml/2006/main">
            <a:off x="571500" y="57721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1">
                <a:solidFill>
                  <a:srgbClr val="FFA56E"/>
                </a:solidFill>
                <a:latin typeface="Arial"/>
                <a:ea typeface="Arial"/>
                <a:cs typeface="Arial"/>
              </a:defRPr>
            </a:pPr>
            <a:r>
              <a:rPr sz="2025" b="1">
                <a:solidFill>
                  <a:srgbClr val="FFA56E"/>
                </a:solidFill>
                <a:latin typeface="Arial"/>
                <a:ea typeface="Arial"/>
                <a:cs typeface="Arial"/>
              </a:rPr>
              <a:t>Angka di atas adalah target SRS; belum dinyatakan tercapai.</a:t>
            </a:r>
          </a:p>
        </p:txBody>
      </p:sp>
    </p:spTree>
    <p:extLst>
      <p:ext uri="{BB962C8B-B14F-4D97-AF65-F5344CB8AC3E}">
        <p14:creationId xmlns:p14="http://schemas.microsoft.com/office/powerpoint/2010/main" val="1086331474"/>
      </p:ext>
    </p:extLst>
  </p:cSld>
</p:sld>
</file>

<file path=ppt/slides/slide8.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9b9b1854dc7455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811AA2E-DA47-412D-B05C-E0A47673CAE4}"/>
              </a:ext>
            </a:extLst>
          </p:cNvPr>
          <p:cNvSpPr>
            <a:spLocks xmlns:a="http://schemas.openxmlformats.org/drawingml/2006/main" noGrp="1"/>
          </p:cNvSpPr>
          <p:nvPr/>
        </p:nvSpPr>
        <p:spPr>
          <a:xfrm xmlns:a="http://schemas.openxmlformats.org/drawingml/2006/main">
            <a:off x="5715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Use case dan alur utama</a:t>
            </a:r>
          </a:p>
        </p:txBody>
      </p:sp>
      <p:sp>
        <p:nvSpPr>
          <p:cNvPr id="3" name="">
            <a:extLst xmlns:a="http://schemas.openxmlformats.org/drawingml/2006/main">
              <a:ext uri="{FF2B5EF4-FFF2-40B4-BE49-F238E27FC236}">
                <a16:creationId xmlns:a16="http://schemas.microsoft.com/office/drawing/2014/main" id="{1A45A3A8-D57F-45E4-A42C-86424ACB20C0}"/>
              </a:ext>
            </a:extLst>
          </p:cNvPr>
          <p:cNvSpPr>
            <a:spLocks xmlns:a="http://schemas.openxmlformats.org/drawingml/2006/main" noGrp="1"/>
          </p:cNvSpPr>
          <p:nvPr/>
        </p:nvSpPr>
        <p:spPr>
          <a:xfrm xmlns:a="http://schemas.openxmlformats.org/drawingml/2006/main">
            <a:off x="1123950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B0C0CE"/>
                </a:solidFill>
                <a:latin typeface="Arial"/>
                <a:ea typeface="Arial"/>
                <a:cs typeface="Arial"/>
              </a:defRPr>
            </a:pPr>
            <a:r>
              <a:rPr sz="1125" b="0">
                <a:solidFill>
                  <a:srgbClr val="B0C0CE"/>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57A5B528-9F47-4182-84F8-DF739FC954C1}"/>
              </a:ext>
            </a:extLst>
          </p:cNvPr>
          <p:cNvSpPr>
            <a:spLocks xmlns:a="http://schemas.openxmlformats.org/drawingml/2006/main" noGrp="1"/>
          </p:cNvSpPr>
          <p:nvPr/>
        </p:nvSpPr>
        <p:spPr>
          <a:xfrm xmlns:a="http://schemas.openxmlformats.org/drawingml/2006/main">
            <a:off x="571500" y="13811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UC-05 • RSVP mahasiswa</a:t>
            </a:r>
          </a:p>
        </p:txBody>
      </p:sp>
      <p:sp>
        <p:nvSpPr>
          <p:cNvPr id="5" name="">
            <a:extLst xmlns:a="http://schemas.openxmlformats.org/drawingml/2006/main">
              <a:ext uri="{FF2B5EF4-FFF2-40B4-BE49-F238E27FC236}">
                <a16:creationId xmlns:a16="http://schemas.microsoft.com/office/drawing/2014/main" id="{01C2614D-3FEF-4998-9038-4CA1BED4A86D}"/>
              </a:ext>
            </a:extLst>
          </p:cNvPr>
          <p:cNvSpPr>
            <a:spLocks xmlns:a="http://schemas.openxmlformats.org/drawingml/2006/main" noGrp="1"/>
          </p:cNvSpPr>
          <p:nvPr/>
        </p:nvSpPr>
        <p:spPr>
          <a:xfrm xmlns:a="http://schemas.openxmlformats.org/drawingml/2006/main">
            <a:off x="571500" y="184785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Login → periksa event/kuota → transaksi pendaftaran → hasil.</a:t>
            </a:r>
          </a:p>
        </p:txBody>
      </p:sp>
      <p:sp>
        <p:nvSpPr>
          <p:cNvPr id="6" name="">
            <a:extLst xmlns:a="http://schemas.openxmlformats.org/drawingml/2006/main">
              <a:ext uri="{FF2B5EF4-FFF2-40B4-BE49-F238E27FC236}">
                <a16:creationId xmlns:a16="http://schemas.microsoft.com/office/drawing/2014/main" id="{C76740B5-F2CB-4869-959F-1DB92CC2460E}"/>
              </a:ext>
            </a:extLst>
          </p:cNvPr>
          <p:cNvSpPr>
            <a:spLocks xmlns:a="http://schemas.openxmlformats.org/drawingml/2006/main" noGrp="1"/>
          </p:cNvSpPr>
          <p:nvPr/>
        </p:nvSpPr>
        <p:spPr>
          <a:xfrm xmlns:a="http://schemas.openxmlformats.org/drawingml/2006/main">
            <a:off x="571500" y="29241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UC-10 • Pengajuan event</a:t>
            </a:r>
          </a:p>
        </p:txBody>
      </p:sp>
      <p:sp>
        <p:nvSpPr>
          <p:cNvPr id="7" name="">
            <a:extLst xmlns:a="http://schemas.openxmlformats.org/drawingml/2006/main">
              <a:ext uri="{FF2B5EF4-FFF2-40B4-BE49-F238E27FC236}">
                <a16:creationId xmlns:a16="http://schemas.microsoft.com/office/drawing/2014/main" id="{72C991E9-BD43-42A7-8F81-7FCA328AB9FE}"/>
              </a:ext>
            </a:extLst>
          </p:cNvPr>
          <p:cNvSpPr>
            <a:spLocks xmlns:a="http://schemas.openxmlformats.org/drawingml/2006/main" noGrp="1"/>
          </p:cNvSpPr>
          <p:nvPr/>
        </p:nvSpPr>
        <p:spPr>
          <a:xfrm xmlns:a="http://schemas.openxmlformats.org/drawingml/2006/main">
            <a:off x="571500" y="339090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Organisasi terverifikasi → simpan Draft → Menunggu Moderasi.</a:t>
            </a:r>
          </a:p>
        </p:txBody>
      </p:sp>
      <p:sp>
        <p:nvSpPr>
          <p:cNvPr id="8" name="">
            <a:extLst xmlns:a="http://schemas.openxmlformats.org/drawingml/2006/main">
              <a:ext uri="{FF2B5EF4-FFF2-40B4-BE49-F238E27FC236}">
                <a16:creationId xmlns:a16="http://schemas.microsoft.com/office/drawing/2014/main" id="{C92A6ED5-6361-4303-8BA3-C03A8FD45429}"/>
              </a:ext>
            </a:extLst>
          </p:cNvPr>
          <p:cNvSpPr>
            <a:spLocks xmlns:a="http://schemas.openxmlformats.org/drawingml/2006/main" noGrp="1"/>
          </p:cNvSpPr>
          <p:nvPr/>
        </p:nvSpPr>
        <p:spPr>
          <a:xfrm xmlns:a="http://schemas.openxmlformats.org/drawingml/2006/main">
            <a:off x="571500" y="44672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UC-13 • Moderasi admin</a:t>
            </a:r>
          </a:p>
        </p:txBody>
      </p:sp>
      <p:sp>
        <p:nvSpPr>
          <p:cNvPr id="9" name="">
            <a:extLst xmlns:a="http://schemas.openxmlformats.org/drawingml/2006/main">
              <a:ext uri="{FF2B5EF4-FFF2-40B4-BE49-F238E27FC236}">
                <a16:creationId xmlns:a16="http://schemas.microsoft.com/office/drawing/2014/main" id="{74BC2735-0A1D-493F-8467-238A6E695624}"/>
              </a:ext>
            </a:extLst>
          </p:cNvPr>
          <p:cNvSpPr>
            <a:spLocks xmlns:a="http://schemas.openxmlformats.org/drawingml/2006/main" noGrp="1"/>
          </p:cNvSpPr>
          <p:nvPr/>
        </p:nvSpPr>
        <p:spPr>
          <a:xfrm xmlns:a="http://schemas.openxmlformats.org/drawingml/2006/main">
            <a:off x="571500" y="493395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Periksa pengajuan → setujui/tolak → beri hasil kepada penyelenggara.</a:t>
            </a:r>
          </a:p>
        </p:txBody>
      </p:sp>
      <p:sp>
        <p:nvSpPr>
          <p:cNvPr id="10" name="">
            <a:extLst xmlns:a="http://schemas.openxmlformats.org/drawingml/2006/main">
              <a:ext uri="{FF2B5EF4-FFF2-40B4-BE49-F238E27FC236}">
                <a16:creationId xmlns:a16="http://schemas.microsoft.com/office/drawing/2014/main" id="{FD983BEB-4177-4E79-9D13-72368DB7C076}"/>
              </a:ext>
            </a:extLst>
          </p:cNvPr>
          <p:cNvSpPr>
            <a:spLocks xmlns:a="http://schemas.openxmlformats.org/drawingml/2006/main" noGrp="1"/>
          </p:cNvSpPr>
          <p:nvPr/>
        </p:nvSpPr>
        <p:spPr>
          <a:xfrm xmlns:a="http://schemas.openxmlformats.org/drawingml/2006/main">
            <a:off x="571500" y="605790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00" b="0">
                <a:solidFill>
                  <a:srgbClr val="FFA56E"/>
                </a:solidFill>
                <a:latin typeface="Arial"/>
                <a:ea typeface="Arial"/>
                <a:cs typeface="Arial"/>
              </a:defRPr>
            </a:pPr>
            <a:r>
              <a:rPr sz="1800" b="0">
                <a:solidFill>
                  <a:srgbClr val="FFA56E"/>
                </a:solidFill>
                <a:latin typeface="Arial"/>
                <a:ea typeface="Arial"/>
                <a:cs typeface="Arial"/>
              </a:rPr>
              <a:t>Diagram final Dustin masih perlu ditambahkan sebelum pengumpulan.</a:t>
            </a:r>
          </a:p>
        </p:txBody>
      </p:sp>
    </p:spTree>
    <p:extLst>
      <p:ext uri="{BB962C8B-B14F-4D97-AF65-F5344CB8AC3E}">
        <p14:creationId xmlns:p14="http://schemas.microsoft.com/office/powerpoint/2010/main" val="1055161564"/>
      </p:ext>
    </p:extLst>
  </p:cSld>
</p:sld>
</file>

<file path=ppt/slides/slide9.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b71d564e277468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8A0A8BB-8D07-4672-AE77-2782818998A2}"/>
              </a:ext>
            </a:extLst>
          </p:cNvPr>
          <p:cNvSpPr>
            <a:spLocks xmlns:a="http://schemas.openxmlformats.org/drawingml/2006/main" noGrp="1"/>
          </p:cNvSpPr>
          <p:nvPr/>
        </p:nvSpPr>
        <p:spPr>
          <a:xfrm xmlns:a="http://schemas.openxmlformats.org/drawingml/2006/main">
            <a:off x="5715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Arsitektur modular dan PostgreSQL</a:t>
            </a:r>
          </a:p>
        </p:txBody>
      </p:sp>
      <p:sp>
        <p:nvSpPr>
          <p:cNvPr id="3" name="">
            <a:extLst xmlns:a="http://schemas.openxmlformats.org/drawingml/2006/main">
              <a:ext uri="{FF2B5EF4-FFF2-40B4-BE49-F238E27FC236}">
                <a16:creationId xmlns:a16="http://schemas.microsoft.com/office/drawing/2014/main" id="{889A6B13-991E-421F-8372-1C93141563FA}"/>
              </a:ext>
            </a:extLst>
          </p:cNvPr>
          <p:cNvSpPr>
            <a:spLocks xmlns:a="http://schemas.openxmlformats.org/drawingml/2006/main" noGrp="1"/>
          </p:cNvSpPr>
          <p:nvPr/>
        </p:nvSpPr>
        <p:spPr>
          <a:xfrm xmlns:a="http://schemas.openxmlformats.org/drawingml/2006/main">
            <a:off x="1123950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B0C0CE"/>
                </a:solidFill>
                <a:latin typeface="Arial"/>
                <a:ea typeface="Arial"/>
                <a:cs typeface="Arial"/>
              </a:defRPr>
            </a:pPr>
            <a:r>
              <a:rPr sz="1125" b="0">
                <a:solidFill>
                  <a:srgbClr val="B0C0CE"/>
                </a:solidFill>
                <a:latin typeface="Arial"/>
                <a:ea typeface="Arial"/>
                <a:cs typeface="Arial"/>
              </a:rPr>
              <a:t>09</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ff95d2542aa415b"/>
          <a:stretch xmlns:a="http://schemas.openxmlformats.org/drawingml/2006/main"/>
        </p:blipFill>
        <p:spPr>
          <a:xfrm xmlns:a="http://schemas.openxmlformats.org/drawingml/2006/main">
            <a:off x="1683126" y="1276350"/>
            <a:ext cx="5358648" cy="4810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0EBB309-694D-43CD-B6A4-A041E52DC686}"/>
              </a:ext>
            </a:extLst>
          </p:cNvPr>
          <p:cNvSpPr>
            <a:spLocks xmlns:a="http://schemas.openxmlformats.org/drawingml/2006/main" noGrp="1"/>
          </p:cNvSpPr>
          <p:nvPr/>
        </p:nvSpPr>
        <p:spPr>
          <a:xfrm xmlns:a="http://schemas.openxmlformats.org/drawingml/2006/main">
            <a:off x="8667750" y="147637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React + Express</a:t>
            </a:r>
          </a:p>
        </p:txBody>
      </p:sp>
      <p:sp>
        <p:nvSpPr>
          <p:cNvPr id="6" name="">
            <a:extLst xmlns:a="http://schemas.openxmlformats.org/drawingml/2006/main">
              <a:ext uri="{FF2B5EF4-FFF2-40B4-BE49-F238E27FC236}">
                <a16:creationId xmlns:a16="http://schemas.microsoft.com/office/drawing/2014/main" id="{683B805E-4C63-42CA-9154-87012F048B69}"/>
              </a:ext>
            </a:extLst>
          </p:cNvPr>
          <p:cNvSpPr>
            <a:spLocks xmlns:a="http://schemas.openxmlformats.org/drawingml/2006/main" noGrp="1"/>
          </p:cNvSpPr>
          <p:nvPr/>
        </p:nvSpPr>
        <p:spPr>
          <a:xfrm xmlns:a="http://schemas.openxmlformats.org/drawingml/2006/main">
            <a:off x="8667750" y="1943100"/>
            <a:ext cx="295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Frontend dan satu backend REST.</a:t>
            </a:r>
          </a:p>
        </p:txBody>
      </p:sp>
      <p:sp>
        <p:nvSpPr>
          <p:cNvPr id="7" name="">
            <a:extLst xmlns:a="http://schemas.openxmlformats.org/drawingml/2006/main">
              <a:ext uri="{FF2B5EF4-FFF2-40B4-BE49-F238E27FC236}">
                <a16:creationId xmlns:a16="http://schemas.microsoft.com/office/drawing/2014/main" id="{24170878-F043-4F42-9800-8C5A6E4B3F09}"/>
              </a:ext>
            </a:extLst>
          </p:cNvPr>
          <p:cNvSpPr>
            <a:spLocks xmlns:a="http://schemas.openxmlformats.org/drawingml/2006/main" noGrp="1"/>
          </p:cNvSpPr>
          <p:nvPr/>
        </p:nvSpPr>
        <p:spPr>
          <a:xfrm xmlns:a="http://schemas.openxmlformats.org/drawingml/2006/main">
            <a:off x="8667750" y="301942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Empat modul</a:t>
            </a:r>
          </a:p>
        </p:txBody>
      </p:sp>
      <p:sp>
        <p:nvSpPr>
          <p:cNvPr id="8" name="">
            <a:extLst xmlns:a="http://schemas.openxmlformats.org/drawingml/2006/main">
              <a:ext uri="{FF2B5EF4-FFF2-40B4-BE49-F238E27FC236}">
                <a16:creationId xmlns:a16="http://schemas.microsoft.com/office/drawing/2014/main" id="{AF99B156-FB90-4842-8142-AC4D93A249C7}"/>
              </a:ext>
            </a:extLst>
          </p:cNvPr>
          <p:cNvSpPr>
            <a:spLocks xmlns:a="http://schemas.openxmlformats.org/drawingml/2006/main" noGrp="1"/>
          </p:cNvSpPr>
          <p:nvPr/>
        </p:nvSpPr>
        <p:spPr>
          <a:xfrm xmlns:a="http://schemas.openxmlformats.org/drawingml/2006/main">
            <a:off x="8667750" y="3486150"/>
            <a:ext cx="295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Auth, Event, Pendaftaran, Notifikasi.</a:t>
            </a:r>
          </a:p>
        </p:txBody>
      </p:sp>
      <p:sp>
        <p:nvSpPr>
          <p:cNvPr id="9" name="">
            <a:extLst xmlns:a="http://schemas.openxmlformats.org/drawingml/2006/main">
              <a:ext uri="{FF2B5EF4-FFF2-40B4-BE49-F238E27FC236}">
                <a16:creationId xmlns:a16="http://schemas.microsoft.com/office/drawing/2014/main" id="{995A8E2B-4D7C-4A45-A49E-EC2F743E251A}"/>
              </a:ext>
            </a:extLst>
          </p:cNvPr>
          <p:cNvSpPr>
            <a:spLocks xmlns:a="http://schemas.openxmlformats.org/drawingml/2006/main" noGrp="1"/>
          </p:cNvSpPr>
          <p:nvPr/>
        </p:nvSpPr>
        <p:spPr>
          <a:xfrm xmlns:a="http://schemas.openxmlformats.org/drawingml/2006/main">
            <a:off x="8667750" y="456247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PostgreSQL</a:t>
            </a:r>
          </a:p>
        </p:txBody>
      </p:sp>
      <p:sp>
        <p:nvSpPr>
          <p:cNvPr id="10" name="">
            <a:extLst xmlns:a="http://schemas.openxmlformats.org/drawingml/2006/main">
              <a:ext uri="{FF2B5EF4-FFF2-40B4-BE49-F238E27FC236}">
                <a16:creationId xmlns:a16="http://schemas.microsoft.com/office/drawing/2014/main" id="{63F274E7-0A0E-4DAB-8C12-76F8E6EDE09F}"/>
              </a:ext>
            </a:extLst>
          </p:cNvPr>
          <p:cNvSpPr>
            <a:spLocks xmlns:a="http://schemas.openxmlformats.org/drawingml/2006/main" noGrp="1"/>
          </p:cNvSpPr>
          <p:nvPr/>
        </p:nvSpPr>
        <p:spPr>
          <a:xfrm xmlns:a="http://schemas.openxmlformats.org/drawingml/2006/main">
            <a:off x="8667750" y="5029200"/>
            <a:ext cx="295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Database relasional; tipe ID perlu ditetapkan.</a:t>
            </a:r>
          </a:p>
        </p:txBody>
      </p:sp>
    </p:spTree>
    <p:extLst>
      <p:ext uri="{BB962C8B-B14F-4D97-AF65-F5344CB8AC3E}">
        <p14:creationId xmlns:p14="http://schemas.microsoft.com/office/powerpoint/2010/main" val="86886646"/>
      </p:ext>
    </p:extLst>
  </p:cSld>
</p:sld>
</file>

<file path=ppt/slides/slide10.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a06d8ca038846b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92FBA2E-C8A3-4111-89A2-4C5D67F1D1F7}"/>
              </a:ext>
            </a:extLst>
          </p:cNvPr>
          <p:cNvSpPr>
            <a:spLocks xmlns:a="http://schemas.openxmlformats.org/drawingml/2006/main" noGrp="1"/>
          </p:cNvSpPr>
          <p:nvPr/>
        </p:nvSpPr>
        <p:spPr>
          <a:xfrm xmlns:a="http://schemas.openxmlformats.org/drawingml/2006/main">
            <a:off x="5715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Rancangan modul Auth dan Event</a:t>
            </a:r>
          </a:p>
        </p:txBody>
      </p:sp>
      <p:sp>
        <p:nvSpPr>
          <p:cNvPr id="3" name="">
            <a:extLst xmlns:a="http://schemas.openxmlformats.org/drawingml/2006/main">
              <a:ext uri="{FF2B5EF4-FFF2-40B4-BE49-F238E27FC236}">
                <a16:creationId xmlns:a16="http://schemas.microsoft.com/office/drawing/2014/main" id="{B657437C-F162-44B7-B562-43D4D6679D11}"/>
              </a:ext>
            </a:extLst>
          </p:cNvPr>
          <p:cNvSpPr>
            <a:spLocks xmlns:a="http://schemas.openxmlformats.org/drawingml/2006/main" noGrp="1"/>
          </p:cNvSpPr>
          <p:nvPr/>
        </p:nvSpPr>
        <p:spPr>
          <a:xfrm xmlns:a="http://schemas.openxmlformats.org/drawingml/2006/main">
            <a:off x="1123950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B0C0CE"/>
                </a:solidFill>
                <a:latin typeface="Arial"/>
                <a:ea typeface="Arial"/>
                <a:cs typeface="Arial"/>
              </a:defRPr>
            </a:pPr>
            <a:r>
              <a:rPr sz="1125" b="0">
                <a:solidFill>
                  <a:srgbClr val="B0C0CE"/>
                </a:solidFill>
                <a:latin typeface="Arial"/>
                <a:ea typeface="Arial"/>
                <a:cs typeface="Arial"/>
              </a:rPr>
              <a:t>10</a:t>
            </a:r>
          </a:p>
        </p:txBody>
      </p:sp>
      <p:graphicFrame>
        <p:nvGraphicFramePr>
          <p:cNvPr id="9" name=""/>
          <p:cNvGraphicFramePr/>
          <p:nvPr/>
        </p:nvGraphicFramePr>
        <p:xfrm>
          <a:off xmlns:a="http://schemas.openxmlformats.org/drawingml/2006/main" x="571500" y="1409700"/>
          <a:ext xmlns:a="http://schemas.openxmlformats.org/drawingml/2006/main" cx="11049000" cy="4191000"/>
        </p:xfrm>
        <a:graphic xmlns:a="http://schemas.openxmlformats.org/drawingml/2006/main">
          <a:graphicData uri="http://schemas.openxmlformats.org/drawingml/2006/table">
            <a:tbl>
              <a:tblPr/>
              <a:tblGrid>
                <a:gridCol w="2000250"/>
                <a:gridCol w="4524375"/>
                <a:gridCol w="4524375"/>
              </a:tblGrid>
              <a:tr h="698500">
                <a:tc>
                  <a:txBody>
                    <a:bodyPr>
                      <a:noAutofit/>
                    </a:bodyPr>
                    <a:lstStyle/>
                    <a:p>
                      <a:r>
                        <a:rPr sz="1950" b="1">
                          <a:solidFill>
                            <a:srgbClr val="FFD0AB"/>
                          </a:solidFill>
                          <a:latin typeface="Arial"/>
                          <a:ea typeface="Arial"/>
                          <a:cs typeface="Arial"/>
                        </a:rPr>
                        <a:t>Aspek</a:t>
                      </a:r>
                    </a:p>
                  </a:txBody>
                  <a:tcPr marL="91440" marR="91440" marT="45720" marB="45720">
                    <a:solidFill>
                      <a:srgbClr val="3B566E"/>
                    </a:solidFill>
                  </a:tcPr>
                </a:tc>
                <a:tc>
                  <a:txBody>
                    <a:bodyPr>
                      <a:noAutofit/>
                    </a:bodyPr>
                    <a:lstStyle/>
                    <a:p>
                      <a:r>
                        <a:rPr sz="1950" b="1">
                          <a:solidFill>
                            <a:srgbClr val="FFD0AB"/>
                          </a:solidFill>
                          <a:latin typeface="Arial"/>
                          <a:ea typeface="Arial"/>
                          <a:cs typeface="Arial"/>
                        </a:rPr>
                        <a:t>Auth</a:t>
                      </a:r>
                    </a:p>
                  </a:txBody>
                  <a:tcPr marL="91440" marR="91440" marT="45720" marB="45720">
                    <a:solidFill>
                      <a:srgbClr val="3B566E"/>
                    </a:solidFill>
                  </a:tcPr>
                </a:tc>
                <a:tc>
                  <a:txBody>
                    <a:bodyPr>
                      <a:noAutofit/>
                    </a:bodyPr>
                    <a:lstStyle/>
                    <a:p>
                      <a:r>
                        <a:rPr sz="1950" b="1">
                          <a:solidFill>
                            <a:srgbClr val="FFD0AB"/>
                          </a:solidFill>
                          <a:latin typeface="Arial"/>
                          <a:ea typeface="Arial"/>
                          <a:cs typeface="Arial"/>
                        </a:rPr>
                        <a:t>Event</a:t>
                      </a:r>
                    </a:p>
                  </a:txBody>
                  <a:tcPr marL="91440" marR="91440" marT="45720" marB="45720">
                    <a:solidFill>
                      <a:srgbClr val="3B566E"/>
                    </a:solidFill>
                  </a:tcPr>
                </a:tc>
              </a:tr>
              <a:tr h="698500">
                <a:tc>
                  <a:txBody>
                    <a:bodyPr>
                      <a:noAutofit/>
                    </a:bodyPr>
                    <a:lstStyle/>
                    <a:p>
                      <a:r>
                        <a:rPr sz="1950" b="0">
                          <a:solidFill>
                            <a:srgbClr val="DFE9F1"/>
                          </a:solidFill>
                          <a:latin typeface="Arial"/>
                          <a:ea typeface="Arial"/>
                          <a:cs typeface="Arial"/>
                        </a:rPr>
                        <a:t>Tujuan</a:t>
                      </a:r>
                    </a:p>
                  </a:txBody>
                  <a:tcPr marL="91440" marR="91440" marT="45720" marB="45720">
                    <a:solidFill>
                      <a:srgbClr val="203B54"/>
                    </a:solidFill>
                  </a:tcPr>
                </a:tc>
                <a:tc>
                  <a:txBody>
                    <a:bodyPr>
                      <a:noAutofit/>
                    </a:bodyPr>
                    <a:lstStyle/>
                    <a:p>
                      <a:r>
                        <a:rPr sz="1950" b="0">
                          <a:solidFill>
                            <a:srgbClr val="DFE9F1"/>
                          </a:solidFill>
                          <a:latin typeface="Arial"/>
                          <a:ea typeface="Arial"/>
                          <a:cs typeface="Arial"/>
                        </a:rPr>
                        <a:t>Identitas dan hak akses</a:t>
                      </a:r>
                    </a:p>
                  </a:txBody>
                  <a:tcPr marL="91440" marR="91440" marT="45720" marB="45720">
                    <a:solidFill>
                      <a:srgbClr val="203B54"/>
                    </a:solidFill>
                  </a:tcPr>
                </a:tc>
                <a:tc>
                  <a:txBody>
                    <a:bodyPr>
                      <a:noAutofit/>
                    </a:bodyPr>
                    <a:lstStyle/>
                    <a:p>
                      <a:r>
                        <a:rPr sz="1950" b="0">
                          <a:solidFill>
                            <a:srgbClr val="DFE9F1"/>
                          </a:solidFill>
                          <a:latin typeface="Arial"/>
                          <a:ea typeface="Arial"/>
                          <a:cs typeface="Arial"/>
                        </a:rPr>
                        <a:t>Publikasi dan pencarian</a:t>
                      </a:r>
                    </a:p>
                  </a:txBody>
                  <a:tcPr marL="91440" marR="91440" marT="45720" marB="45720">
                    <a:solidFill>
                      <a:srgbClr val="203B54"/>
                    </a:solidFill>
                  </a:tcPr>
                </a:tc>
              </a:tr>
              <a:tr h="698500">
                <a:tc>
                  <a:txBody>
                    <a:bodyPr>
                      <a:noAutofit/>
                    </a:bodyPr>
                    <a:lstStyle/>
                    <a:p>
                      <a:r>
                        <a:rPr sz="1950" b="0">
                          <a:solidFill>
                            <a:srgbClr val="DFE9F1"/>
                          </a:solidFill>
                          <a:latin typeface="Arial"/>
                          <a:ea typeface="Arial"/>
                          <a:cs typeface="Arial"/>
                        </a:rPr>
                        <a:t>Input</a:t>
                      </a:r>
                    </a:p>
                  </a:txBody>
                  <a:tcPr marL="91440" marR="91440" marT="45720" marB="45720">
                    <a:solidFill>
                      <a:srgbClr val="29475F"/>
                    </a:solidFill>
                  </a:tcPr>
                </a:tc>
                <a:tc>
                  <a:txBody>
                    <a:bodyPr>
                      <a:noAutofit/>
                    </a:bodyPr>
                    <a:lstStyle/>
                    <a:p>
                      <a:r>
                        <a:rPr sz="1950" b="0">
                          <a:solidFill>
                            <a:srgbClr val="DFE9F1"/>
                          </a:solidFill>
                          <a:latin typeface="Arial"/>
                          <a:ea typeface="Arial"/>
                          <a:cs typeface="Arial"/>
                        </a:rPr>
                        <a:t>Data akun, kredensial</a:t>
                      </a:r>
                    </a:p>
                  </a:txBody>
                  <a:tcPr marL="91440" marR="91440" marT="45720" marB="45720">
                    <a:solidFill>
                      <a:srgbClr val="29475F"/>
                    </a:solidFill>
                  </a:tcPr>
                </a:tc>
                <a:tc>
                  <a:txBody>
                    <a:bodyPr>
                      <a:noAutofit/>
                    </a:bodyPr>
                    <a:lstStyle/>
                    <a:p>
                      <a:r>
                        <a:rPr sz="1950" b="0">
                          <a:solidFill>
                            <a:srgbClr val="DFE9F1"/>
                          </a:solidFill>
                          <a:latin typeface="Arial"/>
                          <a:ea typeface="Arial"/>
                          <a:cs typeface="Arial"/>
                        </a:rPr>
                        <a:t>DTO event, filter, keputusan</a:t>
                      </a:r>
                    </a:p>
                  </a:txBody>
                  <a:tcPr marL="91440" marR="91440" marT="45720" marB="45720">
                    <a:solidFill>
                      <a:srgbClr val="29475F"/>
                    </a:solidFill>
                  </a:tcPr>
                </a:tc>
              </a:tr>
              <a:tr h="698500">
                <a:tc>
                  <a:txBody>
                    <a:bodyPr>
                      <a:noAutofit/>
                    </a:bodyPr>
                    <a:lstStyle/>
                    <a:p>
                      <a:r>
                        <a:rPr sz="1950" b="0">
                          <a:solidFill>
                            <a:srgbClr val="DFE9F1"/>
                          </a:solidFill>
                          <a:latin typeface="Arial"/>
                          <a:ea typeface="Arial"/>
                          <a:cs typeface="Arial"/>
                        </a:rPr>
                        <a:t>Proses</a:t>
                      </a:r>
                    </a:p>
                  </a:txBody>
                  <a:tcPr marL="91440" marR="91440" marT="45720" marB="45720">
                    <a:solidFill>
                      <a:srgbClr val="203B54"/>
                    </a:solidFill>
                  </a:tcPr>
                </a:tc>
                <a:tc>
                  <a:txBody>
                    <a:bodyPr>
                      <a:noAutofit/>
                    </a:bodyPr>
                    <a:lstStyle/>
                    <a:p>
                      <a:r>
                        <a:rPr sz="1950" b="0">
                          <a:solidFill>
                            <a:srgbClr val="DFE9F1"/>
                          </a:solidFill>
                          <a:latin typeface="Arial"/>
                          <a:ea typeface="Arial"/>
                          <a:cs typeface="Arial"/>
                        </a:rPr>
                        <a:t>Validasi, hash, JWT</a:t>
                      </a:r>
                    </a:p>
                  </a:txBody>
                  <a:tcPr marL="91440" marR="91440" marT="45720" marB="45720">
                    <a:solidFill>
                      <a:srgbClr val="203B54"/>
                    </a:solidFill>
                  </a:tcPr>
                </a:tc>
                <a:tc>
                  <a:txBody>
                    <a:bodyPr>
                      <a:noAutofit/>
                    </a:bodyPr>
                    <a:lstStyle/>
                    <a:p>
                      <a:r>
                        <a:rPr sz="1950" b="0">
                          <a:solidFill>
                            <a:srgbClr val="DFE9F1"/>
                          </a:solidFill>
                          <a:latin typeface="Arial"/>
                          <a:ea typeface="Arial"/>
                          <a:cs typeface="Arial"/>
                        </a:rPr>
                        <a:t>Jadwal, izin, moderasi, query</a:t>
                      </a:r>
                    </a:p>
                  </a:txBody>
                  <a:tcPr marL="91440" marR="91440" marT="45720" marB="45720">
                    <a:solidFill>
                      <a:srgbClr val="203B54"/>
                    </a:solidFill>
                  </a:tcPr>
                </a:tc>
              </a:tr>
              <a:tr h="698500">
                <a:tc>
                  <a:txBody>
                    <a:bodyPr>
                      <a:noAutofit/>
                    </a:bodyPr>
                    <a:lstStyle/>
                    <a:p>
                      <a:r>
                        <a:rPr sz="1950" b="0">
                          <a:solidFill>
                            <a:srgbClr val="DFE9F1"/>
                          </a:solidFill>
                          <a:latin typeface="Arial"/>
                          <a:ea typeface="Arial"/>
                          <a:cs typeface="Arial"/>
                        </a:rPr>
                        <a:t>Output</a:t>
                      </a:r>
                    </a:p>
                  </a:txBody>
                  <a:tcPr marL="91440" marR="91440" marT="45720" marB="45720">
                    <a:solidFill>
                      <a:srgbClr val="29475F"/>
                    </a:solidFill>
                  </a:tcPr>
                </a:tc>
                <a:tc>
                  <a:txBody>
                    <a:bodyPr>
                      <a:noAutofit/>
                    </a:bodyPr>
                    <a:lstStyle/>
                    <a:p>
                      <a:r>
                        <a:rPr sz="1950" b="0">
                          <a:solidFill>
                            <a:srgbClr val="DFE9F1"/>
                          </a:solidFill>
                          <a:latin typeface="Arial"/>
                          <a:ea typeface="Arial"/>
                          <a:cs typeface="Arial"/>
                        </a:rPr>
                        <a:t>UserDTO dan token</a:t>
                      </a:r>
                    </a:p>
                  </a:txBody>
                  <a:tcPr marL="91440" marR="91440" marT="45720" marB="45720">
                    <a:solidFill>
                      <a:srgbClr val="29475F"/>
                    </a:solidFill>
                  </a:tcPr>
                </a:tc>
                <a:tc>
                  <a:txBody>
                    <a:bodyPr>
                      <a:noAutofit/>
                    </a:bodyPr>
                    <a:lstStyle/>
                    <a:p>
                      <a:r>
                        <a:rPr sz="1950" b="0">
                          <a:solidFill>
                            <a:srgbClr val="DFE9F1"/>
                          </a:solidFill>
                          <a:latin typeface="Arial"/>
                          <a:ea typeface="Arial"/>
                          <a:cs typeface="Arial"/>
                        </a:rPr>
                        <a:t>EventDTO dan halaman hasil</a:t>
                      </a:r>
                    </a:p>
                  </a:txBody>
                  <a:tcPr marL="91440" marR="91440" marT="45720" marB="45720">
                    <a:solidFill>
                      <a:srgbClr val="29475F"/>
                    </a:solidFill>
                  </a:tcPr>
                </a:tc>
              </a:tr>
              <a:tr h="698500">
                <a:tc>
                  <a:txBody>
                    <a:bodyPr>
                      <a:noAutofit/>
                    </a:bodyPr>
                    <a:lstStyle/>
                    <a:p>
                      <a:r>
                        <a:rPr sz="1950" b="0">
                          <a:solidFill>
                            <a:srgbClr val="DFE9F1"/>
                          </a:solidFill>
                          <a:latin typeface="Arial"/>
                          <a:ea typeface="Arial"/>
                          <a:cs typeface="Arial"/>
                        </a:rPr>
                        <a:t>Dependensi</a:t>
                      </a:r>
                    </a:p>
                  </a:txBody>
                  <a:tcPr marL="91440" marR="91440" marT="45720" marB="45720">
                    <a:solidFill>
                      <a:srgbClr val="203B54"/>
                    </a:solidFill>
                  </a:tcPr>
                </a:tc>
                <a:tc>
                  <a:txBody>
                    <a:bodyPr>
                      <a:noAutofit/>
                    </a:bodyPr>
                    <a:lstStyle/>
                    <a:p>
                      <a:r>
                        <a:rPr sz="1950" b="0">
                          <a:solidFill>
                            <a:srgbClr val="DFE9F1"/>
                          </a:solidFill>
                          <a:latin typeface="Arial"/>
                          <a:ea typeface="Arial"/>
                          <a:cs typeface="Arial"/>
                        </a:rPr>
                        <a:t>Repository dan JwtProvider</a:t>
                      </a:r>
                    </a:p>
                  </a:txBody>
                  <a:tcPr marL="91440" marR="91440" marT="45720" marB="45720">
                    <a:solidFill>
                      <a:srgbClr val="203B54"/>
                    </a:solidFill>
                  </a:tcPr>
                </a:tc>
                <a:tc>
                  <a:txBody>
                    <a:bodyPr>
                      <a:noAutofit/>
                    </a:bodyPr>
                    <a:lstStyle/>
                    <a:p>
                      <a:r>
                        <a:rPr sz="1950" b="0">
                          <a:solidFill>
                            <a:srgbClr val="DFE9F1"/>
                          </a:solidFill>
                          <a:latin typeface="Arial"/>
                          <a:ea typeface="Arial"/>
                          <a:cs typeface="Arial"/>
                        </a:rPr>
                        <a:t>Repository, facade, transaksi</a:t>
                      </a:r>
                    </a:p>
                  </a:txBody>
                  <a:tcPr marL="91440" marR="91440" marT="45720" marB="45720">
                    <a:solidFill>
                      <a:srgbClr val="203B54"/>
                    </a:solidFill>
                  </a:tcPr>
                </a:tc>
              </a:tr>
            </a:tbl>
          </a:graphicData>
        </a:graphic>
      </p:graphicFrame>
    </p:spTree>
    <p:extLst>
      <p:ext uri="{BB962C8B-B14F-4D97-AF65-F5344CB8AC3E}">
        <p14:creationId xmlns:p14="http://schemas.microsoft.com/office/powerpoint/2010/main" val="28374900"/>
      </p:ext>
    </p:extLst>
  </p:cSld>
</p:sld>
</file>

<file path=ppt/slides/slide11.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0f7c2304e8a4a7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3AA0D68-03CC-4AE9-AC0A-8F8B292F32CF}"/>
              </a:ext>
            </a:extLst>
          </p:cNvPr>
          <p:cNvSpPr>
            <a:spLocks xmlns:a="http://schemas.openxmlformats.org/drawingml/2006/main" noGrp="1"/>
          </p:cNvSpPr>
          <p:nvPr/>
        </p:nvSpPr>
        <p:spPr>
          <a:xfrm xmlns:a="http://schemas.openxmlformats.org/drawingml/2006/main">
            <a:off x="5715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Algoritma pencarian event</a:t>
            </a:r>
          </a:p>
        </p:txBody>
      </p:sp>
      <p:sp>
        <p:nvSpPr>
          <p:cNvPr id="3" name="">
            <a:extLst xmlns:a="http://schemas.openxmlformats.org/drawingml/2006/main">
              <a:ext uri="{FF2B5EF4-FFF2-40B4-BE49-F238E27FC236}">
                <a16:creationId xmlns:a16="http://schemas.microsoft.com/office/drawing/2014/main" id="{98606D2F-8B9A-437C-9E64-F426294EDD09}"/>
              </a:ext>
            </a:extLst>
          </p:cNvPr>
          <p:cNvSpPr>
            <a:spLocks xmlns:a="http://schemas.openxmlformats.org/drawingml/2006/main" noGrp="1"/>
          </p:cNvSpPr>
          <p:nvPr/>
        </p:nvSpPr>
        <p:spPr>
          <a:xfrm xmlns:a="http://schemas.openxmlformats.org/drawingml/2006/main">
            <a:off x="1123950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B0C0CE"/>
                </a:solidFill>
                <a:latin typeface="Arial"/>
                <a:ea typeface="Arial"/>
                <a:cs typeface="Arial"/>
              </a:defRPr>
            </a:pPr>
            <a:r>
              <a:rPr sz="1125" b="0">
                <a:solidFill>
                  <a:srgbClr val="B0C0CE"/>
                </a:solidFill>
                <a:latin typeface="Arial"/>
                <a:ea typeface="Arial"/>
                <a:cs typeface="Arial"/>
              </a:rPr>
              <a:t>11</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c4934bbb8644e43"/>
          <a:stretch xmlns:a="http://schemas.openxmlformats.org/drawingml/2006/main"/>
        </p:blipFill>
        <p:spPr>
          <a:xfrm xmlns:a="http://schemas.openxmlformats.org/drawingml/2006/main">
            <a:off x="1150245" y="1381125"/>
            <a:ext cx="6395835" cy="47339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519F625-4B7B-41CD-BD7E-8D3B786B1E64}"/>
              </a:ext>
            </a:extLst>
          </p:cNvPr>
          <p:cNvSpPr>
            <a:spLocks xmlns:a="http://schemas.openxmlformats.org/drawingml/2006/main" noGrp="1"/>
          </p:cNvSpPr>
          <p:nvPr/>
        </p:nvSpPr>
        <p:spPr>
          <a:xfrm xmlns:a="http://schemas.openxmlformats.org/drawingml/2006/main">
            <a:off x="8667750" y="148590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Validasi</a:t>
            </a:r>
          </a:p>
        </p:txBody>
      </p:sp>
      <p:sp>
        <p:nvSpPr>
          <p:cNvPr id="6" name="">
            <a:extLst xmlns:a="http://schemas.openxmlformats.org/drawingml/2006/main">
              <a:ext uri="{FF2B5EF4-FFF2-40B4-BE49-F238E27FC236}">
                <a16:creationId xmlns:a16="http://schemas.microsoft.com/office/drawing/2014/main" id="{E18085FC-F3A0-4A04-B8D2-D8B3B01DB49B}"/>
              </a:ext>
            </a:extLst>
          </p:cNvPr>
          <p:cNvSpPr>
            <a:spLocks xmlns:a="http://schemas.openxmlformats.org/drawingml/2006/main" noGrp="1"/>
          </p:cNvSpPr>
          <p:nvPr/>
        </p:nvSpPr>
        <p:spPr>
          <a:xfrm xmlns:a="http://schemas.openxmlformats.org/drawingml/2006/main">
            <a:off x="8667750" y="1952625"/>
            <a:ext cx="295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page ≥1, limit 1–20.</a:t>
            </a:r>
          </a:p>
        </p:txBody>
      </p:sp>
      <p:sp>
        <p:nvSpPr>
          <p:cNvPr id="7" name="">
            <a:extLst xmlns:a="http://schemas.openxmlformats.org/drawingml/2006/main">
              <a:ext uri="{FF2B5EF4-FFF2-40B4-BE49-F238E27FC236}">
                <a16:creationId xmlns:a16="http://schemas.microsoft.com/office/drawing/2014/main" id="{5ADB9DEA-4DE1-463B-A6AB-E716E7E1562D}"/>
              </a:ext>
            </a:extLst>
          </p:cNvPr>
          <p:cNvSpPr>
            <a:spLocks xmlns:a="http://schemas.openxmlformats.org/drawingml/2006/main" noGrp="1"/>
          </p:cNvSpPr>
          <p:nvPr/>
        </p:nvSpPr>
        <p:spPr>
          <a:xfrm xmlns:a="http://schemas.openxmlformats.org/drawingml/2006/main">
            <a:off x="8667750" y="30289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Filter konsisten</a:t>
            </a:r>
          </a:p>
        </p:txBody>
      </p:sp>
      <p:sp>
        <p:nvSpPr>
          <p:cNvPr id="8" name="">
            <a:extLst xmlns:a="http://schemas.openxmlformats.org/drawingml/2006/main">
              <a:ext uri="{FF2B5EF4-FFF2-40B4-BE49-F238E27FC236}">
                <a16:creationId xmlns:a16="http://schemas.microsoft.com/office/drawing/2014/main" id="{FC10F89B-4C18-46D2-B336-E4ADEB7D0949}"/>
              </a:ext>
            </a:extLst>
          </p:cNvPr>
          <p:cNvSpPr>
            <a:spLocks xmlns:a="http://schemas.openxmlformats.org/drawingml/2006/main" noGrp="1"/>
          </p:cNvSpPr>
          <p:nvPr/>
        </p:nvSpPr>
        <p:spPr>
          <a:xfrm xmlns:a="http://schemas.openxmlformats.org/drawingml/2006/main">
            <a:off x="8667750" y="3495675"/>
            <a:ext cx="295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Kata kunci, kategori, organisasi, tanggal.</a:t>
            </a:r>
          </a:p>
        </p:txBody>
      </p:sp>
      <p:sp>
        <p:nvSpPr>
          <p:cNvPr id="9" name="">
            <a:extLst xmlns:a="http://schemas.openxmlformats.org/drawingml/2006/main">
              <a:ext uri="{FF2B5EF4-FFF2-40B4-BE49-F238E27FC236}">
                <a16:creationId xmlns:a16="http://schemas.microsoft.com/office/drawing/2014/main" id="{60446DE4-FF35-4FA3-8CBD-259F41E9465E}"/>
              </a:ext>
            </a:extLst>
          </p:cNvPr>
          <p:cNvSpPr>
            <a:spLocks xmlns:a="http://schemas.openxmlformats.org/drawingml/2006/main" noGrp="1"/>
          </p:cNvSpPr>
          <p:nvPr/>
        </p:nvSpPr>
        <p:spPr>
          <a:xfrm xmlns:a="http://schemas.openxmlformats.org/drawingml/2006/main">
            <a:off x="8667750" y="457200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Hasil</a:t>
            </a:r>
          </a:p>
        </p:txBody>
      </p:sp>
      <p:sp>
        <p:nvSpPr>
          <p:cNvPr id="10" name="">
            <a:extLst xmlns:a="http://schemas.openxmlformats.org/drawingml/2006/main">
              <a:ext uri="{FF2B5EF4-FFF2-40B4-BE49-F238E27FC236}">
                <a16:creationId xmlns:a16="http://schemas.microsoft.com/office/drawing/2014/main" id="{23818E2A-22C2-4228-85DC-62DD17D56C15}"/>
              </a:ext>
            </a:extLst>
          </p:cNvPr>
          <p:cNvSpPr>
            <a:spLocks xmlns:a="http://schemas.openxmlformats.org/drawingml/2006/main" noGrp="1"/>
          </p:cNvSpPr>
          <p:nvPr/>
        </p:nvSpPr>
        <p:spPr>
          <a:xfrm xmlns:a="http://schemas.openxmlformats.org/drawingml/2006/main">
            <a:off x="8667750" y="5038725"/>
            <a:ext cx="295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data, total dan page.</a:t>
            </a:r>
          </a:p>
        </p:txBody>
      </p:sp>
    </p:spTree>
    <p:extLst>
      <p:ext uri="{BB962C8B-B14F-4D97-AF65-F5344CB8AC3E}">
        <p14:creationId xmlns:p14="http://schemas.microsoft.com/office/powerpoint/2010/main" val="2019123192"/>
      </p:ext>
    </p:extLst>
  </p:cSld>
</p:sld>
</file>

<file path=ppt/slides/slide12.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f6d6ff9400d46c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3C7DFB5-5FE9-447A-86F8-FE8D4E916C85}"/>
              </a:ext>
            </a:extLst>
          </p:cNvPr>
          <p:cNvSpPr>
            <a:spLocks xmlns:a="http://schemas.openxmlformats.org/drawingml/2006/main" noGrp="1"/>
          </p:cNvSpPr>
          <p:nvPr/>
        </p:nvSpPr>
        <p:spPr>
          <a:xfrm xmlns:a="http://schemas.openxmlformats.org/drawingml/2006/main">
            <a:off x="5715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Repository Pattern</a:t>
            </a:r>
          </a:p>
        </p:txBody>
      </p:sp>
      <p:sp>
        <p:nvSpPr>
          <p:cNvPr id="3" name="">
            <a:extLst xmlns:a="http://schemas.openxmlformats.org/drawingml/2006/main">
              <a:ext uri="{FF2B5EF4-FFF2-40B4-BE49-F238E27FC236}">
                <a16:creationId xmlns:a16="http://schemas.microsoft.com/office/drawing/2014/main" id="{2C391F2E-C192-48A3-9A4B-E3353550850A}"/>
              </a:ext>
            </a:extLst>
          </p:cNvPr>
          <p:cNvSpPr>
            <a:spLocks xmlns:a="http://schemas.openxmlformats.org/drawingml/2006/main" noGrp="1"/>
          </p:cNvSpPr>
          <p:nvPr/>
        </p:nvSpPr>
        <p:spPr>
          <a:xfrm xmlns:a="http://schemas.openxmlformats.org/drawingml/2006/main">
            <a:off x="1123950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B0C0CE"/>
                </a:solidFill>
                <a:latin typeface="Arial"/>
                <a:ea typeface="Arial"/>
                <a:cs typeface="Arial"/>
              </a:defRPr>
            </a:pPr>
            <a:r>
              <a:rPr sz="1125" b="0">
                <a:solidFill>
                  <a:srgbClr val="B0C0CE"/>
                </a:solidFill>
                <a:latin typeface="Arial"/>
                <a:ea typeface="Arial"/>
                <a:cs typeface="Arial"/>
              </a:rPr>
              <a:t>12</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6916e69e2cb405e"/>
          <a:stretch xmlns:a="http://schemas.openxmlformats.org/drawingml/2006/main"/>
        </p:blipFill>
        <p:spPr>
          <a:xfrm xmlns:a="http://schemas.openxmlformats.org/drawingml/2006/main">
            <a:off x="699552" y="1428750"/>
            <a:ext cx="7363897" cy="46386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A4B2B9D-1C39-4C9A-B9B3-A7A58B7D0CA8}"/>
              </a:ext>
            </a:extLst>
          </p:cNvPr>
          <p:cNvSpPr>
            <a:spLocks xmlns:a="http://schemas.openxmlformats.org/drawingml/2006/main" noGrp="1"/>
          </p:cNvSpPr>
          <p:nvPr/>
        </p:nvSpPr>
        <p:spPr>
          <a:xfrm xmlns:a="http://schemas.openxmlformats.org/drawingml/2006/main">
            <a:off x="8667750" y="152400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Masalah</a:t>
            </a:r>
          </a:p>
        </p:txBody>
      </p:sp>
      <p:sp>
        <p:nvSpPr>
          <p:cNvPr id="6" name="">
            <a:extLst xmlns:a="http://schemas.openxmlformats.org/drawingml/2006/main">
              <a:ext uri="{FF2B5EF4-FFF2-40B4-BE49-F238E27FC236}">
                <a16:creationId xmlns:a16="http://schemas.microsoft.com/office/drawing/2014/main" id="{CFA1BCCF-E7EF-4C82-B46F-589C75FEB404}"/>
              </a:ext>
            </a:extLst>
          </p:cNvPr>
          <p:cNvSpPr>
            <a:spLocks xmlns:a="http://schemas.openxmlformats.org/drawingml/2006/main" noGrp="1"/>
          </p:cNvSpPr>
          <p:nvPr/>
        </p:nvSpPr>
        <p:spPr>
          <a:xfrm xmlns:a="http://schemas.openxmlformats.org/drawingml/2006/main">
            <a:off x="8667750" y="1990725"/>
            <a:ext cx="295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Aturan bisnis terikat query SQL.</a:t>
            </a:r>
          </a:p>
        </p:txBody>
      </p:sp>
      <p:sp>
        <p:nvSpPr>
          <p:cNvPr id="7" name="">
            <a:extLst xmlns:a="http://schemas.openxmlformats.org/drawingml/2006/main">
              <a:ext uri="{FF2B5EF4-FFF2-40B4-BE49-F238E27FC236}">
                <a16:creationId xmlns:a16="http://schemas.microsoft.com/office/drawing/2014/main" id="{B48D2C50-8B8B-4370-B1C7-42F971D77359}"/>
              </a:ext>
            </a:extLst>
          </p:cNvPr>
          <p:cNvSpPr>
            <a:spLocks xmlns:a="http://schemas.openxmlformats.org/drawingml/2006/main" noGrp="1"/>
          </p:cNvSpPr>
          <p:nvPr/>
        </p:nvSpPr>
        <p:spPr>
          <a:xfrm xmlns:a="http://schemas.openxmlformats.org/drawingml/2006/main">
            <a:off x="8667750" y="30670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Penerapan</a:t>
            </a:r>
          </a:p>
        </p:txBody>
      </p:sp>
      <p:sp>
        <p:nvSpPr>
          <p:cNvPr id="8" name="">
            <a:extLst xmlns:a="http://schemas.openxmlformats.org/drawingml/2006/main">
              <a:ext uri="{FF2B5EF4-FFF2-40B4-BE49-F238E27FC236}">
                <a16:creationId xmlns:a16="http://schemas.microsoft.com/office/drawing/2014/main" id="{E8995646-4E5A-4F5C-85B2-7739D4D674D6}"/>
              </a:ext>
            </a:extLst>
          </p:cNvPr>
          <p:cNvSpPr>
            <a:spLocks xmlns:a="http://schemas.openxmlformats.org/drawingml/2006/main" noGrp="1"/>
          </p:cNvSpPr>
          <p:nvPr/>
        </p:nvSpPr>
        <p:spPr>
          <a:xfrm xmlns:a="http://schemas.openxmlformats.org/drawingml/2006/main">
            <a:off x="8667750" y="3533775"/>
            <a:ext cx="295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Service bergantung pada kontrak.</a:t>
            </a:r>
          </a:p>
        </p:txBody>
      </p:sp>
      <p:sp>
        <p:nvSpPr>
          <p:cNvPr id="9" name="">
            <a:extLst xmlns:a="http://schemas.openxmlformats.org/drawingml/2006/main">
              <a:ext uri="{FF2B5EF4-FFF2-40B4-BE49-F238E27FC236}">
                <a16:creationId xmlns:a16="http://schemas.microsoft.com/office/drawing/2014/main" id="{001FE1C2-1CCF-4ED5-ADF8-ED47812300F3}"/>
              </a:ext>
            </a:extLst>
          </p:cNvPr>
          <p:cNvSpPr>
            <a:spLocks xmlns:a="http://schemas.openxmlformats.org/drawingml/2006/main" noGrp="1"/>
          </p:cNvSpPr>
          <p:nvPr/>
        </p:nvSpPr>
        <p:spPr>
          <a:xfrm xmlns:a="http://schemas.openxmlformats.org/drawingml/2006/main">
            <a:off x="8667750" y="461010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Manfaat</a:t>
            </a:r>
          </a:p>
        </p:txBody>
      </p:sp>
      <p:sp>
        <p:nvSpPr>
          <p:cNvPr id="10" name="">
            <a:extLst xmlns:a="http://schemas.openxmlformats.org/drawingml/2006/main">
              <a:ext uri="{FF2B5EF4-FFF2-40B4-BE49-F238E27FC236}">
                <a16:creationId xmlns:a16="http://schemas.microsoft.com/office/drawing/2014/main" id="{622FBED3-3C67-4835-8F6E-43B358E45469}"/>
              </a:ext>
            </a:extLst>
          </p:cNvPr>
          <p:cNvSpPr>
            <a:spLocks xmlns:a="http://schemas.openxmlformats.org/drawingml/2006/main" noGrp="1"/>
          </p:cNvSpPr>
          <p:nvPr/>
        </p:nvSpPr>
        <p:spPr>
          <a:xfrm xmlns:a="http://schemas.openxmlformats.org/drawingml/2006/main">
            <a:off x="8667750" y="5076825"/>
            <a:ext cx="295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Pengujian dan perubahan akses data.</a:t>
            </a:r>
          </a:p>
        </p:txBody>
      </p:sp>
    </p:spTree>
    <p:extLst>
      <p:ext uri="{BB962C8B-B14F-4D97-AF65-F5344CB8AC3E}">
        <p14:creationId xmlns:p14="http://schemas.microsoft.com/office/powerpoint/2010/main" val="112327422"/>
      </p:ext>
    </p:extLst>
  </p:cSld>
</p:sld>
</file>

<file path=ppt/slides/slide13.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9a65e11e3924f2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A4CAA0B-90E3-4AF1-84E9-6A54E8FDDAEA}"/>
              </a:ext>
            </a:extLst>
          </p:cNvPr>
          <p:cNvSpPr>
            <a:spLocks xmlns:a="http://schemas.openxmlformats.org/drawingml/2006/main" noGrp="1"/>
          </p:cNvSpPr>
          <p:nvPr/>
        </p:nvSpPr>
        <p:spPr>
          <a:xfrm xmlns:a="http://schemas.openxmlformats.org/drawingml/2006/main">
            <a:off x="5715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Observer untuk notifikasi</a:t>
            </a:r>
          </a:p>
        </p:txBody>
      </p:sp>
      <p:sp>
        <p:nvSpPr>
          <p:cNvPr id="3" name="">
            <a:extLst xmlns:a="http://schemas.openxmlformats.org/drawingml/2006/main">
              <a:ext uri="{FF2B5EF4-FFF2-40B4-BE49-F238E27FC236}">
                <a16:creationId xmlns:a16="http://schemas.microsoft.com/office/drawing/2014/main" id="{BEE3AAE1-6D66-4541-91C4-6E8041DDF546}"/>
              </a:ext>
            </a:extLst>
          </p:cNvPr>
          <p:cNvSpPr>
            <a:spLocks xmlns:a="http://schemas.openxmlformats.org/drawingml/2006/main" noGrp="1"/>
          </p:cNvSpPr>
          <p:nvPr/>
        </p:nvSpPr>
        <p:spPr>
          <a:xfrm xmlns:a="http://schemas.openxmlformats.org/drawingml/2006/main">
            <a:off x="1123950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B0C0CE"/>
                </a:solidFill>
                <a:latin typeface="Arial"/>
                <a:ea typeface="Arial"/>
                <a:cs typeface="Arial"/>
              </a:defRPr>
            </a:pPr>
            <a:r>
              <a:rPr sz="1125" b="0">
                <a:solidFill>
                  <a:srgbClr val="B0C0CE"/>
                </a:solidFill>
                <a:latin typeface="Arial"/>
                <a:ea typeface="Arial"/>
                <a:cs typeface="Arial"/>
              </a:rPr>
              <a:t>13</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85d212dc2524d51"/>
          <a:stretch xmlns:a="http://schemas.openxmlformats.org/drawingml/2006/main"/>
        </p:blipFill>
        <p:spPr>
          <a:xfrm xmlns:a="http://schemas.openxmlformats.org/drawingml/2006/main">
            <a:off x="1207492" y="1381125"/>
            <a:ext cx="6300391"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28365E8-5C02-4584-8957-193190C5BFA0}"/>
              </a:ext>
            </a:extLst>
          </p:cNvPr>
          <p:cNvSpPr>
            <a:spLocks xmlns:a="http://schemas.openxmlformats.org/drawingml/2006/main" noGrp="1"/>
          </p:cNvSpPr>
          <p:nvPr/>
        </p:nvSpPr>
        <p:spPr>
          <a:xfrm xmlns:a="http://schemas.openxmlformats.org/drawingml/2006/main">
            <a:off x="8667750" y="147637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Publisher</a:t>
            </a:r>
          </a:p>
        </p:txBody>
      </p:sp>
      <p:sp>
        <p:nvSpPr>
          <p:cNvPr id="6" name="">
            <a:extLst xmlns:a="http://schemas.openxmlformats.org/drawingml/2006/main">
              <a:ext uri="{FF2B5EF4-FFF2-40B4-BE49-F238E27FC236}">
                <a16:creationId xmlns:a16="http://schemas.microsoft.com/office/drawing/2014/main" id="{99148B3A-ABD0-4961-9966-97A43DE57FAD}"/>
              </a:ext>
            </a:extLst>
          </p:cNvPr>
          <p:cNvSpPr>
            <a:spLocks xmlns:a="http://schemas.openxmlformats.org/drawingml/2006/main" noGrp="1"/>
          </p:cNvSpPr>
          <p:nvPr/>
        </p:nvSpPr>
        <p:spPr>
          <a:xfrm xmlns:a="http://schemas.openxmlformats.org/drawingml/2006/main">
            <a:off x="8667750" y="1943100"/>
            <a:ext cx="295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Event dan Pendaftaran.</a:t>
            </a:r>
          </a:p>
        </p:txBody>
      </p:sp>
      <p:sp>
        <p:nvSpPr>
          <p:cNvPr id="7" name="">
            <a:extLst xmlns:a="http://schemas.openxmlformats.org/drawingml/2006/main">
              <a:ext uri="{FF2B5EF4-FFF2-40B4-BE49-F238E27FC236}">
                <a16:creationId xmlns:a16="http://schemas.microsoft.com/office/drawing/2014/main" id="{5DC304A3-1962-4820-8B58-1BE90F78003F}"/>
              </a:ext>
            </a:extLst>
          </p:cNvPr>
          <p:cNvSpPr>
            <a:spLocks xmlns:a="http://schemas.openxmlformats.org/drawingml/2006/main" noGrp="1"/>
          </p:cNvSpPr>
          <p:nvPr/>
        </p:nvSpPr>
        <p:spPr>
          <a:xfrm xmlns:a="http://schemas.openxmlformats.org/drawingml/2006/main">
            <a:off x="8667750" y="301942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Subscriber</a:t>
            </a:r>
          </a:p>
        </p:txBody>
      </p:sp>
      <p:sp>
        <p:nvSpPr>
          <p:cNvPr id="8" name="">
            <a:extLst xmlns:a="http://schemas.openxmlformats.org/drawingml/2006/main">
              <a:ext uri="{FF2B5EF4-FFF2-40B4-BE49-F238E27FC236}">
                <a16:creationId xmlns:a16="http://schemas.microsoft.com/office/drawing/2014/main" id="{43EB687B-F8E9-46FB-8790-10C29644D973}"/>
              </a:ext>
            </a:extLst>
          </p:cNvPr>
          <p:cNvSpPr>
            <a:spLocks xmlns:a="http://schemas.openxmlformats.org/drawingml/2006/main" noGrp="1"/>
          </p:cNvSpPr>
          <p:nvPr/>
        </p:nvSpPr>
        <p:spPr>
          <a:xfrm xmlns:a="http://schemas.openxmlformats.org/drawingml/2006/main">
            <a:off x="8667750" y="3486150"/>
            <a:ext cx="295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NotificationService.</a:t>
            </a:r>
          </a:p>
        </p:txBody>
      </p:sp>
      <p:sp>
        <p:nvSpPr>
          <p:cNvPr id="9" name="">
            <a:extLst xmlns:a="http://schemas.openxmlformats.org/drawingml/2006/main">
              <a:ext uri="{FF2B5EF4-FFF2-40B4-BE49-F238E27FC236}">
                <a16:creationId xmlns:a16="http://schemas.microsoft.com/office/drawing/2014/main" id="{77380926-E4FD-4FA2-95FD-1225278FB4B0}"/>
              </a:ext>
            </a:extLst>
          </p:cNvPr>
          <p:cNvSpPr>
            <a:spLocks xmlns:a="http://schemas.openxmlformats.org/drawingml/2006/main" noGrp="1"/>
          </p:cNvSpPr>
          <p:nvPr/>
        </p:nvSpPr>
        <p:spPr>
          <a:xfrm xmlns:a="http://schemas.openxmlformats.org/drawingml/2006/main">
            <a:off x="8667750" y="456247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Commit dahulu</a:t>
            </a:r>
          </a:p>
        </p:txBody>
      </p:sp>
      <p:sp>
        <p:nvSpPr>
          <p:cNvPr id="10" name="">
            <a:extLst xmlns:a="http://schemas.openxmlformats.org/drawingml/2006/main">
              <a:ext uri="{FF2B5EF4-FFF2-40B4-BE49-F238E27FC236}">
                <a16:creationId xmlns:a16="http://schemas.microsoft.com/office/drawing/2014/main" id="{F551DA52-6C4F-4EA9-A38B-DF6E28321609}"/>
              </a:ext>
            </a:extLst>
          </p:cNvPr>
          <p:cNvSpPr>
            <a:spLocks xmlns:a="http://schemas.openxmlformats.org/drawingml/2006/main" noGrp="1"/>
          </p:cNvSpPr>
          <p:nvPr/>
        </p:nvSpPr>
        <p:spPr>
          <a:xfrm xmlns:a="http://schemas.openxmlformats.org/drawingml/2006/main">
            <a:off x="8667750" y="5029200"/>
            <a:ext cx="295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Notifikasi mengikuti transaksi berhasil.</a:t>
            </a:r>
          </a:p>
        </p:txBody>
      </p:sp>
    </p:spTree>
    <p:extLst>
      <p:ext uri="{BB962C8B-B14F-4D97-AF65-F5344CB8AC3E}">
        <p14:creationId xmlns:p14="http://schemas.microsoft.com/office/powerpoint/2010/main" val="1694651703"/>
      </p:ext>
    </p:extLst>
  </p:cSld>
</p:sld>
</file>

<file path=ppt/slides/slide14.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f6d96c82f004e2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1C94A27-3482-48D5-A179-893A45B60756}"/>
              </a:ext>
            </a:extLst>
          </p:cNvPr>
          <p:cNvSpPr>
            <a:spLocks xmlns:a="http://schemas.openxmlformats.org/drawingml/2006/main" noGrp="1"/>
          </p:cNvSpPr>
          <p:nvPr/>
        </p:nvSpPr>
        <p:spPr>
          <a:xfrm xmlns:a="http://schemas.openxmlformats.org/drawingml/2006/main">
            <a:off x="5715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Figma • Home dan detail event</a:t>
            </a:r>
          </a:p>
        </p:txBody>
      </p:sp>
      <p:sp>
        <p:nvSpPr>
          <p:cNvPr id="3" name="">
            <a:extLst xmlns:a="http://schemas.openxmlformats.org/drawingml/2006/main">
              <a:ext uri="{FF2B5EF4-FFF2-40B4-BE49-F238E27FC236}">
                <a16:creationId xmlns:a16="http://schemas.microsoft.com/office/drawing/2014/main" id="{A332924D-8148-4A88-9EF3-ADEF87F4662C}"/>
              </a:ext>
            </a:extLst>
          </p:cNvPr>
          <p:cNvSpPr>
            <a:spLocks xmlns:a="http://schemas.openxmlformats.org/drawingml/2006/main" noGrp="1"/>
          </p:cNvSpPr>
          <p:nvPr/>
        </p:nvSpPr>
        <p:spPr>
          <a:xfrm xmlns:a="http://schemas.openxmlformats.org/drawingml/2006/main">
            <a:off x="1123950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B0C0CE"/>
                </a:solidFill>
                <a:latin typeface="Arial"/>
                <a:ea typeface="Arial"/>
                <a:cs typeface="Arial"/>
              </a:defRPr>
            </a:pPr>
            <a:r>
              <a:rPr sz="1125" b="0">
                <a:solidFill>
                  <a:srgbClr val="B0C0CE"/>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E063364F-06A7-41ED-B539-1692C0261529}"/>
              </a:ext>
            </a:extLst>
          </p:cNvPr>
          <p:cNvSpPr>
            <a:spLocks xmlns:a="http://schemas.openxmlformats.org/drawingml/2006/main" noGrp="1"/>
          </p:cNvSpPr>
          <p:nvPr/>
        </p:nvSpPr>
        <p:spPr>
          <a:xfrm xmlns:a="http://schemas.openxmlformats.org/drawingml/2006/main">
            <a:off x="571500" y="1238250"/>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FFA56E"/>
                </a:solidFill>
                <a:latin typeface="Arial"/>
                <a:ea typeface="Arial"/>
                <a:cs typeface="Arial"/>
              </a:defRPr>
            </a:pPr>
            <a:r>
              <a:rPr sz="2100" b="1">
                <a:solidFill>
                  <a:srgbClr val="FFA56E"/>
                </a:solidFill>
                <a:latin typeface="Arial"/>
                <a:ea typeface="Arial"/>
                <a:cs typeface="Arial"/>
              </a:rPr>
              <a:t>Home dan pencarian</a:t>
            </a:r>
          </a:p>
        </p:txBody>
      </p:sp>
      <p:sp>
        <p:nvSpPr>
          <p:cNvPr id="5" name="">
            <a:extLst xmlns:a="http://schemas.openxmlformats.org/drawingml/2006/main">
              <a:ext uri="{FF2B5EF4-FFF2-40B4-BE49-F238E27FC236}">
                <a16:creationId xmlns:a16="http://schemas.microsoft.com/office/drawing/2014/main" id="{F8376248-3906-413E-840E-36C33902DD65}"/>
              </a:ext>
            </a:extLst>
          </p:cNvPr>
          <p:cNvSpPr>
            <a:spLocks xmlns:a="http://schemas.openxmlformats.org/drawingml/2006/main" noGrp="1"/>
          </p:cNvSpPr>
          <p:nvPr/>
        </p:nvSpPr>
        <p:spPr>
          <a:xfrm xmlns:a="http://schemas.openxmlformats.org/drawingml/2006/main">
            <a:off x="6381750" y="1238250"/>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FFA56E"/>
                </a:solidFill>
                <a:latin typeface="Arial"/>
                <a:ea typeface="Arial"/>
                <a:cs typeface="Arial"/>
              </a:defRPr>
            </a:pPr>
            <a:r>
              <a:rPr sz="2100" b="1">
                <a:solidFill>
                  <a:srgbClr val="FFA56E"/>
                </a:solidFill>
                <a:latin typeface="Arial"/>
                <a:ea typeface="Arial"/>
                <a:cs typeface="Arial"/>
              </a:rPr>
              <a:t>Detail dan pendaftaran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117e9030e604749"/>
          <a:stretch xmlns:a="http://schemas.openxmlformats.org/drawingml/2006/main"/>
        </p:blipFill>
        <p:spPr>
          <a:xfrm xmlns:a="http://schemas.openxmlformats.org/drawingml/2006/main">
            <a:off x="586581" y="1733550"/>
            <a:ext cx="5256213" cy="40005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a22eea334e54148"/>
          <a:stretch xmlns:a="http://schemas.openxmlformats.org/drawingml/2006/main"/>
        </p:blipFill>
        <p:spPr>
          <a:xfrm xmlns:a="http://schemas.openxmlformats.org/drawingml/2006/main">
            <a:off x="6381750" y="1770642"/>
            <a:ext cx="5238750" cy="3926317"/>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CF00037-2287-4A25-963C-C472C87DA09D}"/>
              </a:ext>
            </a:extLst>
          </p:cNvPr>
          <p:cNvSpPr>
            <a:spLocks xmlns:a="http://schemas.openxmlformats.org/drawingml/2006/main" noGrp="1"/>
          </p:cNvSpPr>
          <p:nvPr/>
        </p:nvSpPr>
        <p:spPr>
          <a:xfrm xmlns:a="http://schemas.openxmlformats.org/drawingml/2006/main">
            <a:off x="571500" y="59721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B0C0CE"/>
                </a:solidFill>
                <a:latin typeface="Arial"/>
                <a:ea typeface="Arial"/>
                <a:cs typeface="Arial"/>
              </a:defRPr>
            </a:pPr>
            <a:r>
              <a:rPr sz="1950" b="0">
                <a:solidFill>
                  <a:srgbClr val="B0C0CE"/>
                </a:solidFill>
                <a:latin typeface="Arial"/>
                <a:ea typeface="Arial"/>
                <a:cs typeface="Arial"/>
              </a:rPr>
              <a:t>Rancangan awal desktop • pencarian → detail → RSVP</a:t>
            </a:r>
          </a:p>
        </p:txBody>
      </p:sp>
    </p:spTree>
    <p:extLst>
      <p:ext uri="{BB962C8B-B14F-4D97-AF65-F5344CB8AC3E}">
        <p14:creationId xmlns:p14="http://schemas.microsoft.com/office/powerpoint/2010/main" val="1475972359"/>
      </p:ext>
    </p:extLst>
  </p:cSld>
</p:sld>
</file>

<file path=ppt/slides/slide15.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8b0557bf80f48e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0F3F09B-3128-483A-BA61-C0A3871D5944}"/>
              </a:ext>
            </a:extLst>
          </p:cNvPr>
          <p:cNvSpPr>
            <a:spLocks xmlns:a="http://schemas.openxmlformats.org/drawingml/2006/main" noGrp="1"/>
          </p:cNvSpPr>
          <p:nvPr/>
        </p:nvSpPr>
        <p:spPr>
          <a:xfrm xmlns:a="http://schemas.openxmlformats.org/drawingml/2006/main">
            <a:off x="5715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Figma • Dashboard dan kalender</a:t>
            </a:r>
          </a:p>
        </p:txBody>
      </p:sp>
      <p:sp>
        <p:nvSpPr>
          <p:cNvPr id="3" name="">
            <a:extLst xmlns:a="http://schemas.openxmlformats.org/drawingml/2006/main">
              <a:ext uri="{FF2B5EF4-FFF2-40B4-BE49-F238E27FC236}">
                <a16:creationId xmlns:a16="http://schemas.microsoft.com/office/drawing/2014/main" id="{6B48DCDF-9A05-46D5-A062-9FF475B6720F}"/>
              </a:ext>
            </a:extLst>
          </p:cNvPr>
          <p:cNvSpPr>
            <a:spLocks xmlns:a="http://schemas.openxmlformats.org/drawingml/2006/main" noGrp="1"/>
          </p:cNvSpPr>
          <p:nvPr/>
        </p:nvSpPr>
        <p:spPr>
          <a:xfrm xmlns:a="http://schemas.openxmlformats.org/drawingml/2006/main">
            <a:off x="1123950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B0C0CE"/>
                </a:solidFill>
                <a:latin typeface="Arial"/>
                <a:ea typeface="Arial"/>
                <a:cs typeface="Arial"/>
              </a:defRPr>
            </a:pPr>
            <a:r>
              <a:rPr sz="1125" b="0">
                <a:solidFill>
                  <a:srgbClr val="B0C0CE"/>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618FC9AF-F3BF-4CEE-8CC9-BBAFFEFC3463}"/>
              </a:ext>
            </a:extLst>
          </p:cNvPr>
          <p:cNvSpPr>
            <a:spLocks xmlns:a="http://schemas.openxmlformats.org/drawingml/2006/main" noGrp="1"/>
          </p:cNvSpPr>
          <p:nvPr/>
        </p:nvSpPr>
        <p:spPr>
          <a:xfrm xmlns:a="http://schemas.openxmlformats.org/drawingml/2006/main">
            <a:off x="571500" y="1238250"/>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FFA56E"/>
                </a:solidFill>
                <a:latin typeface="Arial"/>
                <a:ea typeface="Arial"/>
                <a:cs typeface="Arial"/>
              </a:defRPr>
            </a:pPr>
            <a:r>
              <a:rPr sz="2100" b="1">
                <a:solidFill>
                  <a:srgbClr val="FFA56E"/>
                </a:solidFill>
                <a:latin typeface="Arial"/>
                <a:ea typeface="Arial"/>
                <a:cs typeface="Arial"/>
              </a:rPr>
              <a:t>Dashboard mahasiswa</a:t>
            </a:r>
          </a:p>
        </p:txBody>
      </p:sp>
      <p:sp>
        <p:nvSpPr>
          <p:cNvPr id="5" name="">
            <a:extLst xmlns:a="http://schemas.openxmlformats.org/drawingml/2006/main">
              <a:ext uri="{FF2B5EF4-FFF2-40B4-BE49-F238E27FC236}">
                <a16:creationId xmlns:a16="http://schemas.microsoft.com/office/drawing/2014/main" id="{15606DDF-39D3-49D9-AEA7-CEF09574942B}"/>
              </a:ext>
            </a:extLst>
          </p:cNvPr>
          <p:cNvSpPr>
            <a:spLocks xmlns:a="http://schemas.openxmlformats.org/drawingml/2006/main" noGrp="1"/>
          </p:cNvSpPr>
          <p:nvPr/>
        </p:nvSpPr>
        <p:spPr>
          <a:xfrm xmlns:a="http://schemas.openxmlformats.org/drawingml/2006/main">
            <a:off x="6381750" y="1238250"/>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FFA56E"/>
                </a:solidFill>
                <a:latin typeface="Arial"/>
                <a:ea typeface="Arial"/>
                <a:cs typeface="Arial"/>
              </a:defRPr>
            </a:pPr>
            <a:r>
              <a:rPr sz="2100" b="1">
                <a:solidFill>
                  <a:srgbClr val="FFA56E"/>
                </a:solidFill>
                <a:latin typeface="Arial"/>
                <a:ea typeface="Arial"/>
                <a:cs typeface="Arial"/>
              </a:rPr>
              <a:t>Calendar</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d9deb4cb6c345e5"/>
          <a:stretch xmlns:a="http://schemas.openxmlformats.org/drawingml/2006/main"/>
        </p:blipFill>
        <p:spPr>
          <a:xfrm xmlns:a="http://schemas.openxmlformats.org/drawingml/2006/main">
            <a:off x="571500" y="1740304"/>
            <a:ext cx="5286375" cy="3986993"/>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1d12342eefe4d2e"/>
          <a:stretch xmlns:a="http://schemas.openxmlformats.org/drawingml/2006/main"/>
        </p:blipFill>
        <p:spPr>
          <a:xfrm xmlns:a="http://schemas.openxmlformats.org/drawingml/2006/main">
            <a:off x="6381750" y="1764469"/>
            <a:ext cx="5238750" cy="3938662"/>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387D6E7-2756-47B7-A4BF-CF8DACF2B622}"/>
              </a:ext>
            </a:extLst>
          </p:cNvPr>
          <p:cNvSpPr>
            <a:spLocks xmlns:a="http://schemas.openxmlformats.org/drawingml/2006/main" noGrp="1"/>
          </p:cNvSpPr>
          <p:nvPr/>
        </p:nvSpPr>
        <p:spPr>
          <a:xfrm xmlns:a="http://schemas.openxmlformats.org/drawingml/2006/main">
            <a:off x="571500" y="59721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B0C0CE"/>
                </a:solidFill>
                <a:latin typeface="Arial"/>
                <a:ea typeface="Arial"/>
                <a:cs typeface="Arial"/>
              </a:defRPr>
            </a:pPr>
            <a:r>
              <a:rPr sz="1950" b="0">
                <a:solidFill>
                  <a:srgbClr val="B0C0CE"/>
                </a:solidFill>
                <a:latin typeface="Arial"/>
                <a:ea typeface="Arial"/>
                <a:cs typeface="Arial"/>
              </a:rPr>
              <a:t>Ringkasan kegiatan dan jadwal bulanan dalam rancangan Figma</a:t>
            </a:r>
          </a:p>
        </p:txBody>
      </p:sp>
    </p:spTree>
    <p:extLst>
      <p:ext uri="{BB962C8B-B14F-4D97-AF65-F5344CB8AC3E}">
        <p14:creationId xmlns:p14="http://schemas.microsoft.com/office/powerpoint/2010/main" val="1204323273"/>
      </p:ext>
    </p:extLst>
  </p:cSld>
</p:sld>
</file>

<file path=ppt/slides/slide16.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176744a61a34fb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9515DDC-BFDB-46A7-988D-A1BC3966F135}"/>
              </a:ext>
            </a:extLst>
          </p:cNvPr>
          <p:cNvSpPr>
            <a:spLocks xmlns:a="http://schemas.openxmlformats.org/drawingml/2006/main" noGrp="1"/>
          </p:cNvSpPr>
          <p:nvPr/>
        </p:nvSpPr>
        <p:spPr>
          <a:xfrm xmlns:a="http://schemas.openxmlformats.org/drawingml/2006/main">
            <a:off x="5715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Figma • Pengelolaan event</a:t>
            </a:r>
          </a:p>
        </p:txBody>
      </p:sp>
      <p:sp>
        <p:nvSpPr>
          <p:cNvPr id="3" name="">
            <a:extLst xmlns:a="http://schemas.openxmlformats.org/drawingml/2006/main">
              <a:ext uri="{FF2B5EF4-FFF2-40B4-BE49-F238E27FC236}">
                <a16:creationId xmlns:a16="http://schemas.microsoft.com/office/drawing/2014/main" id="{C576D600-8EC6-477D-9C81-35BC59355DE1}"/>
              </a:ext>
            </a:extLst>
          </p:cNvPr>
          <p:cNvSpPr>
            <a:spLocks xmlns:a="http://schemas.openxmlformats.org/drawingml/2006/main" noGrp="1"/>
          </p:cNvSpPr>
          <p:nvPr/>
        </p:nvSpPr>
        <p:spPr>
          <a:xfrm xmlns:a="http://schemas.openxmlformats.org/drawingml/2006/main">
            <a:off x="1123950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B0C0CE"/>
                </a:solidFill>
                <a:latin typeface="Arial"/>
                <a:ea typeface="Arial"/>
                <a:cs typeface="Arial"/>
              </a:defRPr>
            </a:pPr>
            <a:r>
              <a:rPr sz="1125" b="0">
                <a:solidFill>
                  <a:srgbClr val="B0C0CE"/>
                </a:solidFill>
                <a:latin typeface="Arial"/>
                <a:ea typeface="Arial"/>
                <a:cs typeface="Arial"/>
              </a:rPr>
              <a:t>16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ae44353ec4a4dbd"/>
          <a:stretch xmlns:a="http://schemas.openxmlformats.org/drawingml/2006/main"/>
        </p:blipFill>
        <p:spPr>
          <a:xfrm xmlns:a="http://schemas.openxmlformats.org/drawingml/2006/main">
            <a:off x="1158401" y="1352550"/>
            <a:ext cx="5931849" cy="4476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6366765-F770-4EED-BF49-82B41045B374}"/>
              </a:ext>
            </a:extLst>
          </p:cNvPr>
          <p:cNvSpPr>
            <a:spLocks xmlns:a="http://schemas.openxmlformats.org/drawingml/2006/main" noGrp="1"/>
          </p:cNvSpPr>
          <p:nvPr/>
        </p:nvSpPr>
        <p:spPr>
          <a:xfrm xmlns:a="http://schemas.openxmlformats.org/drawingml/2006/main">
            <a:off x="8096250" y="149542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Daftar dan tindakan</a:t>
            </a:r>
          </a:p>
        </p:txBody>
      </p:sp>
      <p:sp>
        <p:nvSpPr>
          <p:cNvPr id="6" name="">
            <a:extLst xmlns:a="http://schemas.openxmlformats.org/drawingml/2006/main">
              <a:ext uri="{FF2B5EF4-FFF2-40B4-BE49-F238E27FC236}">
                <a16:creationId xmlns:a16="http://schemas.microsoft.com/office/drawing/2014/main" id="{4A352825-F047-4685-938B-1D9566BF5F40}"/>
              </a:ext>
            </a:extLst>
          </p:cNvPr>
          <p:cNvSpPr>
            <a:spLocks xmlns:a="http://schemas.openxmlformats.org/drawingml/2006/main" noGrp="1"/>
          </p:cNvSpPr>
          <p:nvPr/>
        </p:nvSpPr>
        <p:spPr>
          <a:xfrm xmlns:a="http://schemas.openxmlformats.org/drawingml/2006/main">
            <a:off x="8096250" y="2286000"/>
            <a:ext cx="33813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DFE9F1"/>
                </a:solidFill>
                <a:latin typeface="Arial"/>
                <a:ea typeface="Arial"/>
                <a:cs typeface="Arial"/>
              </a:defRPr>
            </a:pPr>
            <a:r>
              <a:rPr sz="2100" b="0">
                <a:solidFill>
                  <a:srgbClr val="DFE9F1"/>
                </a:solidFill>
                <a:latin typeface="Arial"/>
                <a:ea typeface="Arial"/>
                <a:cs typeface="Arial"/>
              </a:rPr>
              <a:t>Pencarian, status, tambah, edit dan hapus pada mockup.</a:t>
            </a:r>
          </a:p>
        </p:txBody>
      </p:sp>
      <p:sp>
        <p:nvSpPr>
          <p:cNvPr id="7" name="">
            <a:extLst xmlns:a="http://schemas.openxmlformats.org/drawingml/2006/main">
              <a:ext uri="{FF2B5EF4-FFF2-40B4-BE49-F238E27FC236}">
                <a16:creationId xmlns:a16="http://schemas.microsoft.com/office/drawing/2014/main" id="{135ECBA1-0A1B-4AA8-B27F-B1DAEE6BEEED}"/>
              </a:ext>
            </a:extLst>
          </p:cNvPr>
          <p:cNvSpPr>
            <a:spLocks xmlns:a="http://schemas.openxmlformats.org/drawingml/2006/main" noGrp="1"/>
          </p:cNvSpPr>
          <p:nvPr/>
        </p:nvSpPr>
        <p:spPr>
          <a:xfrm xmlns:a="http://schemas.openxmlformats.org/drawingml/2006/main">
            <a:off x="8096250" y="3857625"/>
            <a:ext cx="338137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B0C0CE"/>
                </a:solidFill>
                <a:latin typeface="Arial"/>
                <a:ea typeface="Arial"/>
                <a:cs typeface="Arial"/>
              </a:defRPr>
            </a:pPr>
            <a:r>
              <a:rPr sz="1875" b="0">
                <a:solidFill>
                  <a:srgbClr val="B0C0CE"/>
                </a:solidFill>
                <a:latin typeface="Arial"/>
                <a:ea typeface="Arial"/>
                <a:cs typeface="Arial"/>
              </a:rPr>
              <a:t>Label desain awal dipertahankan. Izin dan status implementasi mengikuti SRS.</a:t>
            </a:r>
          </a:p>
        </p:txBody>
      </p:sp>
      <p:sp>
        <p:nvSpPr>
          <p:cNvPr id="8" name="">
            <a:extLst xmlns:a="http://schemas.openxmlformats.org/drawingml/2006/main">
              <a:ext uri="{FF2B5EF4-FFF2-40B4-BE49-F238E27FC236}">
                <a16:creationId xmlns:a16="http://schemas.microsoft.com/office/drawing/2014/main" id="{F51A3BE3-9CD4-4F16-8DD2-B702A39B0A4B}"/>
              </a:ext>
            </a:extLst>
          </p:cNvPr>
          <p:cNvSpPr>
            <a:spLocks xmlns:a="http://schemas.openxmlformats.org/drawingml/2006/main" noGrp="1"/>
          </p:cNvSpPr>
          <p:nvPr/>
        </p:nvSpPr>
        <p:spPr>
          <a:xfrm xmlns:a="http://schemas.openxmlformats.org/drawingml/2006/main">
            <a:off x="8096250" y="5410200"/>
            <a:ext cx="3476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00" b="0">
                <a:solidFill>
                  <a:srgbClr val="FFA56E"/>
                </a:solidFill>
                <a:latin typeface="Arial"/>
                <a:ea typeface="Arial"/>
                <a:cs typeface="Arial"/>
              </a:defRPr>
            </a:pPr>
            <a:r>
              <a:rPr sz="1800" u="sng">
                <a:solidFill>
                  <a:srgbClr val="FFA56E"/>
                </a:solidFill>
                <a:latin typeface="Arial"/>
                <a:ea typeface="Arial"/>
                <a:cs typeface="Arial"/>
                <a:hlinkClick xmlns:r="http://schemas.openxmlformats.org/officeDocument/2006/relationships" r:id="Rb6b142fddaab4a36"/>
              </a:rPr>
              <a:t>Buka desain Figma</a:t>
            </a:r>
          </a:p>
        </p:txBody>
      </p:sp>
      <p:sp>
        <p:nvSpPr>
          <p:cNvPr id="9" name="">
            <a:extLst xmlns:a="http://schemas.openxmlformats.org/drawingml/2006/main">
              <a:ext uri="{FF2B5EF4-FFF2-40B4-BE49-F238E27FC236}">
                <a16:creationId xmlns:a16="http://schemas.microsoft.com/office/drawing/2014/main" id="{C4C0685F-D914-4E6D-B305-731A5B522783}"/>
              </a:ext>
            </a:extLst>
          </p:cNvPr>
          <p:cNvSpPr>
            <a:spLocks xmlns:a="http://schemas.openxmlformats.org/drawingml/2006/main" noGrp="1"/>
          </p:cNvSpPr>
          <p:nvPr/>
        </p:nvSpPr>
        <p:spPr>
          <a:xfrm xmlns:a="http://schemas.openxmlformats.org/drawingml/2006/main">
            <a:off x="8096250" y="5867400"/>
            <a:ext cx="3476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00" b="0">
                <a:solidFill>
                  <a:srgbClr val="FFA56E"/>
                </a:solidFill>
                <a:latin typeface="Arial"/>
                <a:ea typeface="Arial"/>
                <a:cs typeface="Arial"/>
              </a:defRPr>
            </a:pPr>
            <a:r>
              <a:rPr sz="1800" u="sng">
                <a:solidFill>
                  <a:srgbClr val="FFA56E"/>
                </a:solidFill>
                <a:latin typeface="Arial"/>
                <a:ea typeface="Arial"/>
                <a:cs typeface="Arial"/>
                <a:hlinkClick xmlns:r="http://schemas.openxmlformats.org/officeDocument/2006/relationships" r:id="Rb39d8e97eba04ba7"/>
              </a:rPr>
              <a:t>Buka prototype</a:t>
            </a:r>
          </a:p>
        </p:txBody>
      </p:sp>
    </p:spTree>
    <p:extLst>
      <p:ext uri="{BB962C8B-B14F-4D97-AF65-F5344CB8AC3E}">
        <p14:creationId xmlns:p14="http://schemas.microsoft.com/office/powerpoint/2010/main" val="534149407"/>
      </p:ext>
    </p:extLst>
  </p:cSld>
</p:sld>
</file>

<file path=ppt/slides/slide17.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adc4813a8694e9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9ED7F40-541E-4E22-9B9C-3E3096528728}"/>
              </a:ext>
            </a:extLst>
          </p:cNvPr>
          <p:cNvSpPr>
            <a:spLocks xmlns:a="http://schemas.openxmlformats.org/drawingml/2006/main" noGrp="1"/>
          </p:cNvSpPr>
          <p:nvPr/>
        </p:nvSpPr>
        <p:spPr>
          <a:xfrm xmlns:a="http://schemas.openxmlformats.org/drawingml/2006/main">
            <a:off x="5715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Progres aktual sampai Minggu 8</a:t>
            </a:r>
          </a:p>
        </p:txBody>
      </p:sp>
      <p:sp>
        <p:nvSpPr>
          <p:cNvPr id="3" name="">
            <a:extLst xmlns:a="http://schemas.openxmlformats.org/drawingml/2006/main">
              <a:ext uri="{FF2B5EF4-FFF2-40B4-BE49-F238E27FC236}">
                <a16:creationId xmlns:a16="http://schemas.microsoft.com/office/drawing/2014/main" id="{641A7AA5-0A90-4A4A-9B4A-A4EC735583FD}"/>
              </a:ext>
            </a:extLst>
          </p:cNvPr>
          <p:cNvSpPr>
            <a:spLocks xmlns:a="http://schemas.openxmlformats.org/drawingml/2006/main" noGrp="1"/>
          </p:cNvSpPr>
          <p:nvPr/>
        </p:nvSpPr>
        <p:spPr>
          <a:xfrm xmlns:a="http://schemas.openxmlformats.org/drawingml/2006/main">
            <a:off x="1123950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B0C0CE"/>
                </a:solidFill>
                <a:latin typeface="Arial"/>
                <a:ea typeface="Arial"/>
                <a:cs typeface="Arial"/>
              </a:defRPr>
            </a:pPr>
            <a:r>
              <a:rPr sz="1125" b="0">
                <a:solidFill>
                  <a:srgbClr val="B0C0CE"/>
                </a:solidFill>
                <a:latin typeface="Arial"/>
                <a:ea typeface="Arial"/>
                <a:cs typeface="Arial"/>
              </a:rPr>
              <a:t>17</a:t>
            </a:r>
          </a:p>
        </p:txBody>
      </p:sp>
      <p:graphicFrame>
        <p:nvGraphicFramePr>
          <p:cNvPr id="11" name=""/>
          <p:cNvGraphicFramePr/>
          <p:nvPr/>
        </p:nvGraphicFramePr>
        <p:xfrm>
          <a:off xmlns:a="http://schemas.openxmlformats.org/drawingml/2006/main" x="571500" y="1438275"/>
          <a:ext xmlns:a="http://schemas.openxmlformats.org/drawingml/2006/main" cx="11049000" cy="3762375"/>
        </p:xfrm>
        <a:graphic xmlns:a="http://schemas.openxmlformats.org/drawingml/2006/main">
          <a:graphicData uri="http://schemas.openxmlformats.org/drawingml/2006/table">
            <a:tbl>
              <a:tblPr/>
              <a:tblGrid>
                <a:gridCol w="1619250"/>
                <a:gridCol w="5715000"/>
                <a:gridCol w="3714750"/>
              </a:tblGrid>
              <a:tr h="752475">
                <a:tc>
                  <a:txBody>
                    <a:bodyPr>
                      <a:noAutofit/>
                    </a:bodyPr>
                    <a:lstStyle/>
                    <a:p>
                      <a:r>
                        <a:rPr sz="1950" b="1">
                          <a:solidFill>
                            <a:srgbClr val="FFD0AB"/>
                          </a:solidFill>
                          <a:latin typeface="Arial"/>
                          <a:ea typeface="Arial"/>
                          <a:cs typeface="Arial"/>
                        </a:rPr>
                        <a:t>Minggu</a:t>
                      </a:r>
                    </a:p>
                  </a:txBody>
                  <a:tcPr marL="91440" marR="91440" marT="45720" marB="45720">
                    <a:solidFill>
                      <a:srgbClr val="3B566E"/>
                    </a:solidFill>
                  </a:tcPr>
                </a:tc>
                <a:tc>
                  <a:txBody>
                    <a:bodyPr>
                      <a:noAutofit/>
                    </a:bodyPr>
                    <a:lstStyle/>
                    <a:p>
                      <a:r>
                        <a:rPr sz="1950" b="1">
                          <a:solidFill>
                            <a:srgbClr val="FFD0AB"/>
                          </a:solidFill>
                          <a:latin typeface="Arial"/>
                          <a:ea typeface="Arial"/>
                          <a:cs typeface="Arial"/>
                        </a:rPr>
                        <a:t>Bukti tersedia</a:t>
                      </a:r>
                    </a:p>
                  </a:txBody>
                  <a:tcPr marL="91440" marR="91440" marT="45720" marB="45720">
                    <a:solidFill>
                      <a:srgbClr val="3B566E"/>
                    </a:solidFill>
                  </a:tcPr>
                </a:tc>
                <a:tc>
                  <a:txBody>
                    <a:bodyPr>
                      <a:noAutofit/>
                    </a:bodyPr>
                    <a:lstStyle/>
                    <a:p>
                      <a:r>
                        <a:rPr sz="1950" b="1">
                          <a:solidFill>
                            <a:srgbClr val="FFD0AB"/>
                          </a:solidFill>
                          <a:latin typeface="Arial"/>
                          <a:ea typeface="Arial"/>
                          <a:cs typeface="Arial"/>
                        </a:rPr>
                        <a:t>Status paket</a:t>
                      </a:r>
                    </a:p>
                  </a:txBody>
                  <a:tcPr marL="91440" marR="91440" marT="45720" marB="45720">
                    <a:solidFill>
                      <a:srgbClr val="3B566E"/>
                    </a:solidFill>
                  </a:tcPr>
                </a:tc>
              </a:tr>
              <a:tr h="752475">
                <a:tc>
                  <a:txBody>
                    <a:bodyPr>
                      <a:noAutofit/>
                    </a:bodyPr>
                    <a:lstStyle/>
                    <a:p>
                      <a:r>
                        <a:rPr sz="1950" b="0">
                          <a:solidFill>
                            <a:srgbClr val="DFE9F1"/>
                          </a:solidFill>
                          <a:latin typeface="Arial"/>
                          <a:ea typeface="Arial"/>
                          <a:cs typeface="Arial"/>
                        </a:rPr>
                        <a:t>1–4</a:t>
                      </a:r>
                    </a:p>
                  </a:txBody>
                  <a:tcPr marL="91440" marR="91440" marT="45720" marB="45720">
                    <a:solidFill>
                      <a:srgbClr val="203B54"/>
                    </a:solidFill>
                  </a:tcPr>
                </a:tc>
                <a:tc>
                  <a:txBody>
                    <a:bodyPr>
                      <a:noAutofit/>
                    </a:bodyPr>
                    <a:lstStyle/>
                    <a:p>
                      <a:r>
                        <a:rPr sz="1950" b="0">
                          <a:solidFill>
                            <a:srgbClr val="DFE9F1"/>
                          </a:solidFill>
                          <a:latin typeface="Arial"/>
                          <a:ea typeface="Arial"/>
                          <a:cs typeface="Arial"/>
                        </a:rPr>
                        <a:t>Charter, SDLC, SRS, story, backlog</a:t>
                      </a:r>
                    </a:p>
                  </a:txBody>
                  <a:tcPr marL="91440" marR="91440" marT="45720" marB="45720">
                    <a:solidFill>
                      <a:srgbClr val="203B54"/>
                    </a:solidFill>
                  </a:tcPr>
                </a:tc>
                <a:tc>
                  <a:txBody>
                    <a:bodyPr>
                      <a:noAutofit/>
                    </a:bodyPr>
                    <a:lstStyle/>
                    <a:p>
                      <a:r>
                        <a:rPr sz="1950" b="0">
                          <a:solidFill>
                            <a:srgbClr val="DFE9F1"/>
                          </a:solidFill>
                          <a:latin typeface="Arial"/>
                          <a:ea typeface="Arial"/>
                          <a:cs typeface="Arial"/>
                        </a:rPr>
                        <a:t>Dokumen tersedia</a:t>
                      </a:r>
                    </a:p>
                  </a:txBody>
                  <a:tcPr marL="91440" marR="91440" marT="45720" marB="45720">
                    <a:solidFill>
                      <a:srgbClr val="203B54"/>
                    </a:solidFill>
                  </a:tcPr>
                </a:tc>
              </a:tr>
              <a:tr h="752475">
                <a:tc>
                  <a:txBody>
                    <a:bodyPr>
                      <a:noAutofit/>
                    </a:bodyPr>
                    <a:lstStyle/>
                    <a:p>
                      <a:r>
                        <a:rPr sz="1950" b="0">
                          <a:solidFill>
                            <a:srgbClr val="DFE9F1"/>
                          </a:solidFill>
                          <a:latin typeface="Arial"/>
                          <a:ea typeface="Arial"/>
                          <a:cs typeface="Arial"/>
                        </a:rPr>
                        <a:t>5</a:t>
                      </a:r>
                    </a:p>
                  </a:txBody>
                  <a:tcPr marL="91440" marR="91440" marT="45720" marB="45720">
                    <a:solidFill>
                      <a:srgbClr val="29475F"/>
                    </a:solidFill>
                  </a:tcPr>
                </a:tc>
                <a:tc>
                  <a:txBody>
                    <a:bodyPr>
                      <a:noAutofit/>
                    </a:bodyPr>
                    <a:lstStyle/>
                    <a:p>
                      <a:r>
                        <a:rPr sz="1950" b="0">
                          <a:solidFill>
                            <a:srgbClr val="DFE9F1"/>
                          </a:solidFill>
                          <a:latin typeface="Arial"/>
                          <a:ea typeface="Arial"/>
                          <a:cs typeface="Arial"/>
                        </a:rPr>
                        <a:t>Activity diagram dan ERD draft</a:t>
                      </a:r>
                    </a:p>
                  </a:txBody>
                  <a:tcPr marL="91440" marR="91440" marT="45720" marB="45720">
                    <a:solidFill>
                      <a:srgbClr val="29475F"/>
                    </a:solidFill>
                  </a:tcPr>
                </a:tc>
                <a:tc>
                  <a:txBody>
                    <a:bodyPr>
                      <a:noAutofit/>
                    </a:bodyPr>
                    <a:lstStyle/>
                    <a:p>
                      <a:r>
                        <a:rPr sz="1950" b="0">
                          <a:solidFill>
                            <a:srgbClr val="DFE9F1"/>
                          </a:solidFill>
                          <a:latin typeface="Arial"/>
                          <a:ea typeface="Arial"/>
                          <a:cs typeface="Arial"/>
                        </a:rPr>
                        <a:t>Use case final belum ditemukan</a:t>
                      </a:r>
                    </a:p>
                  </a:txBody>
                  <a:tcPr marL="91440" marR="91440" marT="45720" marB="45720">
                    <a:solidFill>
                      <a:srgbClr val="29475F"/>
                    </a:solidFill>
                  </a:tcPr>
                </a:tc>
              </a:tr>
              <a:tr h="752475">
                <a:tc>
                  <a:txBody>
                    <a:bodyPr>
                      <a:noAutofit/>
                    </a:bodyPr>
                    <a:lstStyle/>
                    <a:p>
                      <a:r>
                        <a:rPr sz="1950" b="0">
                          <a:solidFill>
                            <a:srgbClr val="DFE9F1"/>
                          </a:solidFill>
                          <a:latin typeface="Arial"/>
                          <a:ea typeface="Arial"/>
                          <a:cs typeface="Arial"/>
                        </a:rPr>
                        <a:t>6–7</a:t>
                      </a:r>
                    </a:p>
                  </a:txBody>
                  <a:tcPr marL="91440" marR="91440" marT="45720" marB="45720">
                    <a:solidFill>
                      <a:srgbClr val="203B54"/>
                    </a:solidFill>
                  </a:tcPr>
                </a:tc>
                <a:tc>
                  <a:txBody>
                    <a:bodyPr>
                      <a:noAutofit/>
                    </a:bodyPr>
                    <a:lstStyle/>
                    <a:p>
                      <a:r>
                        <a:rPr sz="1950" b="0">
                          <a:solidFill>
                            <a:srgbClr val="DFE9F1"/>
                          </a:solidFill>
                          <a:latin typeface="Arial"/>
                          <a:ea typeface="Arial"/>
                          <a:cs typeface="Arial"/>
                        </a:rPr>
                        <a:t>Arsitektur, UML, pattern, Figma</a:t>
                      </a:r>
                    </a:p>
                  </a:txBody>
                  <a:tcPr marL="91440" marR="91440" marT="45720" marB="45720">
                    <a:solidFill>
                      <a:srgbClr val="203B54"/>
                    </a:solidFill>
                  </a:tcPr>
                </a:tc>
                <a:tc>
                  <a:txBody>
                    <a:bodyPr>
                      <a:noAutofit/>
                    </a:bodyPr>
                    <a:lstStyle/>
                    <a:p>
                      <a:r>
                        <a:rPr sz="1950" b="0">
                          <a:solidFill>
                            <a:srgbClr val="DFE9F1"/>
                          </a:solidFill>
                          <a:latin typeface="Arial"/>
                          <a:ea typeface="Arial"/>
                          <a:cs typeface="Arial"/>
                        </a:rPr>
                        <a:t>Rancangan tersedia</a:t>
                      </a:r>
                    </a:p>
                  </a:txBody>
                  <a:tcPr marL="91440" marR="91440" marT="45720" marB="45720">
                    <a:solidFill>
                      <a:srgbClr val="203B54"/>
                    </a:solidFill>
                  </a:tcPr>
                </a:tc>
              </a:tr>
              <a:tr h="752475">
                <a:tc>
                  <a:txBody>
                    <a:bodyPr>
                      <a:noAutofit/>
                    </a:bodyPr>
                    <a:lstStyle/>
                    <a:p>
                      <a:r>
                        <a:rPr sz="1950" b="0">
                          <a:solidFill>
                            <a:srgbClr val="DFE9F1"/>
                          </a:solidFill>
                          <a:latin typeface="Arial"/>
                          <a:ea typeface="Arial"/>
                          <a:cs typeface="Arial"/>
                        </a:rPr>
                        <a:t>8</a:t>
                      </a:r>
                    </a:p>
                  </a:txBody>
                  <a:tcPr marL="91440" marR="91440" marT="45720" marB="45720">
                    <a:solidFill>
                      <a:srgbClr val="29475F"/>
                    </a:solidFill>
                  </a:tcPr>
                </a:tc>
                <a:tc>
                  <a:txBody>
                    <a:bodyPr>
                      <a:noAutofit/>
                    </a:bodyPr>
                    <a:lstStyle/>
                    <a:p>
                      <a:r>
                        <a:rPr sz="1950" b="0">
                          <a:solidFill>
                            <a:srgbClr val="DFE9F1"/>
                          </a:solidFill>
                          <a:latin typeface="Arial"/>
                          <a:ea typeface="Arial"/>
                          <a:cs typeface="Arial"/>
                        </a:rPr>
                        <a:t>Laporan LaTeX dan PPT kelompok</a:t>
                      </a:r>
                    </a:p>
                  </a:txBody>
                  <a:tcPr marL="91440" marR="91440" marT="45720" marB="45720">
                    <a:solidFill>
                      <a:srgbClr val="29475F"/>
                    </a:solidFill>
                  </a:tcPr>
                </a:tc>
                <a:tc>
                  <a:txBody>
                    <a:bodyPr>
                      <a:noAutofit/>
                    </a:bodyPr>
                    <a:lstStyle/>
                    <a:p>
                      <a:r>
                        <a:rPr sz="1950" b="0">
                          <a:solidFill>
                            <a:srgbClr val="DFE9F1"/>
                          </a:solidFill>
                          <a:latin typeface="Arial"/>
                          <a:ea typeface="Arial"/>
                          <a:cs typeface="Arial"/>
                        </a:rPr>
                        <a:t>Analisis individu belum lengkap</a:t>
                      </a:r>
                    </a:p>
                  </a:txBody>
                  <a:tcPr marL="91440" marR="91440" marT="45720" marB="45720">
                    <a:solidFill>
                      <a:srgbClr val="29475F"/>
                    </a:solidFill>
                  </a:tcPr>
                </a:tc>
              </a:tr>
            </a:tbl>
          </a:graphicData>
        </a:graphic>
      </p:graphicFrame>
      <p:sp>
        <p:nvSpPr>
          <p:cNvPr id="5" name="">
            <a:extLst xmlns:a="http://schemas.openxmlformats.org/drawingml/2006/main">
              <a:ext uri="{FF2B5EF4-FFF2-40B4-BE49-F238E27FC236}">
                <a16:creationId xmlns:a16="http://schemas.microsoft.com/office/drawing/2014/main" id="{8A5213CB-637C-49F6-B9A7-7D5CB472A25C}"/>
              </a:ext>
            </a:extLst>
          </p:cNvPr>
          <p:cNvSpPr>
            <a:spLocks xmlns:a="http://schemas.openxmlformats.org/drawingml/2006/main" noGrp="1"/>
          </p:cNvSpPr>
          <p:nvPr/>
        </p:nvSpPr>
        <p:spPr>
          <a:xfrm xmlns:a="http://schemas.openxmlformats.org/drawingml/2006/main">
            <a:off x="571500" y="56007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325" b="1">
                <a:solidFill>
                  <a:srgbClr val="FFA56E"/>
                </a:solidFill>
                <a:latin typeface="Arial"/>
                <a:ea typeface="Arial"/>
                <a:cs typeface="Arial"/>
              </a:defRPr>
            </a:pPr>
            <a:r>
              <a:rPr sz="2325" b="1">
                <a:solidFill>
                  <a:srgbClr val="FFA56E"/>
                </a:solidFill>
                <a:latin typeface="Arial"/>
                <a:ea typeface="Arial"/>
                <a:cs typeface="Arial"/>
              </a:rPr>
              <a:t>Tidak ada kendala yang dilaporkan sampai Minggu 8.</a:t>
            </a:r>
          </a:p>
        </p:txBody>
      </p:sp>
    </p:spTree>
    <p:extLst>
      <p:ext uri="{BB962C8B-B14F-4D97-AF65-F5344CB8AC3E}">
        <p14:creationId xmlns:p14="http://schemas.microsoft.com/office/powerpoint/2010/main" val="1735194376"/>
      </p:ext>
    </p:extLst>
  </p:cSld>
</p:sld>
</file>

<file path=ppt/slides/slide18.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b51dc9dfd3e4c5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B9A2A9F-3DCD-426D-8563-4EF476FD1AF8}"/>
              </a:ext>
            </a:extLst>
          </p:cNvPr>
          <p:cNvSpPr>
            <a:spLocks xmlns:a="http://schemas.openxmlformats.org/drawingml/2006/main" noGrp="1"/>
          </p:cNvSpPr>
          <p:nvPr/>
        </p:nvSpPr>
        <p:spPr>
          <a:xfrm xmlns:a="http://schemas.openxmlformats.org/drawingml/2006/main">
            <a:off x="5715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Rencana setelah UTS menuju UAS</a:t>
            </a:r>
          </a:p>
        </p:txBody>
      </p:sp>
      <p:sp>
        <p:nvSpPr>
          <p:cNvPr id="3" name="">
            <a:extLst xmlns:a="http://schemas.openxmlformats.org/drawingml/2006/main">
              <a:ext uri="{FF2B5EF4-FFF2-40B4-BE49-F238E27FC236}">
                <a16:creationId xmlns:a16="http://schemas.microsoft.com/office/drawing/2014/main" id="{00A71042-FB27-48CB-A4C8-423CE437D188}"/>
              </a:ext>
            </a:extLst>
          </p:cNvPr>
          <p:cNvSpPr>
            <a:spLocks xmlns:a="http://schemas.openxmlformats.org/drawingml/2006/main" noGrp="1"/>
          </p:cNvSpPr>
          <p:nvPr/>
        </p:nvSpPr>
        <p:spPr>
          <a:xfrm xmlns:a="http://schemas.openxmlformats.org/drawingml/2006/main">
            <a:off x="1123950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B0C0CE"/>
                </a:solidFill>
                <a:latin typeface="Arial"/>
                <a:ea typeface="Arial"/>
                <a:cs typeface="Arial"/>
              </a:defRPr>
            </a:pPr>
            <a:r>
              <a:rPr sz="1125" b="0">
                <a:solidFill>
                  <a:srgbClr val="B0C0CE"/>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1BE1EA6A-EF50-4990-8A45-2AD6F0C53835}"/>
              </a:ext>
            </a:extLst>
          </p:cNvPr>
          <p:cNvSpPr>
            <a:spLocks xmlns:a="http://schemas.openxmlformats.org/drawingml/2006/main" noGrp="1"/>
          </p:cNvSpPr>
          <p:nvPr/>
        </p:nvSpPr>
        <p:spPr>
          <a:xfrm xmlns:a="http://schemas.openxmlformats.org/drawingml/2006/main">
            <a:off x="571500" y="14097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Minggu 9–13 • Implementasi</a:t>
            </a:r>
          </a:p>
        </p:txBody>
      </p:sp>
      <p:sp>
        <p:nvSpPr>
          <p:cNvPr id="5" name="">
            <a:extLst xmlns:a="http://schemas.openxmlformats.org/drawingml/2006/main">
              <a:ext uri="{FF2B5EF4-FFF2-40B4-BE49-F238E27FC236}">
                <a16:creationId xmlns:a16="http://schemas.microsoft.com/office/drawing/2014/main" id="{82F3FB88-45EB-4866-BA39-C2814F3EEC0D}"/>
              </a:ext>
            </a:extLst>
          </p:cNvPr>
          <p:cNvSpPr>
            <a:spLocks xmlns:a="http://schemas.openxmlformats.org/drawingml/2006/main" noGrp="1"/>
          </p:cNvSpPr>
          <p:nvPr/>
        </p:nvSpPr>
        <p:spPr>
          <a:xfrm xmlns:a="http://schemas.openxmlformats.org/drawingml/2006/main">
            <a:off x="571500" y="187642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Siapkan database, bangun alur Must dan integrasikan frontend dengan API.</a:t>
            </a:r>
          </a:p>
        </p:txBody>
      </p:sp>
      <p:sp>
        <p:nvSpPr>
          <p:cNvPr id="6" name="">
            <a:extLst xmlns:a="http://schemas.openxmlformats.org/drawingml/2006/main">
              <a:ext uri="{FF2B5EF4-FFF2-40B4-BE49-F238E27FC236}">
                <a16:creationId xmlns:a16="http://schemas.microsoft.com/office/drawing/2014/main" id="{2D2FBBB4-13A7-43B8-8A24-5B499F987D23}"/>
              </a:ext>
            </a:extLst>
          </p:cNvPr>
          <p:cNvSpPr>
            <a:spLocks xmlns:a="http://schemas.openxmlformats.org/drawingml/2006/main" noGrp="1"/>
          </p:cNvSpPr>
          <p:nvPr/>
        </p:nvSpPr>
        <p:spPr>
          <a:xfrm xmlns:a="http://schemas.openxmlformats.org/drawingml/2006/main">
            <a:off x="571500" y="29527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Minggu 14–16 • Validasi dan UAS</a:t>
            </a:r>
          </a:p>
        </p:txBody>
      </p:sp>
      <p:sp>
        <p:nvSpPr>
          <p:cNvPr id="7" name="">
            <a:extLst xmlns:a="http://schemas.openxmlformats.org/drawingml/2006/main">
              <a:ext uri="{FF2B5EF4-FFF2-40B4-BE49-F238E27FC236}">
                <a16:creationId xmlns:a16="http://schemas.microsoft.com/office/drawing/2014/main" id="{A6C67EE2-F816-4CBB-AEEC-E9B7F30F68C3}"/>
              </a:ext>
            </a:extLst>
          </p:cNvPr>
          <p:cNvSpPr>
            <a:spLocks xmlns:a="http://schemas.openxmlformats.org/drawingml/2006/main" noGrp="1"/>
          </p:cNvSpPr>
          <p:nvPr/>
        </p:nvSpPr>
        <p:spPr>
          <a:xfrm xmlns:a="http://schemas.openxmlformats.org/drawingml/2006/main">
            <a:off x="571500" y="3419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Pengujian sistem, UAT, deployment dan dokumentasi akhir.</a:t>
            </a:r>
          </a:p>
        </p:txBody>
      </p:sp>
      <p:sp>
        <p:nvSpPr>
          <p:cNvPr id="8" name="">
            <a:extLst xmlns:a="http://schemas.openxmlformats.org/drawingml/2006/main">
              <a:ext uri="{FF2B5EF4-FFF2-40B4-BE49-F238E27FC236}">
                <a16:creationId xmlns:a16="http://schemas.microsoft.com/office/drawing/2014/main" id="{55A7DB53-1A06-4A93-813F-39FF436393FD}"/>
              </a:ext>
            </a:extLst>
          </p:cNvPr>
          <p:cNvSpPr>
            <a:spLocks xmlns:a="http://schemas.openxmlformats.org/drawingml/2006/main" noGrp="1"/>
          </p:cNvSpPr>
          <p:nvPr/>
        </p:nvSpPr>
        <p:spPr>
          <a:xfrm xmlns:a="http://schemas.openxmlformats.org/drawingml/2006/main">
            <a:off x="571500" y="44958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Risiko yang diantisipasi</a:t>
            </a:r>
          </a:p>
        </p:txBody>
      </p:sp>
      <p:sp>
        <p:nvSpPr>
          <p:cNvPr id="9" name="">
            <a:extLst xmlns:a="http://schemas.openxmlformats.org/drawingml/2006/main">
              <a:ext uri="{FF2B5EF4-FFF2-40B4-BE49-F238E27FC236}">
                <a16:creationId xmlns:a16="http://schemas.microsoft.com/office/drawing/2014/main" id="{A3ECBD5A-558F-417F-8814-5CEF827D8515}"/>
              </a:ext>
            </a:extLst>
          </p:cNvPr>
          <p:cNvSpPr>
            <a:spLocks xmlns:a="http://schemas.openxmlformats.org/drawingml/2006/main" noGrp="1"/>
          </p:cNvSpPr>
          <p:nvPr/>
        </p:nvSpPr>
        <p:spPr>
          <a:xfrm xmlns:a="http://schemas.openxmlformats.org/drawingml/2006/main">
            <a:off x="571500" y="496252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Kuota bersamaan, akses lintas organisasi dan ketahanan notifikasi.</a:t>
            </a:r>
          </a:p>
        </p:txBody>
      </p:sp>
    </p:spTree>
    <p:extLst>
      <p:ext uri="{BB962C8B-B14F-4D97-AF65-F5344CB8AC3E}">
        <p14:creationId xmlns:p14="http://schemas.microsoft.com/office/powerpoint/2010/main" val="1142357900"/>
      </p:ext>
    </p:extLst>
  </p:cSld>
</p:sld>
</file>

<file path=ppt/slides/slide19.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8acbf317358462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6669927-9603-4DED-8FF9-868535BDB349}"/>
              </a:ext>
            </a:extLst>
          </p:cNvPr>
          <p:cNvSpPr>
            <a:spLocks xmlns:a="http://schemas.openxmlformats.org/drawingml/2006/main" noGrp="1"/>
          </p:cNvSpPr>
          <p:nvPr/>
        </p:nvSpPr>
        <p:spPr>
          <a:xfrm xmlns:a="http://schemas.openxmlformats.org/drawingml/2006/main">
            <a:off x="5715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Kesimpulan dan kelengkapan UTS</a:t>
            </a:r>
          </a:p>
        </p:txBody>
      </p:sp>
      <p:sp>
        <p:nvSpPr>
          <p:cNvPr id="3" name="">
            <a:extLst xmlns:a="http://schemas.openxmlformats.org/drawingml/2006/main">
              <a:ext uri="{FF2B5EF4-FFF2-40B4-BE49-F238E27FC236}">
                <a16:creationId xmlns:a16="http://schemas.microsoft.com/office/drawing/2014/main" id="{7B308499-4EE4-4C3A-9523-09F406C9B8BE}"/>
              </a:ext>
            </a:extLst>
          </p:cNvPr>
          <p:cNvSpPr>
            <a:spLocks xmlns:a="http://schemas.openxmlformats.org/drawingml/2006/main" noGrp="1"/>
          </p:cNvSpPr>
          <p:nvPr/>
        </p:nvSpPr>
        <p:spPr>
          <a:xfrm xmlns:a="http://schemas.openxmlformats.org/drawingml/2006/main">
            <a:off x="1123950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B0C0CE"/>
                </a:solidFill>
                <a:latin typeface="Arial"/>
                <a:ea typeface="Arial"/>
                <a:cs typeface="Arial"/>
              </a:defRPr>
            </a:pPr>
            <a:r>
              <a:rPr sz="1125" b="0">
                <a:solidFill>
                  <a:srgbClr val="B0C0CE"/>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48B451A9-DFA0-48FB-9B11-85D007B74E0B}"/>
              </a:ext>
            </a:extLst>
          </p:cNvPr>
          <p:cNvSpPr>
            <a:spLocks xmlns:a="http://schemas.openxmlformats.org/drawingml/2006/main" noGrp="1"/>
          </p:cNvSpPr>
          <p:nvPr/>
        </p:nvSpPr>
        <p:spPr>
          <a:xfrm xmlns:a="http://schemas.openxmlformats.org/drawingml/2006/main">
            <a:off x="571500" y="13811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Rancangan kelompok tersedia</a:t>
            </a:r>
          </a:p>
        </p:txBody>
      </p:sp>
      <p:sp>
        <p:nvSpPr>
          <p:cNvPr id="5" name="">
            <a:extLst xmlns:a="http://schemas.openxmlformats.org/drawingml/2006/main">
              <a:ext uri="{FF2B5EF4-FFF2-40B4-BE49-F238E27FC236}">
                <a16:creationId xmlns:a16="http://schemas.microsoft.com/office/drawing/2014/main" id="{0A36BE15-F6CC-4A0F-BADC-F72AF6E699B8}"/>
              </a:ext>
            </a:extLst>
          </p:cNvPr>
          <p:cNvSpPr>
            <a:spLocks xmlns:a="http://schemas.openxmlformats.org/drawingml/2006/main" noGrp="1"/>
          </p:cNvSpPr>
          <p:nvPr/>
        </p:nvSpPr>
        <p:spPr>
          <a:xfrm xmlns:a="http://schemas.openxmlformats.org/drawingml/2006/main">
            <a:off x="571500" y="184785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Kebutuhan, arsitektur, ERD, class diagram dan pattern mengacu SRS.</a:t>
            </a:r>
          </a:p>
        </p:txBody>
      </p:sp>
      <p:sp>
        <p:nvSpPr>
          <p:cNvPr id="6" name="">
            <a:extLst xmlns:a="http://schemas.openxmlformats.org/drawingml/2006/main">
              <a:ext uri="{FF2B5EF4-FFF2-40B4-BE49-F238E27FC236}">
                <a16:creationId xmlns:a16="http://schemas.microsoft.com/office/drawing/2014/main" id="{3A46C990-10A3-4793-8535-EBFF97391E8F}"/>
              </a:ext>
            </a:extLst>
          </p:cNvPr>
          <p:cNvSpPr>
            <a:spLocks xmlns:a="http://schemas.openxmlformats.org/drawingml/2006/main" noGrp="1"/>
          </p:cNvSpPr>
          <p:nvPr/>
        </p:nvSpPr>
        <p:spPr>
          <a:xfrm xmlns:a="http://schemas.openxmlformats.org/drawingml/2006/main">
            <a:off x="571500" y="29241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Keputusan database</a:t>
            </a:r>
          </a:p>
        </p:txBody>
      </p:sp>
      <p:sp>
        <p:nvSpPr>
          <p:cNvPr id="7" name="">
            <a:extLst xmlns:a="http://schemas.openxmlformats.org/drawingml/2006/main">
              <a:ext uri="{FF2B5EF4-FFF2-40B4-BE49-F238E27FC236}">
                <a16:creationId xmlns:a16="http://schemas.microsoft.com/office/drawing/2014/main" id="{C1B6E659-2579-4BE7-889D-34E02A9A5EB0}"/>
              </a:ext>
            </a:extLst>
          </p:cNvPr>
          <p:cNvSpPr>
            <a:spLocks xmlns:a="http://schemas.openxmlformats.org/drawingml/2006/main" noGrp="1"/>
          </p:cNvSpPr>
          <p:nvPr/>
        </p:nvSpPr>
        <p:spPr>
          <a:xfrm xmlns:a="http://schemas.openxmlformats.org/drawingml/2006/main">
            <a:off x="571500" y="339090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PostgreSQL; pelaksanaan UTS dibatasi sampai Minggu 8.</a:t>
            </a:r>
          </a:p>
        </p:txBody>
      </p:sp>
      <p:sp>
        <p:nvSpPr>
          <p:cNvPr id="8" name="">
            <a:extLst xmlns:a="http://schemas.openxmlformats.org/drawingml/2006/main">
              <a:ext uri="{FF2B5EF4-FFF2-40B4-BE49-F238E27FC236}">
                <a16:creationId xmlns:a16="http://schemas.microsoft.com/office/drawing/2014/main" id="{C91E9CB0-B722-4CE7-BBC2-BD58F542275D}"/>
              </a:ext>
            </a:extLst>
          </p:cNvPr>
          <p:cNvSpPr>
            <a:spLocks xmlns:a="http://schemas.openxmlformats.org/drawingml/2006/main" noGrp="1"/>
          </p:cNvSpPr>
          <p:nvPr/>
        </p:nvSpPr>
        <p:spPr>
          <a:xfrm xmlns:a="http://schemas.openxmlformats.org/drawingml/2006/main">
            <a:off x="571500" y="44672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FFA56E"/>
                </a:solidFill>
                <a:latin typeface="Arial"/>
                <a:ea typeface="Arial"/>
                <a:cs typeface="Arial"/>
              </a:defRPr>
            </a:pPr>
            <a:r>
              <a:rPr sz="2250" b="1">
                <a:solidFill>
                  <a:srgbClr val="FFA56E"/>
                </a:solidFill>
                <a:latin typeface="Arial"/>
                <a:ea typeface="Arial"/>
                <a:cs typeface="Arial"/>
              </a:rPr>
              <a:t>Dua bagian isi belum lengkap</a:t>
            </a:r>
          </a:p>
        </p:txBody>
      </p:sp>
      <p:sp>
        <p:nvSpPr>
          <p:cNvPr id="9" name="">
            <a:extLst xmlns:a="http://schemas.openxmlformats.org/drawingml/2006/main">
              <a:ext uri="{FF2B5EF4-FFF2-40B4-BE49-F238E27FC236}">
                <a16:creationId xmlns:a16="http://schemas.microsoft.com/office/drawing/2014/main" id="{FB09A584-9880-4495-A800-CEF2DC2DEA1E}"/>
              </a:ext>
            </a:extLst>
          </p:cNvPr>
          <p:cNvSpPr>
            <a:spLocks xmlns:a="http://schemas.openxmlformats.org/drawingml/2006/main" noGrp="1"/>
          </p:cNvSpPr>
          <p:nvPr/>
        </p:nvSpPr>
        <p:spPr>
          <a:xfrm xmlns:a="http://schemas.openxmlformats.org/drawingml/2006/main">
            <a:off x="571500" y="493395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Use Case Diagram final Dustin dan jawaban individu C–D keempat anggota.</a:t>
            </a:r>
          </a:p>
        </p:txBody>
      </p:sp>
    </p:spTree>
    <p:extLst>
      <p:ext uri="{BB962C8B-B14F-4D97-AF65-F5344CB8AC3E}">
        <p14:creationId xmlns:p14="http://schemas.microsoft.com/office/powerpoint/2010/main" val="505872245"/>
      </p:ext>
    </p:extLst>
  </p:cSld>
</p:sld>
</file>

<file path=ppt/slides/slide20.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c83567c86ee408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2537728-4730-43D1-BFC3-21EEAA1EA9E3}"/>
              </a:ext>
            </a:extLst>
          </p:cNvPr>
          <p:cNvSpPr>
            <a:spLocks xmlns:a="http://schemas.openxmlformats.org/drawingml/2006/main" noGrp="1"/>
          </p:cNvSpPr>
          <p:nvPr/>
        </p:nvSpPr>
        <p:spPr>
          <a:xfrm xmlns:a="http://schemas.openxmlformats.org/drawingml/2006/main">
            <a:off x="5715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Referensi dan sumber diagram</a:t>
            </a:r>
          </a:p>
        </p:txBody>
      </p:sp>
      <p:sp>
        <p:nvSpPr>
          <p:cNvPr id="3" name="">
            <a:extLst xmlns:a="http://schemas.openxmlformats.org/drawingml/2006/main">
              <a:ext uri="{FF2B5EF4-FFF2-40B4-BE49-F238E27FC236}">
                <a16:creationId xmlns:a16="http://schemas.microsoft.com/office/drawing/2014/main" id="{D48D954A-1D3B-4711-8502-253F16D379FB}"/>
              </a:ext>
            </a:extLst>
          </p:cNvPr>
          <p:cNvSpPr>
            <a:spLocks xmlns:a="http://schemas.openxmlformats.org/drawingml/2006/main" noGrp="1"/>
          </p:cNvSpPr>
          <p:nvPr/>
        </p:nvSpPr>
        <p:spPr>
          <a:xfrm xmlns:a="http://schemas.openxmlformats.org/drawingml/2006/main">
            <a:off x="1123950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B0C0CE"/>
                </a:solidFill>
                <a:latin typeface="Arial"/>
                <a:ea typeface="Arial"/>
                <a:cs typeface="Arial"/>
              </a:defRPr>
            </a:pPr>
            <a:r>
              <a:rPr sz="1125" b="0">
                <a:solidFill>
                  <a:srgbClr val="B0C0CE"/>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6A6D70C5-AE25-4397-9C0A-332045E2FE55}"/>
              </a:ext>
            </a:extLst>
          </p:cNvPr>
          <p:cNvSpPr>
            <a:spLocks xmlns:a="http://schemas.openxmlformats.org/drawingml/2006/main" noGrp="1"/>
          </p:cNvSpPr>
          <p:nvPr/>
        </p:nvSpPr>
        <p:spPr>
          <a:xfrm xmlns:a="http://schemas.openxmlformats.org/drawingml/2006/main">
            <a:off x="571500" y="1514475"/>
            <a:ext cx="1100137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Instruksi UTS INF300</a:t>
            </a:r>
          </a:p>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SRS EventKu versi 2, Project Charter dan Justifikasi SDLC</a:t>
            </a:r>
          </a:p>
          <a:p xmlns:a="http://schemas.openxmlformats.org/drawingml/2006/main">
            <a:pPr>
              <a:buNone/>
              <a:defRPr sz="2175" b="0">
                <a:solidFill>
                  <a:srgbClr val="DFE9F1"/>
                </a:solidFill>
                <a:latin typeface="Arial"/>
                <a:ea typeface="Arial"/>
                <a:cs typeface="Arial"/>
              </a:defRPr>
            </a:pPr>
            <a:r>
              <a:rPr sz="2175" b="0">
                <a:solidFill>
                  <a:srgbClr val="DFE9F1"/>
                </a:solidFill>
                <a:latin typeface="Arial"/>
                <a:ea typeface="Arial"/>
                <a:cs typeface="Arial"/>
              </a:rPr>
              <a:t>DOCX arsitektur dan pattern Minggu 5–7</a:t>
            </a:r>
          </a:p>
        </p:txBody>
      </p:sp>
      <p:sp>
        <p:nvSpPr>
          <p:cNvPr id="5" name="">
            <a:extLst xmlns:a="http://schemas.openxmlformats.org/drawingml/2006/main">
              <a:ext uri="{FF2B5EF4-FFF2-40B4-BE49-F238E27FC236}">
                <a16:creationId xmlns:a16="http://schemas.microsoft.com/office/drawing/2014/main" id="{E47448EA-3E3C-4360-A947-DFBAA4E0BB1C}"/>
              </a:ext>
            </a:extLst>
          </p:cNvPr>
          <p:cNvSpPr>
            <a:spLocks xmlns:a="http://schemas.openxmlformats.org/drawingml/2006/main" noGrp="1"/>
          </p:cNvSpPr>
          <p:nvPr/>
        </p:nvSpPr>
        <p:spPr>
          <a:xfrm xmlns:a="http://schemas.openxmlformats.org/drawingml/2006/main">
            <a:off x="571500" y="38100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FFA56E"/>
                </a:solidFill>
                <a:latin typeface="Arial"/>
                <a:ea typeface="Arial"/>
                <a:cs typeface="Arial"/>
              </a:defRPr>
            </a:pPr>
            <a:r>
              <a:rPr sz="2100" u="sng">
                <a:solidFill>
                  <a:srgbClr val="FFA56E"/>
                </a:solidFill>
                <a:latin typeface="Arial"/>
                <a:ea typeface="Arial"/>
                <a:cs typeface="Arial"/>
                <a:hlinkClick xmlns:r="http://schemas.openxmlformats.org/officeDocument/2006/relationships" r:id="R7899c78f14f04a67"/>
              </a:rPr>
              <a:t>Dokumen diagram Lucidchart versi revisi</a:t>
            </a:r>
          </a:p>
        </p:txBody>
      </p:sp>
      <p:sp>
        <p:nvSpPr>
          <p:cNvPr id="6" name="">
            <a:extLst xmlns:a="http://schemas.openxmlformats.org/drawingml/2006/main">
              <a:ext uri="{FF2B5EF4-FFF2-40B4-BE49-F238E27FC236}">
                <a16:creationId xmlns:a16="http://schemas.microsoft.com/office/drawing/2014/main" id="{3DCA4F12-1D1E-4838-9B66-1E51C28DF652}"/>
              </a:ext>
            </a:extLst>
          </p:cNvPr>
          <p:cNvSpPr>
            <a:spLocks xmlns:a="http://schemas.openxmlformats.org/drawingml/2006/main" noGrp="1"/>
          </p:cNvSpPr>
          <p:nvPr/>
        </p:nvSpPr>
        <p:spPr>
          <a:xfrm xmlns:a="http://schemas.openxmlformats.org/drawingml/2006/main">
            <a:off x="571500" y="4543425"/>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FFA56E"/>
                </a:solidFill>
                <a:latin typeface="Arial"/>
                <a:ea typeface="Arial"/>
                <a:cs typeface="Arial"/>
              </a:defRPr>
            </a:pPr>
            <a:r>
              <a:rPr sz="2100" u="sng">
                <a:solidFill>
                  <a:srgbClr val="FFA56E"/>
                </a:solidFill>
                <a:latin typeface="Arial"/>
                <a:ea typeface="Arial"/>
                <a:cs typeface="Arial"/>
                <a:hlinkClick xmlns:r="http://schemas.openxmlformats.org/officeDocument/2006/relationships" r:id="R1171a5bb493e4999"/>
              </a:rPr>
              <a:t>Repositori GitHub EventKu</a:t>
            </a:r>
          </a:p>
        </p:txBody>
      </p:sp>
      <p:sp>
        <p:nvSpPr>
          <p:cNvPr id="7" name="">
            <a:extLst xmlns:a="http://schemas.openxmlformats.org/drawingml/2006/main">
              <a:ext uri="{FF2B5EF4-FFF2-40B4-BE49-F238E27FC236}">
                <a16:creationId xmlns:a16="http://schemas.microsoft.com/office/drawing/2014/main" id="{10A21CD2-2CE1-4D14-8183-644536887415}"/>
              </a:ext>
            </a:extLst>
          </p:cNvPr>
          <p:cNvSpPr>
            <a:spLocks xmlns:a="http://schemas.openxmlformats.org/drawingml/2006/main" noGrp="1"/>
          </p:cNvSpPr>
          <p:nvPr/>
        </p:nvSpPr>
        <p:spPr>
          <a:xfrm xmlns:a="http://schemas.openxmlformats.org/drawingml/2006/main">
            <a:off x="571500" y="5610225"/>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0">
                <a:solidFill>
                  <a:srgbClr val="B0C0CE"/>
                </a:solidFill>
                <a:latin typeface="Arial"/>
                <a:ea typeface="Arial"/>
                <a:cs typeface="Arial"/>
              </a:defRPr>
            </a:pPr>
            <a:r>
              <a:rPr sz="2025" b="0">
                <a:solidFill>
                  <a:srgbClr val="B0C0CE"/>
                </a:solidFill>
                <a:latin typeface="Arial"/>
                <a:ea typeface="Arial"/>
                <a:cs typeface="Arial"/>
              </a:rPr>
              <a:t>Lampiran berikut: ERD final dan class diagram tiap modul.</a:t>
            </a:r>
          </a:p>
        </p:txBody>
      </p:sp>
      <p:sp>
        <p:nvSpPr>
          <p:cNvPr id="9" name="">
            <a:extLst xmlns:a="http://schemas.openxmlformats.org/drawingml/2006/main">
              <a:ext uri="{FF2B5EF4-FFF2-40B4-BE49-F238E27FC236}">
                <a16:creationId xmlns:a16="http://schemas.microsoft.com/office/drawing/2014/main" id="{6506B16A-04D6-40FA-AB63-7C5DB77530A5}"/>
              </a:ext>
            </a:extLst>
          </p:cNvPr>
          <p:cNvSpPr>
            <a:spLocks xmlns:a="http://schemas.openxmlformats.org/drawingml/2006/main" noGrp="1"/>
          </p:cNvSpPr>
          <p:nvPr/>
        </p:nvSpPr>
        <p:spPr>
          <a:xfrm xmlns:a="http://schemas.openxmlformats.org/drawingml/2006/main">
            <a:off x="571500" y="51816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950" u="sng">
                <a:solidFill>
                  <a:srgbClr val="FFA56E"/>
                </a:solidFill>
                <a:latin typeface="Arial"/>
                <a:ea typeface="Arial"/>
                <a:cs typeface="Arial"/>
                <a:hlinkClick xmlns:r="http://schemas.openxmlformats.org/officeDocument/2006/relationships" r:id="Rf081139d27c249f1"/>
              </a:rPr>
              <a:t>Workspace Jira EventKu</a:t>
            </a:r>
          </a:p>
        </p:txBody>
      </p:sp>
    </p:spTree>
    <p:extLst>
      <p:ext uri="{BB962C8B-B14F-4D97-AF65-F5344CB8AC3E}">
        <p14:creationId xmlns:p14="http://schemas.microsoft.com/office/powerpoint/2010/main" val="752424578"/>
      </p:ext>
    </p:extLst>
  </p:cSld>
</p:sld>
</file>

<file path=ppt/slides/slide21.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aece1832adc421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E380B0C-56A9-4B0F-930B-F4F82B3683ED}"/>
              </a:ext>
            </a:extLst>
          </p:cNvPr>
          <p:cNvSpPr>
            <a:spLocks xmlns:a="http://schemas.openxmlformats.org/drawingml/2006/main" noGrp="1"/>
          </p:cNvSpPr>
          <p:nvPr/>
        </p:nvSpPr>
        <p:spPr>
          <a:xfrm xmlns:a="http://schemas.openxmlformats.org/drawingml/2006/main">
            <a:off x="5715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Lampiran • ERD final</a:t>
            </a:r>
          </a:p>
        </p:txBody>
      </p:sp>
      <p:sp>
        <p:nvSpPr>
          <p:cNvPr id="3" name="">
            <a:extLst xmlns:a="http://schemas.openxmlformats.org/drawingml/2006/main">
              <a:ext uri="{FF2B5EF4-FFF2-40B4-BE49-F238E27FC236}">
                <a16:creationId xmlns:a16="http://schemas.microsoft.com/office/drawing/2014/main" id="{5BF74DE3-90AC-4A17-B774-DFFEA4843D0D}"/>
              </a:ext>
            </a:extLst>
          </p:cNvPr>
          <p:cNvSpPr>
            <a:spLocks xmlns:a="http://schemas.openxmlformats.org/drawingml/2006/main" noGrp="1"/>
          </p:cNvSpPr>
          <p:nvPr/>
        </p:nvSpPr>
        <p:spPr>
          <a:xfrm xmlns:a="http://schemas.openxmlformats.org/drawingml/2006/main">
            <a:off x="1123950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B0C0CE"/>
                </a:solidFill>
                <a:latin typeface="Arial"/>
                <a:ea typeface="Arial"/>
                <a:cs typeface="Arial"/>
              </a:defRPr>
            </a:pPr>
            <a:r>
              <a:rPr sz="1125" b="0">
                <a:solidFill>
                  <a:srgbClr val="B0C0CE"/>
                </a:solidFill>
                <a:latin typeface="Arial"/>
                <a:ea typeface="Arial"/>
                <a:cs typeface="Arial"/>
              </a:rPr>
              <a:t>21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bcb57019396478a"/>
          <a:stretch xmlns:a="http://schemas.openxmlformats.org/drawingml/2006/main"/>
        </p:blipFill>
        <p:spPr>
          <a:xfrm xmlns:a="http://schemas.openxmlformats.org/drawingml/2006/main">
            <a:off x="3379243" y="1257300"/>
            <a:ext cx="5433515" cy="4953000"/>
          </a:xfrm>
          <a:prstGeom xmlns:a="http://schemas.openxmlformats.org/drawingml/2006/main" prst="rect">
            <a:avLst/>
          </a:prstGeom>
        </p:spPr>
      </p:pic>
    </p:spTree>
    <p:extLst>
      <p:ext uri="{BB962C8B-B14F-4D97-AF65-F5344CB8AC3E}">
        <p14:creationId xmlns:p14="http://schemas.microsoft.com/office/powerpoint/2010/main" val="2009101449"/>
      </p:ext>
    </p:extLst>
  </p:cSld>
</p:sld>
</file>

<file path=ppt/slides/slide22.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0892ec7136b4fb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02FFD5F-C7CA-4A87-88DE-F651FDC67B6D}"/>
              </a:ext>
            </a:extLst>
          </p:cNvPr>
          <p:cNvSpPr>
            <a:spLocks xmlns:a="http://schemas.openxmlformats.org/drawingml/2006/main" noGrp="1"/>
          </p:cNvSpPr>
          <p:nvPr/>
        </p:nvSpPr>
        <p:spPr>
          <a:xfrm xmlns:a="http://schemas.openxmlformats.org/drawingml/2006/main">
            <a:off x="5715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Lampiran • Class diagram Auth</a:t>
            </a:r>
          </a:p>
        </p:txBody>
      </p:sp>
      <p:sp>
        <p:nvSpPr>
          <p:cNvPr id="3" name="">
            <a:extLst xmlns:a="http://schemas.openxmlformats.org/drawingml/2006/main">
              <a:ext uri="{FF2B5EF4-FFF2-40B4-BE49-F238E27FC236}">
                <a16:creationId xmlns:a16="http://schemas.microsoft.com/office/drawing/2014/main" id="{29E74DFD-22B9-402E-A7DE-21CE2CC726FF}"/>
              </a:ext>
            </a:extLst>
          </p:cNvPr>
          <p:cNvSpPr>
            <a:spLocks xmlns:a="http://schemas.openxmlformats.org/drawingml/2006/main" noGrp="1"/>
          </p:cNvSpPr>
          <p:nvPr/>
        </p:nvSpPr>
        <p:spPr>
          <a:xfrm xmlns:a="http://schemas.openxmlformats.org/drawingml/2006/main">
            <a:off x="1123950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B0C0CE"/>
                </a:solidFill>
                <a:latin typeface="Arial"/>
                <a:ea typeface="Arial"/>
                <a:cs typeface="Arial"/>
              </a:defRPr>
            </a:pPr>
            <a:r>
              <a:rPr sz="1125" b="0">
                <a:solidFill>
                  <a:srgbClr val="B0C0CE"/>
                </a:solidFill>
                <a:latin typeface="Arial"/>
                <a:ea typeface="Arial"/>
                <a:cs typeface="Arial"/>
              </a:rPr>
              <a:t>22</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abf270e33834438"/>
          <a:stretch xmlns:a="http://schemas.openxmlformats.org/drawingml/2006/main"/>
        </p:blipFill>
        <p:spPr>
          <a:xfrm xmlns:a="http://schemas.openxmlformats.org/drawingml/2006/main">
            <a:off x="3816902" y="1257300"/>
            <a:ext cx="4558196" cy="4953000"/>
          </a:xfrm>
          <a:prstGeom xmlns:a="http://schemas.openxmlformats.org/drawingml/2006/main" prst="rect">
            <a:avLst/>
          </a:prstGeom>
        </p:spPr>
      </p:pic>
    </p:spTree>
    <p:extLst>
      <p:ext uri="{BB962C8B-B14F-4D97-AF65-F5344CB8AC3E}">
        <p14:creationId xmlns:p14="http://schemas.microsoft.com/office/powerpoint/2010/main" val="1990685530"/>
      </p:ext>
    </p:extLst>
  </p:cSld>
</p:sld>
</file>

<file path=ppt/slides/slide23.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2724a39e56a4f5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FA04524-55A5-490B-B209-E2B777D76DC1}"/>
              </a:ext>
            </a:extLst>
          </p:cNvPr>
          <p:cNvSpPr>
            <a:spLocks xmlns:a="http://schemas.openxmlformats.org/drawingml/2006/main" noGrp="1"/>
          </p:cNvSpPr>
          <p:nvPr/>
        </p:nvSpPr>
        <p:spPr>
          <a:xfrm xmlns:a="http://schemas.openxmlformats.org/drawingml/2006/main">
            <a:off x="5715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Lampiran • Class diagram Event</a:t>
            </a:r>
          </a:p>
        </p:txBody>
      </p:sp>
      <p:sp>
        <p:nvSpPr>
          <p:cNvPr id="3" name="">
            <a:extLst xmlns:a="http://schemas.openxmlformats.org/drawingml/2006/main">
              <a:ext uri="{FF2B5EF4-FFF2-40B4-BE49-F238E27FC236}">
                <a16:creationId xmlns:a16="http://schemas.microsoft.com/office/drawing/2014/main" id="{4D44D5B6-D6EC-44B1-B070-66B1DF49AD91}"/>
              </a:ext>
            </a:extLst>
          </p:cNvPr>
          <p:cNvSpPr>
            <a:spLocks xmlns:a="http://schemas.openxmlformats.org/drawingml/2006/main" noGrp="1"/>
          </p:cNvSpPr>
          <p:nvPr/>
        </p:nvSpPr>
        <p:spPr>
          <a:xfrm xmlns:a="http://schemas.openxmlformats.org/drawingml/2006/main">
            <a:off x="1123950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B0C0CE"/>
                </a:solidFill>
                <a:latin typeface="Arial"/>
                <a:ea typeface="Arial"/>
                <a:cs typeface="Arial"/>
              </a:defRPr>
            </a:pPr>
            <a:r>
              <a:rPr sz="1125" b="0">
                <a:solidFill>
                  <a:srgbClr val="B0C0CE"/>
                </a:solidFill>
                <a:latin typeface="Arial"/>
                <a:ea typeface="Arial"/>
                <a:cs typeface="Arial"/>
              </a:rPr>
              <a:t>23</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fa8816c3732427c"/>
          <a:stretch xmlns:a="http://schemas.openxmlformats.org/drawingml/2006/main"/>
        </p:blipFill>
        <p:spPr>
          <a:xfrm xmlns:a="http://schemas.openxmlformats.org/drawingml/2006/main">
            <a:off x="3337092" y="1257300"/>
            <a:ext cx="5517816" cy="4953000"/>
          </a:xfrm>
          <a:prstGeom xmlns:a="http://schemas.openxmlformats.org/drawingml/2006/main" prst="rect">
            <a:avLst/>
          </a:prstGeom>
        </p:spPr>
      </p:pic>
    </p:spTree>
    <p:extLst>
      <p:ext uri="{BB962C8B-B14F-4D97-AF65-F5344CB8AC3E}">
        <p14:creationId xmlns:p14="http://schemas.microsoft.com/office/powerpoint/2010/main" val="198651413"/>
      </p:ext>
    </p:extLst>
  </p:cSld>
</p:sld>
</file>

<file path=ppt/slides/slide24.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70124159146436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63D2C95-B4DC-4BC3-835E-18FD5A0E0781}"/>
              </a:ext>
            </a:extLst>
          </p:cNvPr>
          <p:cNvSpPr>
            <a:spLocks xmlns:a="http://schemas.openxmlformats.org/drawingml/2006/main" noGrp="1"/>
          </p:cNvSpPr>
          <p:nvPr/>
        </p:nvSpPr>
        <p:spPr>
          <a:xfrm xmlns:a="http://schemas.openxmlformats.org/drawingml/2006/main">
            <a:off x="5715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Lampiran • Class diagram Pendaftaran</a:t>
            </a:r>
          </a:p>
        </p:txBody>
      </p:sp>
      <p:sp>
        <p:nvSpPr>
          <p:cNvPr id="3" name="">
            <a:extLst xmlns:a="http://schemas.openxmlformats.org/drawingml/2006/main">
              <a:ext uri="{FF2B5EF4-FFF2-40B4-BE49-F238E27FC236}">
                <a16:creationId xmlns:a16="http://schemas.microsoft.com/office/drawing/2014/main" id="{936A96BB-AA3B-4DDB-8BEE-DA18903722D7}"/>
              </a:ext>
            </a:extLst>
          </p:cNvPr>
          <p:cNvSpPr>
            <a:spLocks xmlns:a="http://schemas.openxmlformats.org/drawingml/2006/main" noGrp="1"/>
          </p:cNvSpPr>
          <p:nvPr/>
        </p:nvSpPr>
        <p:spPr>
          <a:xfrm xmlns:a="http://schemas.openxmlformats.org/drawingml/2006/main">
            <a:off x="1123950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B0C0CE"/>
                </a:solidFill>
                <a:latin typeface="Arial"/>
                <a:ea typeface="Arial"/>
                <a:cs typeface="Arial"/>
              </a:defRPr>
            </a:pPr>
            <a:r>
              <a:rPr sz="1125" b="0">
                <a:solidFill>
                  <a:srgbClr val="B0C0CE"/>
                </a:solidFill>
                <a:latin typeface="Arial"/>
                <a:ea typeface="Arial"/>
                <a:cs typeface="Arial"/>
              </a:rPr>
              <a:t>24</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c9cc3e2aa0448ab"/>
          <a:stretch xmlns:a="http://schemas.openxmlformats.org/drawingml/2006/main"/>
        </p:blipFill>
        <p:spPr>
          <a:xfrm xmlns:a="http://schemas.openxmlformats.org/drawingml/2006/main">
            <a:off x="3748869" y="1257300"/>
            <a:ext cx="4694261" cy="4953000"/>
          </a:xfrm>
          <a:prstGeom xmlns:a="http://schemas.openxmlformats.org/drawingml/2006/main" prst="rect">
            <a:avLst/>
          </a:prstGeom>
        </p:spPr>
      </p:pic>
    </p:spTree>
    <p:extLst>
      <p:ext uri="{BB962C8B-B14F-4D97-AF65-F5344CB8AC3E}">
        <p14:creationId xmlns:p14="http://schemas.microsoft.com/office/powerpoint/2010/main" val="690073256"/>
      </p:ext>
    </p:extLst>
  </p:cSld>
</p:sld>
</file>

<file path=ppt/slides/slide25.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5223cb595db4b6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876589B-E216-487F-9B53-5FB8A26947D5}"/>
              </a:ext>
            </a:extLst>
          </p:cNvPr>
          <p:cNvSpPr>
            <a:spLocks xmlns:a="http://schemas.openxmlformats.org/drawingml/2006/main" noGrp="1"/>
          </p:cNvSpPr>
          <p:nvPr/>
        </p:nvSpPr>
        <p:spPr>
          <a:xfrm xmlns:a="http://schemas.openxmlformats.org/drawingml/2006/main">
            <a:off x="5715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Lampiran • Class diagram Notifikasi</a:t>
            </a:r>
          </a:p>
        </p:txBody>
      </p:sp>
      <p:sp>
        <p:nvSpPr>
          <p:cNvPr id="3" name="">
            <a:extLst xmlns:a="http://schemas.openxmlformats.org/drawingml/2006/main">
              <a:ext uri="{FF2B5EF4-FFF2-40B4-BE49-F238E27FC236}">
                <a16:creationId xmlns:a16="http://schemas.microsoft.com/office/drawing/2014/main" id="{BC2473B5-C7AF-4B11-B8BC-27707EAB7C27}"/>
              </a:ext>
            </a:extLst>
          </p:cNvPr>
          <p:cNvSpPr>
            <a:spLocks xmlns:a="http://schemas.openxmlformats.org/drawingml/2006/main" noGrp="1"/>
          </p:cNvSpPr>
          <p:nvPr/>
        </p:nvSpPr>
        <p:spPr>
          <a:xfrm xmlns:a="http://schemas.openxmlformats.org/drawingml/2006/main">
            <a:off x="11239500" y="64389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25" b="0">
                <a:solidFill>
                  <a:srgbClr val="B0C0CE"/>
                </a:solidFill>
                <a:latin typeface="Arial"/>
                <a:ea typeface="Arial"/>
                <a:cs typeface="Arial"/>
              </a:defRPr>
            </a:pPr>
            <a:r>
              <a:rPr sz="1125" b="0">
                <a:solidFill>
                  <a:srgbClr val="B0C0CE"/>
                </a:solidFill>
                <a:latin typeface="Arial"/>
                <a:ea typeface="Arial"/>
                <a:cs typeface="Arial"/>
              </a:rPr>
              <a:t>25</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bacc13e6a574240"/>
          <a:stretch xmlns:a="http://schemas.openxmlformats.org/drawingml/2006/main"/>
        </p:blipFill>
        <p:spPr>
          <a:xfrm xmlns:a="http://schemas.openxmlformats.org/drawingml/2006/main">
            <a:off x="3865394" y="1257300"/>
            <a:ext cx="4461213" cy="4953000"/>
          </a:xfrm>
          <a:prstGeom xmlns:a="http://schemas.openxmlformats.org/drawingml/2006/main" prst="rect">
            <a:avLst/>
          </a:prstGeom>
        </p:spPr>
      </p:pic>
    </p:spTree>
    <p:extLst>
      <p:ext uri="{BB962C8B-B14F-4D97-AF65-F5344CB8AC3E}">
        <p14:creationId xmlns:p14="http://schemas.microsoft.com/office/powerpoint/2010/main" val="7621066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2026-10-06T20:26:12.5790000Z</dcterms:created>
  <dcterms:modified xsi:type="dcterms:W3CDTF">2026-10-06T20:26:12.5790000Z</dcterms:modified>
</coreProperties>
</file>