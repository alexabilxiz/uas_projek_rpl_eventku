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f5fe8bdaf24441" /><Relationship Type="http://schemas.openxmlformats.org/officeDocument/2006/relationships/extended-properties" Target="/docProps/app.xml" Id="R69c4fe7d4385483b" /><Relationship Type="http://schemas.openxmlformats.org/officeDocument/2006/relationships/officeDocument" Target="/ppt/presentation.xml" Id="Re0553febe67b4c48" /></Relationships>
</file>

<file path=ppt/presentation.xml><?xml version="1.0" encoding="utf-8"?>
<p:presentation xmlns:p="http://schemas.openxmlformats.org/presentationml/2006/main">
  <p:sldMasterIdLst>
    <p:sldMasterId xmlns:r="http://schemas.openxmlformats.org/officeDocument/2006/relationships" id="2147483648" r:id="Rb6fe5d8a6dbb474d"/>
  </p:sldMasterIdLst>
  <p:notesMasterIdLst>
    <p:notesMasterId xmlns:r="http://schemas.openxmlformats.org/officeDocument/2006/relationships" r:id="R3cabc9f1d0d74e8d"/>
  </p:notesMasterIdLst>
  <p:sldIdLst>
    <p:sldId xmlns:r="http://schemas.openxmlformats.org/officeDocument/2006/relationships" id="256" r:id="R84a4d12cc8d64538"/>
    <p:sldId xmlns:r="http://schemas.openxmlformats.org/officeDocument/2006/relationships" id="257" r:id="R9f1761ceaa5843e2"/>
    <p:sldId xmlns:r="http://schemas.openxmlformats.org/officeDocument/2006/relationships" id="258" r:id="Ra5ffba2a9d2740a3"/>
    <p:sldId xmlns:r="http://schemas.openxmlformats.org/officeDocument/2006/relationships" id="259" r:id="Rf86fee83561e4296"/>
    <p:sldId xmlns:r="http://schemas.openxmlformats.org/officeDocument/2006/relationships" id="260" r:id="R156eb2e41f0b4eac"/>
    <p:sldId xmlns:r="http://schemas.openxmlformats.org/officeDocument/2006/relationships" id="261" r:id="R802667ae5fc64c2e"/>
    <p:sldId xmlns:r="http://schemas.openxmlformats.org/officeDocument/2006/relationships" id="262" r:id="R17f4be49fe8f46cf"/>
    <p:sldId xmlns:r="http://schemas.openxmlformats.org/officeDocument/2006/relationships" id="263" r:id="R872ba45dd4e747cf"/>
    <p:sldId xmlns:r="http://schemas.openxmlformats.org/officeDocument/2006/relationships" id="264" r:id="R6e76e7c9cbd144b2"/>
    <p:sldId xmlns:r="http://schemas.openxmlformats.org/officeDocument/2006/relationships" id="265" r:id="R0189aedce3124ef7"/>
    <p:sldId xmlns:r="http://schemas.openxmlformats.org/officeDocument/2006/relationships" id="266" r:id="R5c3060120a754420"/>
    <p:sldId xmlns:r="http://schemas.openxmlformats.org/officeDocument/2006/relationships" id="267" r:id="R381c24f387224f96"/>
    <p:sldId xmlns:r="http://schemas.openxmlformats.org/officeDocument/2006/relationships" id="268" r:id="Ra5761e76f8604817"/>
    <p:sldId xmlns:r="http://schemas.openxmlformats.org/officeDocument/2006/relationships" id="269" r:id="Rb810dc5af8b24a7f"/>
    <p:sldId xmlns:r="http://schemas.openxmlformats.org/officeDocument/2006/relationships" id="270" r:id="Rc0467af3b1d84ff4"/>
    <p:sldId xmlns:r="http://schemas.openxmlformats.org/officeDocument/2006/relationships" id="271" r:id="Rcdc4a9e9a9ef4f9a"/>
    <p:sldId xmlns:r="http://schemas.openxmlformats.org/officeDocument/2006/relationships" id="272" r:id="R45b19dcb1d8d472f"/>
    <p:sldId xmlns:r="http://schemas.openxmlformats.org/officeDocument/2006/relationships" id="273" r:id="Rea5c2bebec3d433e"/>
    <p:sldId xmlns:r="http://schemas.openxmlformats.org/officeDocument/2006/relationships" id="274" r:id="R814bbad15ebe49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e3a232ef6a4fba" /><Relationship Type="http://schemas.openxmlformats.org/officeDocument/2006/relationships/slideMaster" Target="/ppt/slideMasters/slideMaster1.xml" Id="Rb6fe5d8a6dbb474d" /><Relationship Type="http://schemas.openxmlformats.org/officeDocument/2006/relationships/notesMaster" Target="/ppt/notesMasters/notesMaster1.xml" Id="R3cabc9f1d0d74e8d" /><Relationship Type="http://schemas.openxmlformats.org/officeDocument/2006/relationships/presProps" Target="/ppt/presProps.xml" Id="R124c0a7ab67d4e46" /><Relationship Type="http://schemas.openxmlformats.org/officeDocument/2006/relationships/tableStyles" Target="/ppt/tableStyles.xml" Id="R1024107214af4038" /><Relationship Type="http://schemas.openxmlformats.org/officeDocument/2006/relationships/slide" Target="/ppt/slides/slide1.xml" Id="R84a4d12cc8d64538" /><Relationship Type="http://schemas.openxmlformats.org/officeDocument/2006/relationships/slide" Target="/ppt/slides/slide2.xml" Id="R9f1761ceaa5843e2" /><Relationship Type="http://schemas.openxmlformats.org/officeDocument/2006/relationships/slide" Target="/ppt/slides/slide3.xml" Id="Ra5ffba2a9d2740a3" /><Relationship Type="http://schemas.openxmlformats.org/officeDocument/2006/relationships/slide" Target="/ppt/slides/slide4.xml" Id="Rf86fee83561e4296" /><Relationship Type="http://schemas.openxmlformats.org/officeDocument/2006/relationships/slide" Target="/ppt/slides/slide5.xml" Id="R156eb2e41f0b4eac" /><Relationship Type="http://schemas.openxmlformats.org/officeDocument/2006/relationships/slide" Target="/ppt/slides/slide6.xml" Id="R802667ae5fc64c2e" /><Relationship Type="http://schemas.openxmlformats.org/officeDocument/2006/relationships/slide" Target="/ppt/slides/slide7.xml" Id="R17f4be49fe8f46cf" /><Relationship Type="http://schemas.openxmlformats.org/officeDocument/2006/relationships/slide" Target="/ppt/slides/slide8.xml" Id="R872ba45dd4e747cf" /><Relationship Type="http://schemas.openxmlformats.org/officeDocument/2006/relationships/slide" Target="/ppt/slides/slide9.xml" Id="R6e76e7c9cbd144b2" /><Relationship Type="http://schemas.openxmlformats.org/officeDocument/2006/relationships/slide" Target="/ppt/slides/slide10.xml" Id="R0189aedce3124ef7" /><Relationship Type="http://schemas.openxmlformats.org/officeDocument/2006/relationships/slide" Target="/ppt/slides/slide11.xml" Id="R5c3060120a754420" /><Relationship Type="http://schemas.openxmlformats.org/officeDocument/2006/relationships/slide" Target="/ppt/slides/slide12.xml" Id="R381c24f387224f96" /><Relationship Type="http://schemas.openxmlformats.org/officeDocument/2006/relationships/slide" Target="/ppt/slides/slide13.xml" Id="Ra5761e76f8604817" /><Relationship Type="http://schemas.openxmlformats.org/officeDocument/2006/relationships/slide" Target="/ppt/slides/slide14.xml" Id="Rb810dc5af8b24a7f" /><Relationship Type="http://schemas.openxmlformats.org/officeDocument/2006/relationships/slide" Target="/ppt/slides/slide15.xml" Id="Rc0467af3b1d84ff4" /><Relationship Type="http://schemas.openxmlformats.org/officeDocument/2006/relationships/slide" Target="/ppt/slides/slide16.xml" Id="Rcdc4a9e9a9ef4f9a" /><Relationship Type="http://schemas.openxmlformats.org/officeDocument/2006/relationships/slide" Target="/ppt/slides/slide17.xml" Id="R45b19dcb1d8d472f" /><Relationship Type="http://schemas.openxmlformats.org/officeDocument/2006/relationships/slide" Target="/ppt/slides/slide18.xml" Id="Rea5c2bebec3d433e" /><Relationship Type="http://schemas.openxmlformats.org/officeDocument/2006/relationships/slide" Target="/ppt/slides/slide19.xml" Id="R814bbad15ebe49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e8368468d740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5a516f4ab249c4" /><Relationship Type="http://schemas.openxmlformats.org/officeDocument/2006/relationships/notesMaster" Target="/ppt/notesMasters/notesMaster1.xml" Id="R4b5ce6cf20f94d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c7503b67cb462e" /><Relationship Type="http://schemas.openxmlformats.org/officeDocument/2006/relationships/notesMaster" Target="/ppt/notesMasters/notesMaster1.xml" Id="Rbbea203e5ba04e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f164cac3b4470a" /><Relationship Type="http://schemas.openxmlformats.org/officeDocument/2006/relationships/notesMaster" Target="/ppt/notesMasters/notesMaster1.xml" Id="R9c61658ff4aa4f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09fbc5d1084122" /><Relationship Type="http://schemas.openxmlformats.org/officeDocument/2006/relationships/notesMaster" Target="/ppt/notesMasters/notesMaster1.xml" Id="Rb4050b84855e48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6e30b3aea24f1d" /><Relationship Type="http://schemas.openxmlformats.org/officeDocument/2006/relationships/notesMaster" Target="/ppt/notesMasters/notesMaster1.xml" Id="R5a60893729e24c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45784b74be4438" /><Relationship Type="http://schemas.openxmlformats.org/officeDocument/2006/relationships/notesMaster" Target="/ppt/notesMasters/notesMaster1.xml" Id="R58db2b26a36147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ff790542f047cb" /><Relationship Type="http://schemas.openxmlformats.org/officeDocument/2006/relationships/notesMaster" Target="/ppt/notesMasters/notesMaster1.xml" Id="Re6d8c709cb524c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814f57fa764aa5" /><Relationship Type="http://schemas.openxmlformats.org/officeDocument/2006/relationships/notesMaster" Target="/ppt/notesMasters/notesMaster1.xml" Id="R7b39d7128cf644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6451ece65a45ec" /><Relationship Type="http://schemas.openxmlformats.org/officeDocument/2006/relationships/notesMaster" Target="/ppt/notesMasters/notesMaster1.xml" Id="R75a06400a22a41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11dd6de8ae4606" /><Relationship Type="http://schemas.openxmlformats.org/officeDocument/2006/relationships/notesMaster" Target="/ppt/notesMasters/notesMaster1.xml" Id="R9cdf896d6aef4c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96e44a2a9242bd" /><Relationship Type="http://schemas.openxmlformats.org/officeDocument/2006/relationships/notesMaster" Target="/ppt/notesMasters/notesMaster1.xml" Id="R06b2812fcabc4e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0567cd8ac745e2" /><Relationship Type="http://schemas.openxmlformats.org/officeDocument/2006/relationships/notesMaster" Target="/ppt/notesMasters/notesMaster1.xml" Id="R1a3d53973f0d4a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c29e74ef8348f1" /><Relationship Type="http://schemas.openxmlformats.org/officeDocument/2006/relationships/notesMaster" Target="/ppt/notesMasters/notesMaster1.xml" Id="Re49ab879b66a45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242c6fe3e4438c" /><Relationship Type="http://schemas.openxmlformats.org/officeDocument/2006/relationships/notesMaster" Target="/ppt/notesMasters/notesMaster1.xml" Id="R0bf7c81b4bc846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d986eff1494aaa" /><Relationship Type="http://schemas.openxmlformats.org/officeDocument/2006/relationships/notesMaster" Target="/ppt/notesMasters/notesMaster1.xml" Id="R65359f9417a247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b66cdb2dab4e3a" /><Relationship Type="http://schemas.openxmlformats.org/officeDocument/2006/relationships/notesMaster" Target="/ppt/notesMasters/notesMaster1.xml" Id="R07dcf524807f44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558359da084dd6" /><Relationship Type="http://schemas.openxmlformats.org/officeDocument/2006/relationships/notesMaster" Target="/ppt/notesMasters/notesMaster1.xml" Id="R4e1c94aba23d41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2e5e78bca740bc" /><Relationship Type="http://schemas.openxmlformats.org/officeDocument/2006/relationships/notesMaster" Target="/ppt/notesMasters/notesMaster1.xml" Id="Rbad2b763c2a5481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d1c9bb75df40a6" /><Relationship Type="http://schemas.openxmlformats.org/officeDocument/2006/relationships/notesMaster" Target="/ppt/notesMasters/notesMaster1.xml" Id="R72c76360e0874f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Pembuka: bagian ini menjelaskan kontribusi perancangan Bambang untuk EventKu, website kumpulan dan pendaftaran event kampus. Fokus pada keluaran Minggu 5–7. Ini bagian presentasi kelompok, bukan seluruh laporan UTS. Sumber: tiga DOCX Bambang dan SRS versi 2. Latar dekoratif sampul dibuat dengan imagegen.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urutan hasil kerja. Minggu 5 memodelkan Auth dan Event. Minggu 6 menggabungkan ERD dan merinci modul. Minggu 7 menyiapkan pola desain dan struktur frontend. SRS menjadi acuan fungsi.</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Alasan pilihan: satu aplikasi backend mengurangi beban operasional tahap awal, sementara batas modul membatasi dependensi. React memakai HTTP dan JSON. Middleware memeriksa JWT, peran dan input. Tiap modul memiliki controller, service dan repository. EventPublicApi menjadi kontrak lintas modul. Sumber DOCX Minggu 6 bagian 2.</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ERD Minggu 5 terdiri atas empat entitas. Organization memiliki pengguna dan event. Event memiliki satu pembuat dan satu kategori. User.organization_id opsional bagi mahasiswa atau admin, tetapi wajib bagi penyelenggara. Field verified_by dan moderated_by mengacu admin dan boleh kosong sebelum keputusan. ERD final ada di lampiran.</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 Auth menerima DTO registrasi atau email dan password. Proses memvalidasi, memverifikasi hash, status dan organisasi. Hasil berupa UserDTO atau TokenResponse. Modul Event menerima DTO event atau filter, memvalidasi jadwal dan kepemilikan lalu menyimpan draft atau mencari event. Dependensi Auth: UserRepository, OrganizationRepository dan JwtProvider. Dependensi Event: EventRepository, AuthPublicApi, TransactionManager dan EventBus.</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Enam status mengacu SRS. create menyimpan draft. submit memvalidasi akun, organisasi dan jadwal lalu mengirim ke menunggu_moderasi. Admin menyetujui atau menolak dengan alasan. Penyelenggara organisasi pemilik dapat memperbaiki dan mengajukan ulang penolakan. Pembatalan mempertahankan riwayat. Selesai otomatis sesudah end_at merupakan Should. Edit penting event disetujui memicu moderasi ulang sebagai Should.</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q, category, organizer, date atau from/to, page dan limit. Gabungkan seluruh filter dengan AND. Query publik tetap membatasi status disetujui. organizer mengacu organization_id. Rentang waktu from &lt;= start_at &lt; to memakai akhir eksklusif. COUNT dan query data harus menggunakan filter sama. Urutkan start_at dan event_id untuk pagination stabil. Repository menjalankan query berparameter. Sumber DOCX Minggu 6 bagian 4.2.</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algoritma transaksi: verifikasi mahasiswa aktif, event disetujui dan now &lt; end_at. Periksa registration unik. Reservasi kursi atomik melalui EventPublicApi hanya jika reserved_seats &lt; quota. Simpan atau aktifkan ulang registration pada transaksi sama. Jika salah satu operasi gagal, rollback seluruhnya. StudentRegistered hanya terbit setelah commit. Pembatalan hanya sebelum start_at dan releaseSeat berjalan dalam transaksi sama.</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MVC memisahkan tampilan, penanganan request, serta model domain dan aturan bisnis. React menyajikan View. Express Router memilih controller. Controller memanggil service, lalu repository mengambil data. JSON kembali ke React. Di frontend, hooks mengatur aksi dan Context berbagi state. Backend tetap memeriksa otorisasi pada setiap request. Sumber DOCX Minggu 7 bagian 3.</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Kategori: pola akses data dan pemisahan lapisan. Masalah: service yang terikat SQL menyulitkan pergantian implementasi dan pengujian. EventService bergantung pada kontrak EventRepository. SqlEventRepository mengimplementasikan kontrak. Dependency injection menyusun implementasi saat startup. Modul lain mengakses Event melalui facade EventPublicApi. Mendukung NFR-MOD-02 dan NFR-MOD-03. Sumber DOCX Minggu 7 bagian 4.</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Kategori: behavioral. Masalah: panggilan NotificationService langsung dari publisher membuat modul saling terikat. EventBus menyimpan handler dan melakukan publish/subscribe. EventModerated memicu hasil moderasi kepada pengaju, EventApproved memicu event baru sesuai minat. StudentRegistered memicu konfirmasi RSVP Should. Publish dilakukan sesudah commit. EventBus in-process tidak menjamin pemulihan setelah restart. Untuk ketahanan pengiriman, rencana berikutnya memerlukan outbox dan retry persisten. Sumber DOCX Minggu 7 bagian 5.</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Struktur usulan React: pages dan components untuk tampilan, hooks untuk aksi dan loading/error, services untuk HTTP client dan kontrak API. Context menyimpan sesi dan unreadCount. Data pencarian lokal per halaman. RoleGuard membantu navigasi, tetapi backend menjadi penentu hak akses. API dan JWT memakai /api/v1. Sumber DOCX Minggu 7 bagian 6–8.</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DOCX Minggu 5–7 dan Lucidchart revisi sudah tersedia di repositori. Persentase kemajuan proyek keseluruhan tidak disimpulkan dari dokumen. Figma berisi sembilan frame awal desktop dan belum mencakup seluruh SRS. Backend dan frontend masih perlu implementasi dan uji. Setelah UTS: Minggu 9 konfirmasi ID/DB/ORM dan inisialisasi lingkungan. Minggu 10–13 implementasi kontrak API dan integrasi React. Risiko: konsistensi status dan kuota, pengiriman notifikasi sesudah restart, keamanan sesi, dan beban query. Target 100 pengguna bersamaan memerlukan uji backend.</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Acuan utama SRS versi 2. Tiga dokumen individu menjadi bahan arsitektur. PDF UTS meminta arsitektur, minimal dua modul, algoritma dan argumentasi design pattern. Deck ini bagian Bambang untuk digabungkan dengan materi kelompok. Dokumen sumber: docs/diagrams/minggu5_erd_draft_auth_event.docx, docs/architecture/minggu6_arsitektur_modular_classdiagram_erd.docx, docs/architecture/minggu7_design_pattern_struktur_frontend.docx. Lampiran berikut membantu pertanyaan teknis.</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Delapan entitas. ModerationHistory mendukung kebutuhan Should. Perhatikan organization_id, waktu mulai dan akhir, serta dedupe_key notifikasi. SQL dan tipe ID fisik masih perlu kesepakatan implementasi.</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AuthService menangani akun, JWT dan verifikasi organisasi. AuthPublicApi membatasi akses lintas modul. DTO tidak mengekspos password_hash.</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EventService menangani draft, submit, moderasi, pembatalan dan pencarian. EventPublicApi menyediakan akses event serta reservasi kursi lintas modul.</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RegistrationService menggabungkan reserveSeat dan simpan registration dalam transaksi. RegistrationPublicApi menyediakan peserta aktif untuk kebutuhan pengingat.</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NotificationService menangani domain event. H-1 mengambil peserta RSVP aktif melalui RegistrationPublicApi. Dedupe_key menjaga retry tanpa menghilangkan revisi moderasi berikutnya.</a:t>
            </a:r>
          </a:p>
          <a:p xmlns:a="http://schemas.openxmlformats.org/drawingml/2006/main">
            <a:r>
              <a:t/>
            </a:r>
          </a:p>
          <a:p xmlns:a="http://schemas.openxmlformats.org/drawingml/2006/main">
            <a:r>
              <a:t>Sumber: DOCX Bambang Minggu 5–7, versi revisi SRS. Acuan: docs/requirements/EventKu_2_SRS.docx versi 2. Diagram: https://lucid.app/lucidchart/c1ed1ac4-eabd-423c-a2b8-d558d07f165d/edit</a:t>
            </a:r>
          </a:p>
          <a:p xmlns:a="http://schemas.openxmlformats.org/drawingml/2006/main">
            <a:r>
              <a:t>Repositori: https://github.com/alexabilxiz/UAS_PROJEK_RPL_EventKu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4f53f6d3b245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a0e69a745048f1" /><Relationship Type="http://schemas.openxmlformats.org/officeDocument/2006/relationships/slideLayout" Target="/ppt/slideLayouts/slideLayout1.xml" Id="Rcddea6caa1c54c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dea6caa1c54c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4e31e2cbad4941" /><Relationship Type="http://schemas.openxmlformats.org/officeDocument/2006/relationships/image" Target="/ppt/media/image.png" Id="Rd194c7801b794a6f" /><Relationship Type="http://schemas.openxmlformats.org/officeDocument/2006/relationships/notesSlide" Target="/ppt/notesSlides/notesSlide1.xml" Id="Rc40c562940164c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da89e4832b4870" /><Relationship Type="http://schemas.openxmlformats.org/officeDocument/2006/relationships/notesSlide" Target="/ppt/notesSlides/notesSlide2.xml" Id="Rcd3e53d8b6284f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8258ae15b44853" /><Relationship Type="http://schemas.openxmlformats.org/officeDocument/2006/relationships/image" Target="/ppt/media/image2.png" Id="R72cb33673ea54662" /><Relationship Type="http://schemas.openxmlformats.org/officeDocument/2006/relationships/notesSlide" Target="/ppt/notesSlides/notesSlide3.xml" Id="R4faab8b565654e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2abca9838c4223" /><Relationship Type="http://schemas.openxmlformats.org/officeDocument/2006/relationships/image" Target="/ppt/media/image3.png" Id="R02c6728f943b4ed5" /><Relationship Type="http://schemas.openxmlformats.org/officeDocument/2006/relationships/notesSlide" Target="/ppt/notesSlides/notesSlide4.xml" Id="R7de655676a484f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b8c7a6e51c4cef" /><Relationship Type="http://schemas.openxmlformats.org/officeDocument/2006/relationships/notesSlide" Target="/ppt/notesSlides/notesSlide5.xml" Id="Ra5fbe154ddf14a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c445290c314f89" /><Relationship Type="http://schemas.openxmlformats.org/officeDocument/2006/relationships/notesSlide" Target="/ppt/notesSlides/notesSlide6.xml" Id="R2df8773fc99f40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c34cc60e114564" /><Relationship Type="http://schemas.openxmlformats.org/officeDocument/2006/relationships/image" Target="/ppt/media/image4.png" Id="Rdcebec8774b54fb0" /><Relationship Type="http://schemas.openxmlformats.org/officeDocument/2006/relationships/notesSlide" Target="/ppt/notesSlides/notesSlide7.xml" Id="R5b3f2236b4a045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6c88b21de14da9" /><Relationship Type="http://schemas.openxmlformats.org/officeDocument/2006/relationships/notesSlide" Target="/ppt/notesSlides/notesSlide8.xml" Id="Rff939586efb541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8bc3b39d3f435c" /><Relationship Type="http://schemas.openxmlformats.org/officeDocument/2006/relationships/image" Target="/ppt/media/image5.png" Id="R4eacc89397f34ede" /><Relationship Type="http://schemas.openxmlformats.org/officeDocument/2006/relationships/notesSlide" Target="/ppt/notesSlides/notesSlide9.xml" Id="R9c34f0e020b04e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bfe51220cf4fae" /><Relationship Type="http://schemas.openxmlformats.org/officeDocument/2006/relationships/image" Target="/ppt/media/image6.png" Id="Rfb581c57ba7d40ee" /><Relationship Type="http://schemas.openxmlformats.org/officeDocument/2006/relationships/notesSlide" Target="/ppt/notesSlides/notesSlide10.xml" Id="R279cf9457e0c4d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9e3ea219e18455a" /><Relationship Type="http://schemas.openxmlformats.org/officeDocument/2006/relationships/image" Target="/ppt/media/image7.png" Id="Ra3171d3ea72e4cb2" /><Relationship Type="http://schemas.openxmlformats.org/officeDocument/2006/relationships/notesSlide" Target="/ppt/notesSlides/notesSlide11.xml" Id="Rb0c3f1da59e64b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b0a62801b14aa6" /><Relationship Type="http://schemas.openxmlformats.org/officeDocument/2006/relationships/image" Target="/ppt/media/image8.png" Id="R892d3960639f4e83" /><Relationship Type="http://schemas.openxmlformats.org/officeDocument/2006/relationships/notesSlide" Target="/ppt/notesSlides/notesSlide12.xml" Id="Rbe4c240417f745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4baf491daa4161" /><Relationship Type="http://schemas.openxmlformats.org/officeDocument/2006/relationships/notesSlide" Target="/ppt/notesSlides/notesSlide13.xml" Id="R3b2ba1f9305545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7803f3da44434d" /><Relationship Type="http://schemas.openxmlformats.org/officeDocument/2006/relationships/hyperlink" Target="https://lucid.app/lucidchart/c1ed1ac4-eabd-423c-a2b8-d558d07f165d/edit" TargetMode="External" Id="R5f65a22bfe6b4679" /><Relationship Type="http://schemas.openxmlformats.org/officeDocument/2006/relationships/hyperlink" Target="https://github.com/alexabilxiz/UAS_PROJEK_RPL_EventKu" TargetMode="External" Id="Rf9a44e7406e440a8" /><Relationship Type="http://schemas.openxmlformats.org/officeDocument/2006/relationships/notesSlide" Target="/ppt/notesSlides/notesSlide14.xml" Id="R6c8c66d28a9945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2349c5ff3e64dd3" /><Relationship Type="http://schemas.openxmlformats.org/officeDocument/2006/relationships/image" Target="/ppt/media/image9.png" Id="R08bb2568918744d5" /><Relationship Type="http://schemas.openxmlformats.org/officeDocument/2006/relationships/notesSlide" Target="/ppt/notesSlides/notesSlide15.xml" Id="Rae513258396e41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99b12619da4deb" /><Relationship Type="http://schemas.openxmlformats.org/officeDocument/2006/relationships/image" Target="/ppt/media/image10.png" Id="R186a784ec7e9432b" /><Relationship Type="http://schemas.openxmlformats.org/officeDocument/2006/relationships/notesSlide" Target="/ppt/notesSlides/notesSlide16.xml" Id="Rf0a920d703d344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eae9abead8a4c0f" /><Relationship Type="http://schemas.openxmlformats.org/officeDocument/2006/relationships/image" Target="/ppt/media/image11.png" Id="R86a24cc1e19a4e3b" /><Relationship Type="http://schemas.openxmlformats.org/officeDocument/2006/relationships/notesSlide" Target="/ppt/notesSlides/notesSlide17.xml" Id="R469d1ac349eb47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bcebe18f5774f80" /><Relationship Type="http://schemas.openxmlformats.org/officeDocument/2006/relationships/image" Target="/ppt/media/image12.png" Id="R83b48815d6254e5e" /><Relationship Type="http://schemas.openxmlformats.org/officeDocument/2006/relationships/notesSlide" Target="/ppt/notesSlides/notesSlide18.xml" Id="Ra9aeb4f79c6e43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1f073fd318b4918" /><Relationship Type="http://schemas.openxmlformats.org/officeDocument/2006/relationships/image" Target="/ppt/media/image13.png" Id="Rd7a3d3c045bc4ad8" /><Relationship Type="http://schemas.openxmlformats.org/officeDocument/2006/relationships/notesSlide" Target="/ppt/notesSlides/notesSlide19.xml" Id="Rd7d7aa4a79844845" /></Relationships>
</file>

<file path=ppt/slides/slide1.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194c7801b794a6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D54811-A785-4E64-A56D-AF3DB93CE7B6}"/>
              </a:ext>
            </a:extLst>
          </p:cNvPr>
          <p:cNvSpPr>
            <a:spLocks xmlns:a="http://schemas.openxmlformats.org/drawingml/2006/main" noGrp="1"/>
          </p:cNvSpPr>
          <p:nvPr/>
        </p:nvSpPr>
        <p:spPr>
          <a:xfrm xmlns:a="http://schemas.openxmlformats.org/drawingml/2006/main">
            <a:off x="647700"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EventKu</a:t>
            </a:r>
          </a:p>
        </p:txBody>
      </p:sp>
      <p:sp>
        <p:nvSpPr>
          <p:cNvPr id="3" name="">
            <a:extLst xmlns:a="http://schemas.openxmlformats.org/drawingml/2006/main">
              <a:ext uri="{FF2B5EF4-FFF2-40B4-BE49-F238E27FC236}">
                <a16:creationId xmlns:a16="http://schemas.microsoft.com/office/drawing/2014/main" id="{7DC7D7E1-4875-4260-A95D-3270E3ED2F27}"/>
              </a:ext>
            </a:extLst>
          </p:cNvPr>
          <p:cNvSpPr>
            <a:spLocks xmlns:a="http://schemas.openxmlformats.org/drawingml/2006/main" noGrp="1"/>
          </p:cNvSpPr>
          <p:nvPr/>
        </p:nvSpPr>
        <p:spPr>
          <a:xfrm xmlns:a="http://schemas.openxmlformats.org/drawingml/2006/main">
            <a:off x="685800" y="2628900"/>
            <a:ext cx="700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FFFFFF"/>
                </a:solidFill>
                <a:latin typeface="Arial"/>
                <a:ea typeface="Arial"/>
                <a:cs typeface="Arial"/>
              </a:defRPr>
            </a:pPr>
            <a:r>
              <a:rPr sz="3450" b="0">
                <a:solidFill>
                  <a:srgbClr val="FFFFFF"/>
                </a:solidFill>
                <a:latin typeface="Arial"/>
                <a:ea typeface="Arial"/>
                <a:cs typeface="Arial"/>
              </a:rPr>
              <a:t>Arsitektur dan</a:t>
            </a:r>
          </a:p>
          <a:p xmlns:a="http://schemas.openxmlformats.org/drawingml/2006/main">
            <a:pPr>
              <a:defRPr sz="3450" b="0">
                <a:solidFill>
                  <a:srgbClr val="FFFFFF"/>
                </a:solidFill>
                <a:latin typeface="Arial"/>
                <a:ea typeface="Arial"/>
                <a:cs typeface="Arial"/>
              </a:defRPr>
            </a:pPr>
            <a:r>
              <a:rPr sz="3450" b="0">
                <a:solidFill>
                  <a:srgbClr val="FFFFFF"/>
                </a:solidFill>
                <a:latin typeface="Arial"/>
                <a:ea typeface="Arial"/>
                <a:cs typeface="Arial"/>
              </a:rPr>
              <a:t>rancangan sistem</a:t>
            </a:r>
          </a:p>
        </p:txBody>
      </p:sp>
      <p:sp>
        <p:nvSpPr>
          <p:cNvPr id="4" name="">
            <a:extLst xmlns:a="http://schemas.openxmlformats.org/drawingml/2006/main">
              <a:ext uri="{FF2B5EF4-FFF2-40B4-BE49-F238E27FC236}">
                <a16:creationId xmlns:a16="http://schemas.microsoft.com/office/drawing/2014/main" id="{4781312A-DA14-4216-8674-A79865DEA6B2}"/>
              </a:ext>
            </a:extLst>
          </p:cNvPr>
          <p:cNvSpPr>
            <a:spLocks xmlns:a="http://schemas.openxmlformats.org/drawingml/2006/main" noGrp="1"/>
          </p:cNvSpPr>
          <p:nvPr/>
        </p:nvSpPr>
        <p:spPr>
          <a:xfrm xmlns:a="http://schemas.openxmlformats.org/drawingml/2006/main">
            <a:off x="704850" y="4714875"/>
            <a:ext cx="709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Bambang Herlambang</a:t>
            </a:r>
          </a:p>
        </p:txBody>
      </p:sp>
      <p:sp>
        <p:nvSpPr>
          <p:cNvPr id="5" name="">
            <a:extLst xmlns:a="http://schemas.openxmlformats.org/drawingml/2006/main">
              <a:ext uri="{FF2B5EF4-FFF2-40B4-BE49-F238E27FC236}">
                <a16:creationId xmlns:a16="http://schemas.microsoft.com/office/drawing/2014/main" id="{7EC02FAF-9387-4378-B0E6-67CDEFFD12C1}"/>
              </a:ext>
            </a:extLst>
          </p:cNvPr>
          <p:cNvSpPr>
            <a:spLocks xmlns:a="http://schemas.openxmlformats.org/drawingml/2006/main" noGrp="1"/>
          </p:cNvSpPr>
          <p:nvPr/>
        </p:nvSpPr>
        <p:spPr>
          <a:xfrm xmlns:a="http://schemas.openxmlformats.org/drawingml/2006/main">
            <a:off x="704850" y="5143500"/>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F5A16A"/>
                </a:solidFill>
                <a:latin typeface="Arial"/>
                <a:ea typeface="Arial"/>
                <a:cs typeface="Arial"/>
              </a:defRPr>
            </a:pPr>
            <a:r>
              <a:rPr sz="1875" b="0">
                <a:solidFill>
                  <a:srgbClr val="F5A16A"/>
                </a:solidFill>
                <a:latin typeface="Arial"/>
                <a:ea typeface="Arial"/>
                <a:cs typeface="Arial"/>
              </a:rPr>
              <a:t>5803024019</a:t>
            </a:r>
          </a:p>
        </p:txBody>
      </p:sp>
      <p:sp>
        <p:nvSpPr>
          <p:cNvPr id="6" name="">
            <a:extLst xmlns:a="http://schemas.openxmlformats.org/drawingml/2006/main">
              <a:ext uri="{FF2B5EF4-FFF2-40B4-BE49-F238E27FC236}">
                <a16:creationId xmlns:a16="http://schemas.microsoft.com/office/drawing/2014/main" id="{4967E3CE-915F-41DC-B289-493DAB296424}"/>
              </a:ext>
            </a:extLst>
          </p:cNvPr>
          <p:cNvSpPr>
            <a:spLocks xmlns:a="http://schemas.openxmlformats.org/drawingml/2006/main" noGrp="1"/>
          </p:cNvSpPr>
          <p:nvPr/>
        </p:nvSpPr>
        <p:spPr>
          <a:xfrm xmlns:a="http://schemas.openxmlformats.org/drawingml/2006/main">
            <a:off x="704850" y="5715000"/>
            <a:ext cx="700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C9DAE5"/>
                </a:solidFill>
                <a:latin typeface="Arial"/>
                <a:ea typeface="Arial"/>
                <a:cs typeface="Arial"/>
              </a:defRPr>
            </a:pPr>
            <a:r>
              <a:rPr sz="1575" b="0">
                <a:solidFill>
                  <a:srgbClr val="C9DAE5"/>
                </a:solidFill>
                <a:latin typeface="Arial"/>
                <a:ea typeface="Arial"/>
                <a:cs typeface="Arial"/>
              </a:rPr>
              <a:t>System Architect &amp; Frontend Developer</a:t>
            </a:r>
          </a:p>
          <a:p xmlns:a="http://schemas.openxmlformats.org/drawingml/2006/main">
            <a:pPr>
              <a:defRPr sz="1575" b="0">
                <a:solidFill>
                  <a:srgbClr val="C9DAE5"/>
                </a:solidFill>
                <a:latin typeface="Arial"/>
                <a:ea typeface="Arial"/>
                <a:cs typeface="Arial"/>
              </a:defRPr>
            </a:pPr>
            <a:r>
              <a:rPr sz="1575" b="0">
                <a:solidFill>
                  <a:srgbClr val="C9DAE5"/>
                </a:solidFill>
                <a:latin typeface="Arial"/>
                <a:ea typeface="Arial"/>
                <a:cs typeface="Arial"/>
              </a:rPr>
              <a:t>Kelompok IV, INF300 Rekayasa Perangkat Lunak</a:t>
            </a:r>
          </a:p>
        </p:txBody>
      </p:sp>
    </p:spTree>
    <p:extLst>
      <p:ext uri="{BB962C8B-B14F-4D97-AF65-F5344CB8AC3E}">
        <p14:creationId xmlns:p14="http://schemas.microsoft.com/office/powerpoint/2010/main" val="902058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E74AA90-F902-4794-9219-A996C0F5009C}"/>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Kontribusi perancangan Bambang</a:t>
            </a:r>
          </a:p>
        </p:txBody>
      </p:sp>
      <p:sp>
        <p:nvSpPr>
          <p:cNvPr id="2" name="">
            <a:extLst xmlns:a="http://schemas.openxmlformats.org/drawingml/2006/main">
              <a:ext uri="{FF2B5EF4-FFF2-40B4-BE49-F238E27FC236}">
                <a16:creationId xmlns:a16="http://schemas.microsoft.com/office/drawing/2014/main" id="{8FBA3C40-BCFC-4576-BCD9-A47516C8766D}"/>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8D2E463-F352-4086-B25C-E2692A9F5C6E}"/>
              </a:ext>
            </a:extLst>
          </p:cNvPr>
          <p:cNvSpPr>
            <a:spLocks xmlns:a="http://schemas.openxmlformats.org/drawingml/2006/main" noGrp="1"/>
          </p:cNvSpPr>
          <p:nvPr/>
        </p:nvSpPr>
        <p:spPr>
          <a:xfrm xmlns:a="http://schemas.openxmlformats.org/drawingml/2006/main">
            <a:off x="571500" y="1762125"/>
            <a:ext cx="3286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750" b="1">
                <a:solidFill>
                  <a:srgbClr val="C44C21"/>
                </a:solidFill>
                <a:latin typeface="Arial"/>
                <a:ea typeface="Arial"/>
                <a:cs typeface="Arial"/>
              </a:defRPr>
            </a:pPr>
            <a:r>
              <a:rPr sz="6750" b="1">
                <a:solidFill>
                  <a:srgbClr val="C44C2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9E5C424-D805-4FCB-AB46-0908FD5A94AE}"/>
              </a:ext>
            </a:extLst>
          </p:cNvPr>
          <p:cNvSpPr>
            <a:spLocks xmlns:a="http://schemas.openxmlformats.org/drawingml/2006/main" noGrp="1"/>
          </p:cNvSpPr>
          <p:nvPr/>
        </p:nvSpPr>
        <p:spPr>
          <a:xfrm xmlns:a="http://schemas.openxmlformats.org/drawingml/2006/main">
            <a:off x="609600" y="279082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1">
                <a:solidFill>
                  <a:srgbClr val="66788B"/>
                </a:solidFill>
                <a:latin typeface="Arial"/>
                <a:ea typeface="Arial"/>
                <a:cs typeface="Arial"/>
              </a:defRPr>
            </a:pPr>
            <a:r>
              <a:rPr sz="1350" b="1">
                <a:solidFill>
                  <a:srgbClr val="66788B"/>
                </a:solidFill>
                <a:latin typeface="Arial"/>
                <a:ea typeface="Arial"/>
                <a:cs typeface="Arial"/>
              </a:rPr>
              <a:t>MINGGU</a:t>
            </a:r>
          </a:p>
        </p:txBody>
      </p:sp>
      <p:sp>
        <p:nvSpPr>
          <p:cNvPr id="5" name="">
            <a:extLst xmlns:a="http://schemas.openxmlformats.org/drawingml/2006/main">
              <a:ext uri="{FF2B5EF4-FFF2-40B4-BE49-F238E27FC236}">
                <a16:creationId xmlns:a16="http://schemas.microsoft.com/office/drawing/2014/main" id="{62D754E4-3882-4817-917A-231987DC385D}"/>
              </a:ext>
            </a:extLst>
          </p:cNvPr>
          <p:cNvSpPr>
            <a:spLocks xmlns:a="http://schemas.openxmlformats.org/drawingml/2006/main" noGrp="1"/>
          </p:cNvSpPr>
          <p:nvPr/>
        </p:nvSpPr>
        <p:spPr>
          <a:xfrm xmlns:a="http://schemas.openxmlformats.org/drawingml/2006/main">
            <a:off x="571500" y="3400425"/>
            <a:ext cx="328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32B48"/>
                </a:solidFill>
                <a:latin typeface="Arial"/>
                <a:ea typeface="Arial"/>
                <a:cs typeface="Arial"/>
              </a:defRPr>
            </a:pPr>
            <a:r>
              <a:rPr sz="2325" b="1">
                <a:solidFill>
                  <a:srgbClr val="132B48"/>
                </a:solidFill>
                <a:latin typeface="Arial"/>
                <a:ea typeface="Arial"/>
                <a:cs typeface="Arial"/>
              </a:rPr>
              <a:t>ERD awal</a:t>
            </a:r>
          </a:p>
        </p:txBody>
      </p:sp>
      <p:sp>
        <p:nvSpPr>
          <p:cNvPr id="6" name="">
            <a:extLst xmlns:a="http://schemas.openxmlformats.org/drawingml/2006/main">
              <a:ext uri="{FF2B5EF4-FFF2-40B4-BE49-F238E27FC236}">
                <a16:creationId xmlns:a16="http://schemas.microsoft.com/office/drawing/2014/main" id="{D51F1A28-B53E-4F6A-BB39-F42143083DD9}"/>
              </a:ext>
            </a:extLst>
          </p:cNvPr>
          <p:cNvSpPr>
            <a:spLocks xmlns:a="http://schemas.openxmlformats.org/drawingml/2006/main" noGrp="1"/>
          </p:cNvSpPr>
          <p:nvPr/>
        </p:nvSpPr>
        <p:spPr>
          <a:xfrm xmlns:a="http://schemas.openxmlformats.org/drawingml/2006/main">
            <a:off x="571500" y="40481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6384A"/>
                </a:solidFill>
                <a:latin typeface="Arial"/>
                <a:ea typeface="Arial"/>
                <a:cs typeface="Arial"/>
              </a:defRPr>
            </a:pPr>
            <a:r>
              <a:rPr sz="2025" b="0">
                <a:solidFill>
                  <a:srgbClr val="26384A"/>
                </a:solidFill>
                <a:latin typeface="Arial"/>
                <a:ea typeface="Arial"/>
                <a:cs typeface="Arial"/>
              </a:rPr>
              <a:t>Akun, organisasi, kategori dan event</a:t>
            </a:r>
          </a:p>
        </p:txBody>
      </p:sp>
      <p:sp>
        <p:nvSpPr>
          <p:cNvPr id="7" name="">
            <a:extLst xmlns:a="http://schemas.openxmlformats.org/drawingml/2006/main">
              <a:ext uri="{FF2B5EF4-FFF2-40B4-BE49-F238E27FC236}">
                <a16:creationId xmlns:a16="http://schemas.microsoft.com/office/drawing/2014/main" id="{D1EF9D84-412A-40B0-BE96-1964FECBF4F8}"/>
              </a:ext>
            </a:extLst>
          </p:cNvPr>
          <p:cNvSpPr>
            <a:spLocks xmlns:a="http://schemas.openxmlformats.org/drawingml/2006/main" noGrp="1"/>
          </p:cNvSpPr>
          <p:nvPr/>
        </p:nvSpPr>
        <p:spPr>
          <a:xfrm xmlns:a="http://schemas.openxmlformats.org/drawingml/2006/main">
            <a:off x="4410075" y="1762125"/>
            <a:ext cx="3286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750" b="1">
                <a:solidFill>
                  <a:srgbClr val="C44C21"/>
                </a:solidFill>
                <a:latin typeface="Arial"/>
                <a:ea typeface="Arial"/>
                <a:cs typeface="Arial"/>
              </a:defRPr>
            </a:pPr>
            <a:r>
              <a:rPr sz="6750" b="1">
                <a:solidFill>
                  <a:srgbClr val="C44C21"/>
                </a:solidFill>
                <a:latin typeface="Arial"/>
                <a:ea typeface="Arial"/>
                <a:cs typeface="Arial"/>
              </a:rPr>
              <a:t>06</a:t>
            </a:r>
          </a:p>
        </p:txBody>
      </p:sp>
      <p:sp>
        <p:nvSpPr>
          <p:cNvPr id="8" name="">
            <a:extLst xmlns:a="http://schemas.openxmlformats.org/drawingml/2006/main">
              <a:ext uri="{FF2B5EF4-FFF2-40B4-BE49-F238E27FC236}">
                <a16:creationId xmlns:a16="http://schemas.microsoft.com/office/drawing/2014/main" id="{5E04C9E9-0DD3-44F6-A8F3-E0D10D623EF6}"/>
              </a:ext>
            </a:extLst>
          </p:cNvPr>
          <p:cNvSpPr>
            <a:spLocks xmlns:a="http://schemas.openxmlformats.org/drawingml/2006/main" noGrp="1"/>
          </p:cNvSpPr>
          <p:nvPr/>
        </p:nvSpPr>
        <p:spPr>
          <a:xfrm xmlns:a="http://schemas.openxmlformats.org/drawingml/2006/main">
            <a:off x="4448175" y="279082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1">
                <a:solidFill>
                  <a:srgbClr val="66788B"/>
                </a:solidFill>
                <a:latin typeface="Arial"/>
                <a:ea typeface="Arial"/>
                <a:cs typeface="Arial"/>
              </a:defRPr>
            </a:pPr>
            <a:r>
              <a:rPr sz="1350" b="1">
                <a:solidFill>
                  <a:srgbClr val="66788B"/>
                </a:solidFill>
                <a:latin typeface="Arial"/>
                <a:ea typeface="Arial"/>
                <a:cs typeface="Arial"/>
              </a:rPr>
              <a:t>MINGGU</a:t>
            </a:r>
          </a:p>
        </p:txBody>
      </p:sp>
      <p:sp>
        <p:nvSpPr>
          <p:cNvPr id="9" name="">
            <a:extLst xmlns:a="http://schemas.openxmlformats.org/drawingml/2006/main">
              <a:ext uri="{FF2B5EF4-FFF2-40B4-BE49-F238E27FC236}">
                <a16:creationId xmlns:a16="http://schemas.microsoft.com/office/drawing/2014/main" id="{6AE1F78D-0DC9-4DFB-839D-8F1ACF05E784}"/>
              </a:ext>
            </a:extLst>
          </p:cNvPr>
          <p:cNvSpPr>
            <a:spLocks xmlns:a="http://schemas.openxmlformats.org/drawingml/2006/main" noGrp="1"/>
          </p:cNvSpPr>
          <p:nvPr/>
        </p:nvSpPr>
        <p:spPr>
          <a:xfrm xmlns:a="http://schemas.openxmlformats.org/drawingml/2006/main">
            <a:off x="4410075" y="3400425"/>
            <a:ext cx="328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32B48"/>
                </a:solidFill>
                <a:latin typeface="Arial"/>
                <a:ea typeface="Arial"/>
                <a:cs typeface="Arial"/>
              </a:defRPr>
            </a:pPr>
            <a:r>
              <a:rPr sz="2325" b="1">
                <a:solidFill>
                  <a:srgbClr val="132B48"/>
                </a:solidFill>
                <a:latin typeface="Arial"/>
                <a:ea typeface="Arial"/>
                <a:cs typeface="Arial"/>
              </a:rPr>
              <a:t>Rancangan sistem</a:t>
            </a:r>
          </a:p>
        </p:txBody>
      </p:sp>
      <p:sp>
        <p:nvSpPr>
          <p:cNvPr id="10" name="">
            <a:extLst xmlns:a="http://schemas.openxmlformats.org/drawingml/2006/main">
              <a:ext uri="{FF2B5EF4-FFF2-40B4-BE49-F238E27FC236}">
                <a16:creationId xmlns:a16="http://schemas.microsoft.com/office/drawing/2014/main" id="{78A8F304-6291-442B-BA53-8815F37AC2B4}"/>
              </a:ext>
            </a:extLst>
          </p:cNvPr>
          <p:cNvSpPr>
            <a:spLocks xmlns:a="http://schemas.openxmlformats.org/drawingml/2006/main" noGrp="1"/>
          </p:cNvSpPr>
          <p:nvPr/>
        </p:nvSpPr>
        <p:spPr>
          <a:xfrm xmlns:a="http://schemas.openxmlformats.org/drawingml/2006/main">
            <a:off x="4410075" y="40481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6384A"/>
                </a:solidFill>
                <a:latin typeface="Arial"/>
                <a:ea typeface="Arial"/>
                <a:cs typeface="Arial"/>
              </a:defRPr>
            </a:pPr>
            <a:r>
              <a:rPr sz="2025" b="0">
                <a:solidFill>
                  <a:srgbClr val="26384A"/>
                </a:solidFill>
                <a:latin typeface="Arial"/>
                <a:ea typeface="Arial"/>
                <a:cs typeface="Arial"/>
              </a:rPr>
              <a:t>Arsitektur modular, class diagram, ERD final dan kontrak API</a:t>
            </a:r>
          </a:p>
        </p:txBody>
      </p:sp>
      <p:sp>
        <p:nvSpPr>
          <p:cNvPr id="11" name="">
            <a:extLst xmlns:a="http://schemas.openxmlformats.org/drawingml/2006/main">
              <a:ext uri="{FF2B5EF4-FFF2-40B4-BE49-F238E27FC236}">
                <a16:creationId xmlns:a16="http://schemas.microsoft.com/office/drawing/2014/main" id="{37F249BC-ED2F-4769-8343-897F92D46B52}"/>
              </a:ext>
            </a:extLst>
          </p:cNvPr>
          <p:cNvSpPr>
            <a:spLocks xmlns:a="http://schemas.openxmlformats.org/drawingml/2006/main" noGrp="1"/>
          </p:cNvSpPr>
          <p:nvPr/>
        </p:nvSpPr>
        <p:spPr>
          <a:xfrm xmlns:a="http://schemas.openxmlformats.org/drawingml/2006/main">
            <a:off x="8248650" y="1762125"/>
            <a:ext cx="3286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750" b="1">
                <a:solidFill>
                  <a:srgbClr val="C44C21"/>
                </a:solidFill>
                <a:latin typeface="Arial"/>
                <a:ea typeface="Arial"/>
                <a:cs typeface="Arial"/>
              </a:defRPr>
            </a:pPr>
            <a:r>
              <a:rPr sz="6750" b="1">
                <a:solidFill>
                  <a:srgbClr val="C44C21"/>
                </a:solidFill>
                <a:latin typeface="Arial"/>
                <a:ea typeface="Arial"/>
                <a:cs typeface="Arial"/>
              </a:rPr>
              <a:t>07</a:t>
            </a:r>
          </a:p>
        </p:txBody>
      </p:sp>
      <p:sp>
        <p:nvSpPr>
          <p:cNvPr id="12" name="">
            <a:extLst xmlns:a="http://schemas.openxmlformats.org/drawingml/2006/main">
              <a:ext uri="{FF2B5EF4-FFF2-40B4-BE49-F238E27FC236}">
                <a16:creationId xmlns:a16="http://schemas.microsoft.com/office/drawing/2014/main" id="{04D44077-64F1-4169-AA56-EE7466B047EA}"/>
              </a:ext>
            </a:extLst>
          </p:cNvPr>
          <p:cNvSpPr>
            <a:spLocks xmlns:a="http://schemas.openxmlformats.org/drawingml/2006/main" noGrp="1"/>
          </p:cNvSpPr>
          <p:nvPr/>
        </p:nvSpPr>
        <p:spPr>
          <a:xfrm xmlns:a="http://schemas.openxmlformats.org/drawingml/2006/main">
            <a:off x="8286750" y="279082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1">
                <a:solidFill>
                  <a:srgbClr val="66788B"/>
                </a:solidFill>
                <a:latin typeface="Arial"/>
                <a:ea typeface="Arial"/>
                <a:cs typeface="Arial"/>
              </a:defRPr>
            </a:pPr>
            <a:r>
              <a:rPr sz="1350" b="1">
                <a:solidFill>
                  <a:srgbClr val="66788B"/>
                </a:solidFill>
                <a:latin typeface="Arial"/>
                <a:ea typeface="Arial"/>
                <a:cs typeface="Arial"/>
              </a:rPr>
              <a:t>MINGGU</a:t>
            </a:r>
          </a:p>
        </p:txBody>
      </p:sp>
      <p:sp>
        <p:nvSpPr>
          <p:cNvPr id="13" name="">
            <a:extLst xmlns:a="http://schemas.openxmlformats.org/drawingml/2006/main">
              <a:ext uri="{FF2B5EF4-FFF2-40B4-BE49-F238E27FC236}">
                <a16:creationId xmlns:a16="http://schemas.microsoft.com/office/drawing/2014/main" id="{D4A1066E-684D-42A3-BE08-2DF29F7014C9}"/>
              </a:ext>
            </a:extLst>
          </p:cNvPr>
          <p:cNvSpPr>
            <a:spLocks xmlns:a="http://schemas.openxmlformats.org/drawingml/2006/main" noGrp="1"/>
          </p:cNvSpPr>
          <p:nvPr/>
        </p:nvSpPr>
        <p:spPr>
          <a:xfrm xmlns:a="http://schemas.openxmlformats.org/drawingml/2006/main">
            <a:off x="8248650" y="3400425"/>
            <a:ext cx="328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32B48"/>
                </a:solidFill>
                <a:latin typeface="Arial"/>
                <a:ea typeface="Arial"/>
                <a:cs typeface="Arial"/>
              </a:defRPr>
            </a:pPr>
            <a:r>
              <a:rPr sz="2325" b="1">
                <a:solidFill>
                  <a:srgbClr val="132B48"/>
                </a:solidFill>
                <a:latin typeface="Arial"/>
                <a:ea typeface="Arial"/>
                <a:cs typeface="Arial"/>
              </a:rPr>
              <a:t>Pola dan frontend</a:t>
            </a:r>
          </a:p>
        </p:txBody>
      </p:sp>
      <p:sp>
        <p:nvSpPr>
          <p:cNvPr id="14" name="">
            <a:extLst xmlns:a="http://schemas.openxmlformats.org/drawingml/2006/main">
              <a:ext uri="{FF2B5EF4-FFF2-40B4-BE49-F238E27FC236}">
                <a16:creationId xmlns:a16="http://schemas.microsoft.com/office/drawing/2014/main" id="{609A3169-D5BD-4581-8835-DA25CE71D7CD}"/>
              </a:ext>
            </a:extLst>
          </p:cNvPr>
          <p:cNvSpPr>
            <a:spLocks xmlns:a="http://schemas.openxmlformats.org/drawingml/2006/main" noGrp="1"/>
          </p:cNvSpPr>
          <p:nvPr/>
        </p:nvSpPr>
        <p:spPr>
          <a:xfrm xmlns:a="http://schemas.openxmlformats.org/drawingml/2006/main">
            <a:off x="8248650" y="40481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6384A"/>
                </a:solidFill>
                <a:latin typeface="Arial"/>
                <a:ea typeface="Arial"/>
                <a:cs typeface="Arial"/>
              </a:defRPr>
            </a:pPr>
            <a:r>
              <a:rPr sz="2025" b="0">
                <a:solidFill>
                  <a:srgbClr val="26384A"/>
                </a:solidFill>
                <a:latin typeface="Arial"/>
                <a:ea typeface="Arial"/>
                <a:cs typeface="Arial"/>
              </a:rPr>
              <a:t>MVC, Repository, Observer serta struktur dan state React</a:t>
            </a:r>
          </a:p>
        </p:txBody>
      </p:sp>
    </p:spTree>
    <p:extLst>
      <p:ext uri="{BB962C8B-B14F-4D97-AF65-F5344CB8AC3E}">
        <p14:creationId xmlns:p14="http://schemas.microsoft.com/office/powerpoint/2010/main" val="7341405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B7B16E-1774-4BC5-B3B8-4BEE3D6FCD59}"/>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Arsitektur modular EventKu</a:t>
            </a:r>
          </a:p>
        </p:txBody>
      </p:sp>
      <p:sp>
        <p:nvSpPr>
          <p:cNvPr id="2" name="">
            <a:extLst xmlns:a="http://schemas.openxmlformats.org/drawingml/2006/main">
              <a:ext uri="{FF2B5EF4-FFF2-40B4-BE49-F238E27FC236}">
                <a16:creationId xmlns:a16="http://schemas.microsoft.com/office/drawing/2014/main" id="{9CFD1658-37A0-4AC1-A6E9-F2D2D6FFDD0D}"/>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2cb33673ea54662"/>
          <a:stretch xmlns:a="http://schemas.openxmlformats.org/drawingml/2006/main"/>
        </p:blipFill>
        <p:spPr>
          <a:xfrm xmlns:a="http://schemas.openxmlformats.org/drawingml/2006/main">
            <a:off x="1620545" y="1200150"/>
            <a:ext cx="5464760"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834C04-241A-4D9E-9F9F-2C6E23541E49}"/>
              </a:ext>
            </a:extLst>
          </p:cNvPr>
          <p:cNvSpPr>
            <a:spLocks xmlns:a="http://schemas.openxmlformats.org/drawingml/2006/main" noGrp="1"/>
          </p:cNvSpPr>
          <p:nvPr/>
        </p:nvSpPr>
        <p:spPr>
          <a:xfrm xmlns:a="http://schemas.openxmlformats.org/drawingml/2006/main">
            <a:off x="8667750" y="14573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Satu backend REST</a:t>
            </a:r>
          </a:p>
        </p:txBody>
      </p:sp>
      <p:sp>
        <p:nvSpPr>
          <p:cNvPr id="5" name="">
            <a:extLst xmlns:a="http://schemas.openxmlformats.org/drawingml/2006/main">
              <a:ext uri="{FF2B5EF4-FFF2-40B4-BE49-F238E27FC236}">
                <a16:creationId xmlns:a16="http://schemas.microsoft.com/office/drawing/2014/main" id="{03DD2A61-F2D0-4CAC-BF92-47E78A59FEFD}"/>
              </a:ext>
            </a:extLst>
          </p:cNvPr>
          <p:cNvSpPr>
            <a:spLocks xmlns:a="http://schemas.openxmlformats.org/drawingml/2006/main" noGrp="1"/>
          </p:cNvSpPr>
          <p:nvPr/>
        </p:nvSpPr>
        <p:spPr>
          <a:xfrm xmlns:a="http://schemas.openxmlformats.org/drawingml/2006/main">
            <a:off x="8667750" y="1866900"/>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Empat modul berjalan dalam Express.js</a:t>
            </a:r>
          </a:p>
        </p:txBody>
      </p:sp>
      <p:sp>
        <p:nvSpPr>
          <p:cNvPr id="6" name="">
            <a:extLst xmlns:a="http://schemas.openxmlformats.org/drawingml/2006/main">
              <a:ext uri="{FF2B5EF4-FFF2-40B4-BE49-F238E27FC236}">
                <a16:creationId xmlns:a16="http://schemas.microsoft.com/office/drawing/2014/main" id="{6D0C5518-AB92-49CD-8FF9-0D760AE5F5AA}"/>
              </a:ext>
            </a:extLst>
          </p:cNvPr>
          <p:cNvSpPr>
            <a:spLocks xmlns:a="http://schemas.openxmlformats.org/drawingml/2006/main" noGrp="1"/>
          </p:cNvSpPr>
          <p:nvPr/>
        </p:nvSpPr>
        <p:spPr>
          <a:xfrm xmlns:a="http://schemas.openxmlformats.org/drawingml/2006/main">
            <a:off x="8667750" y="3009900"/>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Batas modul</a:t>
            </a:r>
          </a:p>
        </p:txBody>
      </p:sp>
      <p:sp>
        <p:nvSpPr>
          <p:cNvPr id="7" name="">
            <a:extLst xmlns:a="http://schemas.openxmlformats.org/drawingml/2006/main">
              <a:ext uri="{FF2B5EF4-FFF2-40B4-BE49-F238E27FC236}">
                <a16:creationId xmlns:a16="http://schemas.microsoft.com/office/drawing/2014/main" id="{BFA81884-4443-4674-B24D-D2BB617B4BD4}"/>
              </a:ext>
            </a:extLst>
          </p:cNvPr>
          <p:cNvSpPr>
            <a:spLocks xmlns:a="http://schemas.openxmlformats.org/drawingml/2006/main" noGrp="1"/>
          </p:cNvSpPr>
          <p:nvPr/>
        </p:nvSpPr>
        <p:spPr>
          <a:xfrm xmlns:a="http://schemas.openxmlformats.org/drawingml/2006/main">
            <a:off x="8667750" y="3419475"/>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Auth, Event, Pendaftaran dan Notifikasi</a:t>
            </a:r>
          </a:p>
        </p:txBody>
      </p:sp>
      <p:sp>
        <p:nvSpPr>
          <p:cNvPr id="8" name="">
            <a:extLst xmlns:a="http://schemas.openxmlformats.org/drawingml/2006/main">
              <a:ext uri="{FF2B5EF4-FFF2-40B4-BE49-F238E27FC236}">
                <a16:creationId xmlns:a16="http://schemas.microsoft.com/office/drawing/2014/main" id="{6843F982-C07D-45C3-8CDA-74624F6A55B2}"/>
              </a:ext>
            </a:extLst>
          </p:cNvPr>
          <p:cNvSpPr>
            <a:spLocks xmlns:a="http://schemas.openxmlformats.org/drawingml/2006/main" noGrp="1"/>
          </p:cNvSpPr>
          <p:nvPr/>
        </p:nvSpPr>
        <p:spPr>
          <a:xfrm xmlns:a="http://schemas.openxmlformats.org/drawingml/2006/main">
            <a:off x="8667750" y="456247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Konsistensi data</a:t>
            </a:r>
          </a:p>
        </p:txBody>
      </p:sp>
      <p:sp>
        <p:nvSpPr>
          <p:cNvPr id="9" name="">
            <a:extLst xmlns:a="http://schemas.openxmlformats.org/drawingml/2006/main">
              <a:ext uri="{FF2B5EF4-FFF2-40B4-BE49-F238E27FC236}">
                <a16:creationId xmlns:a16="http://schemas.microsoft.com/office/drawing/2014/main" id="{80DF2B4E-91ED-47D5-B863-C408406BA61F}"/>
              </a:ext>
            </a:extLst>
          </p:cNvPr>
          <p:cNvSpPr>
            <a:spLocks xmlns:a="http://schemas.openxmlformats.org/drawingml/2006/main" noGrp="1"/>
          </p:cNvSpPr>
          <p:nvPr/>
        </p:nvSpPr>
        <p:spPr>
          <a:xfrm xmlns:a="http://schemas.openxmlformats.org/drawingml/2006/main">
            <a:off x="8667750" y="4972050"/>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Repository per modul dan transaksi bersama</a:t>
            </a:r>
          </a:p>
        </p:txBody>
      </p:sp>
    </p:spTree>
    <p:extLst>
      <p:ext uri="{BB962C8B-B14F-4D97-AF65-F5344CB8AC3E}">
        <p14:creationId xmlns:p14="http://schemas.microsoft.com/office/powerpoint/2010/main" val="19571153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9B8380-F787-4FAB-9676-E747717E4381}"/>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ERD awal Auth dan Event</a:t>
            </a:r>
          </a:p>
        </p:txBody>
      </p:sp>
      <p:sp>
        <p:nvSpPr>
          <p:cNvPr id="2" name="">
            <a:extLst xmlns:a="http://schemas.openxmlformats.org/drawingml/2006/main">
              <a:ext uri="{FF2B5EF4-FFF2-40B4-BE49-F238E27FC236}">
                <a16:creationId xmlns:a16="http://schemas.microsoft.com/office/drawing/2014/main" id="{825B6AC1-409A-4448-A4C2-1425E76F6D76}"/>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2c6728f943b4ed5"/>
          <a:stretch xmlns:a="http://schemas.openxmlformats.org/drawingml/2006/main"/>
        </p:blipFill>
        <p:spPr>
          <a:xfrm xmlns:a="http://schemas.openxmlformats.org/drawingml/2006/main">
            <a:off x="958298" y="1285875"/>
            <a:ext cx="6732104" cy="4876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70849D-BF30-46D6-A5EB-7153411561C4}"/>
              </a:ext>
            </a:extLst>
          </p:cNvPr>
          <p:cNvSpPr>
            <a:spLocks xmlns:a="http://schemas.openxmlformats.org/drawingml/2006/main" noGrp="1"/>
          </p:cNvSpPr>
          <p:nvPr/>
        </p:nvSpPr>
        <p:spPr>
          <a:xfrm xmlns:a="http://schemas.openxmlformats.org/drawingml/2006/main">
            <a:off x="8620125" y="147637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Kepemilikan</a:t>
            </a:r>
          </a:p>
        </p:txBody>
      </p:sp>
      <p:sp>
        <p:nvSpPr>
          <p:cNvPr id="5" name="">
            <a:extLst xmlns:a="http://schemas.openxmlformats.org/drawingml/2006/main">
              <a:ext uri="{FF2B5EF4-FFF2-40B4-BE49-F238E27FC236}">
                <a16:creationId xmlns:a16="http://schemas.microsoft.com/office/drawing/2014/main" id="{E58680E2-C484-4775-B2D0-7A6B717C5539}"/>
              </a:ext>
            </a:extLst>
          </p:cNvPr>
          <p:cNvSpPr>
            <a:spLocks xmlns:a="http://schemas.openxmlformats.org/drawingml/2006/main" noGrp="1"/>
          </p:cNvSpPr>
          <p:nvPr/>
        </p:nvSpPr>
        <p:spPr>
          <a:xfrm xmlns:a="http://schemas.openxmlformats.org/drawingml/2006/main">
            <a:off x="8620125" y="1885950"/>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Event milik organisasi penyelenggara</a:t>
            </a:r>
          </a:p>
        </p:txBody>
      </p:sp>
      <p:sp>
        <p:nvSpPr>
          <p:cNvPr id="6" name="">
            <a:extLst xmlns:a="http://schemas.openxmlformats.org/drawingml/2006/main">
              <a:ext uri="{FF2B5EF4-FFF2-40B4-BE49-F238E27FC236}">
                <a16:creationId xmlns:a16="http://schemas.microsoft.com/office/drawing/2014/main" id="{8691ADF4-D41C-4C9A-8CBD-EBE207A17CC1}"/>
              </a:ext>
            </a:extLst>
          </p:cNvPr>
          <p:cNvSpPr>
            <a:spLocks xmlns:a="http://schemas.openxmlformats.org/drawingml/2006/main" noGrp="1"/>
          </p:cNvSpPr>
          <p:nvPr/>
        </p:nvSpPr>
        <p:spPr>
          <a:xfrm xmlns:a="http://schemas.openxmlformats.org/drawingml/2006/main">
            <a:off x="8620125" y="309562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Verifikasi</a:t>
            </a:r>
          </a:p>
        </p:txBody>
      </p:sp>
      <p:sp>
        <p:nvSpPr>
          <p:cNvPr id="7" name="">
            <a:extLst xmlns:a="http://schemas.openxmlformats.org/drawingml/2006/main">
              <a:ext uri="{FF2B5EF4-FFF2-40B4-BE49-F238E27FC236}">
                <a16:creationId xmlns:a16="http://schemas.microsoft.com/office/drawing/2014/main" id="{4F100B04-7AD7-4415-B96E-27B398F86885}"/>
              </a:ext>
            </a:extLst>
          </p:cNvPr>
          <p:cNvSpPr>
            <a:spLocks xmlns:a="http://schemas.openxmlformats.org/drawingml/2006/main" noGrp="1"/>
          </p:cNvSpPr>
          <p:nvPr/>
        </p:nvSpPr>
        <p:spPr>
          <a:xfrm xmlns:a="http://schemas.openxmlformats.org/drawingml/2006/main">
            <a:off x="8620125" y="3505200"/>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Organisasi verified sebelum pengajuan</a:t>
            </a:r>
          </a:p>
        </p:txBody>
      </p:sp>
      <p:sp>
        <p:nvSpPr>
          <p:cNvPr id="8" name="">
            <a:extLst xmlns:a="http://schemas.openxmlformats.org/drawingml/2006/main">
              <a:ext uri="{FF2B5EF4-FFF2-40B4-BE49-F238E27FC236}">
                <a16:creationId xmlns:a16="http://schemas.microsoft.com/office/drawing/2014/main" id="{0EA3CA08-5594-44C6-948B-F56B62A764D7}"/>
              </a:ext>
            </a:extLst>
          </p:cNvPr>
          <p:cNvSpPr>
            <a:spLocks xmlns:a="http://schemas.openxmlformats.org/drawingml/2006/main" noGrp="1"/>
          </p:cNvSpPr>
          <p:nvPr/>
        </p:nvSpPr>
        <p:spPr>
          <a:xfrm xmlns:a="http://schemas.openxmlformats.org/drawingml/2006/main">
            <a:off x="8620125" y="4714875"/>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Integritas</a:t>
            </a:r>
          </a:p>
        </p:txBody>
      </p:sp>
      <p:sp>
        <p:nvSpPr>
          <p:cNvPr id="9" name="">
            <a:extLst xmlns:a="http://schemas.openxmlformats.org/drawingml/2006/main">
              <a:ext uri="{FF2B5EF4-FFF2-40B4-BE49-F238E27FC236}">
                <a16:creationId xmlns:a16="http://schemas.microsoft.com/office/drawing/2014/main" id="{86419DFA-7906-45DB-845A-F51CE4FE9B47}"/>
              </a:ext>
            </a:extLst>
          </p:cNvPr>
          <p:cNvSpPr>
            <a:spLocks xmlns:a="http://schemas.openxmlformats.org/drawingml/2006/main" noGrp="1"/>
          </p:cNvSpPr>
          <p:nvPr/>
        </p:nvSpPr>
        <p:spPr>
          <a:xfrm xmlns:a="http://schemas.openxmlformats.org/drawingml/2006/main">
            <a:off x="8620125" y="5124450"/>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PK, FK dan email unik</a:t>
            </a:r>
          </a:p>
        </p:txBody>
      </p:sp>
    </p:spTree>
    <p:extLst>
      <p:ext uri="{BB962C8B-B14F-4D97-AF65-F5344CB8AC3E}">
        <p14:creationId xmlns:p14="http://schemas.microsoft.com/office/powerpoint/2010/main" val="15746362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7ECE867-B340-40FF-9538-77B65EC64C42}"/>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Rancangan dua modul utama</a:t>
            </a:r>
          </a:p>
        </p:txBody>
      </p:sp>
      <p:sp>
        <p:nvSpPr>
          <p:cNvPr id="2" name="">
            <a:extLst xmlns:a="http://schemas.openxmlformats.org/drawingml/2006/main">
              <a:ext uri="{FF2B5EF4-FFF2-40B4-BE49-F238E27FC236}">
                <a16:creationId xmlns:a16="http://schemas.microsoft.com/office/drawing/2014/main" id="{06BEE4A2-2C91-4A0A-9D1D-98A9918EAABB}"/>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05</a:t>
            </a:r>
          </a:p>
        </p:txBody>
      </p:sp>
      <p:graphicFrame>
        <p:nvGraphicFramePr>
          <p:cNvPr id="6" name=""/>
          <p:cNvGraphicFramePr/>
          <p:nvPr/>
        </p:nvGraphicFramePr>
        <p:xfrm>
          <a:off xmlns:a="http://schemas.openxmlformats.org/drawingml/2006/main" x="571500" y="1409700"/>
          <a:ext xmlns:a="http://schemas.openxmlformats.org/drawingml/2006/main" cx="11049000" cy="4362450"/>
        </p:xfrm>
        <a:graphic xmlns:a="http://schemas.openxmlformats.org/drawingml/2006/main">
          <a:graphicData uri="http://schemas.openxmlformats.org/drawingml/2006/table">
            <a:tbl>
              <a:tblPr/>
              <a:tblGrid>
                <a:gridCol w="1905000"/>
                <a:gridCol w="4572000"/>
                <a:gridCol w="4572000"/>
              </a:tblGrid>
              <a:tr h="727075">
                <a:tc>
                  <a:txBody>
                    <a:bodyPr>
                      <a:noAutofit/>
                    </a:bodyPr>
                    <a:lstStyle/>
                    <a:p>
                      <a:r>
                        <a:rPr sz="1800" b="1">
                          <a:solidFill>
                            <a:srgbClr val="FFFFFF"/>
                          </a:solidFill>
                          <a:latin typeface="Arial"/>
                          <a:ea typeface="Arial"/>
                          <a:cs typeface="Arial"/>
                        </a:rPr>
                        <a:t>Aspek</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Auth</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Event</a:t>
                      </a:r>
                    </a:p>
                  </a:txBody>
                  <a:tcPr marL="91440" marR="91440" marT="45720" marB="45720">
                    <a:solidFill>
                      <a:srgbClr val="132B48"/>
                    </a:solidFill>
                  </a:tcPr>
                </a:tc>
              </a:tr>
              <a:tr h="727075">
                <a:tc>
                  <a:txBody>
                    <a:bodyPr>
                      <a:noAutofit/>
                    </a:bodyPr>
                    <a:lstStyle/>
                    <a:p>
                      <a:r>
                        <a:rPr sz="1800" b="0">
                          <a:solidFill>
                            <a:srgbClr val="26384A"/>
                          </a:solidFill>
                          <a:latin typeface="Arial"/>
                          <a:ea typeface="Arial"/>
                          <a:cs typeface="Arial"/>
                        </a:rPr>
                        <a:t>Tujuan</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Identitas dan hak akses</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Pengelolaan dan pencarian event</a:t>
                      </a:r>
                    </a:p>
                  </a:txBody>
                  <a:tcPr marL="91440" marR="91440" marT="45720" marB="45720">
                    <a:solidFill>
                      <a:srgbClr val="FFF5EE"/>
                    </a:solidFill>
                  </a:tcPr>
                </a:tc>
              </a:tr>
              <a:tr h="727075">
                <a:tc>
                  <a:txBody>
                    <a:bodyPr>
                      <a:noAutofit/>
                    </a:bodyPr>
                    <a:lstStyle/>
                    <a:p>
                      <a:r>
                        <a:rPr sz="1800" b="0">
                          <a:solidFill>
                            <a:srgbClr val="26384A"/>
                          </a:solidFill>
                          <a:latin typeface="Arial"/>
                          <a:ea typeface="Arial"/>
                          <a:cs typeface="Arial"/>
                        </a:rPr>
                        <a:t>Input</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Registrasi, email, password</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DTO event atau parameter filter</a:t>
                      </a:r>
                    </a:p>
                  </a:txBody>
                  <a:tcPr marL="91440" marR="91440" marT="45720" marB="45720">
                    <a:solidFill>
                      <a:srgbClr val="FFFFFF"/>
                    </a:solidFill>
                  </a:tcPr>
                </a:tc>
              </a:tr>
              <a:tr h="727075">
                <a:tc>
                  <a:txBody>
                    <a:bodyPr>
                      <a:noAutofit/>
                    </a:bodyPr>
                    <a:lstStyle/>
                    <a:p>
                      <a:r>
                        <a:rPr sz="1800" b="0">
                          <a:solidFill>
                            <a:srgbClr val="26384A"/>
                          </a:solidFill>
                          <a:latin typeface="Arial"/>
                          <a:ea typeface="Arial"/>
                          <a:cs typeface="Arial"/>
                        </a:rPr>
                        <a:t>Proses</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Validasi, hash, JWT, verifikasi</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Validasi jadwal, moderasi, query</a:t>
                      </a:r>
                    </a:p>
                  </a:txBody>
                  <a:tcPr marL="91440" marR="91440" marT="45720" marB="45720">
                    <a:solidFill>
                      <a:srgbClr val="FFF5EE"/>
                    </a:solidFill>
                  </a:tcPr>
                </a:tc>
              </a:tr>
              <a:tr h="727075">
                <a:tc>
                  <a:txBody>
                    <a:bodyPr>
                      <a:noAutofit/>
                    </a:bodyPr>
                    <a:lstStyle/>
                    <a:p>
                      <a:r>
                        <a:rPr sz="1800" b="0">
                          <a:solidFill>
                            <a:srgbClr val="26384A"/>
                          </a:solidFill>
                          <a:latin typeface="Arial"/>
                          <a:ea typeface="Arial"/>
                          <a:cs typeface="Arial"/>
                        </a:rPr>
                        <a:t>Output</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UserDTO, TokenResponse</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EventDTO, EventPage</a:t>
                      </a:r>
                    </a:p>
                  </a:txBody>
                  <a:tcPr marL="91440" marR="91440" marT="45720" marB="45720">
                    <a:solidFill>
                      <a:srgbClr val="FFFFFF"/>
                    </a:solidFill>
                  </a:tcPr>
                </a:tc>
              </a:tr>
              <a:tr h="727075">
                <a:tc>
                  <a:txBody>
                    <a:bodyPr>
                      <a:noAutofit/>
                    </a:bodyPr>
                    <a:lstStyle/>
                    <a:p>
                      <a:r>
                        <a:rPr sz="1800" b="0">
                          <a:solidFill>
                            <a:srgbClr val="26384A"/>
                          </a:solidFill>
                          <a:latin typeface="Arial"/>
                          <a:ea typeface="Arial"/>
                          <a:cs typeface="Arial"/>
                        </a:rPr>
                        <a:t>Struktur data</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User, Organization, claims JWT</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Event, filter, daftar hasil</a:t>
                      </a:r>
                    </a:p>
                  </a:txBody>
                  <a:tcPr marL="91440" marR="91440" marT="45720" marB="45720">
                    <a:solidFill>
                      <a:srgbClr val="FFF5EE"/>
                    </a:solidFill>
                  </a:tcPr>
                </a:tc>
              </a:tr>
            </a:tbl>
          </a:graphicData>
        </a:graphic>
      </p:graphicFrame>
    </p:spTree>
    <p:extLst>
      <p:ext uri="{BB962C8B-B14F-4D97-AF65-F5344CB8AC3E}">
        <p14:creationId xmlns:p14="http://schemas.microsoft.com/office/powerpoint/2010/main" val="2525799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7B0B45-7D61-4AEA-9443-0D4648E09694}"/>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Siklus status event</a:t>
            </a:r>
          </a:p>
        </p:txBody>
      </p:sp>
      <p:sp>
        <p:nvSpPr>
          <p:cNvPr id="2" name="">
            <a:extLst xmlns:a="http://schemas.openxmlformats.org/drawingml/2006/main">
              <a:ext uri="{FF2B5EF4-FFF2-40B4-BE49-F238E27FC236}">
                <a16:creationId xmlns:a16="http://schemas.microsoft.com/office/drawing/2014/main" id="{E01BD584-617B-4E11-B9AC-9069A236E66B}"/>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06</a:t>
            </a:r>
          </a:p>
        </p:txBody>
      </p:sp>
      <p:graphicFrame>
        <p:nvGraphicFramePr>
          <p:cNvPr id="7" name=""/>
          <p:cNvGraphicFramePr/>
          <p:nvPr/>
        </p:nvGraphicFramePr>
        <p:xfrm>
          <a:off xmlns:a="http://schemas.openxmlformats.org/drawingml/2006/main" x="571500" y="1381125"/>
          <a:ext xmlns:a="http://schemas.openxmlformats.org/drawingml/2006/main" cx="11049000" cy="3924300"/>
        </p:xfrm>
        <a:graphic xmlns:a="http://schemas.openxmlformats.org/drawingml/2006/main">
          <a:graphicData uri="http://schemas.openxmlformats.org/drawingml/2006/table">
            <a:tbl>
              <a:tblPr/>
              <a:tblGrid>
                <a:gridCol w="3238500"/>
                <a:gridCol w="3905250"/>
                <a:gridCol w="3905250"/>
              </a:tblGrid>
              <a:tr h="654050">
                <a:tc>
                  <a:txBody>
                    <a:bodyPr>
                      <a:noAutofit/>
                    </a:bodyPr>
                    <a:lstStyle/>
                    <a:p>
                      <a:r>
                        <a:rPr sz="1800" b="1">
                          <a:solidFill>
                            <a:srgbClr val="FFFFFF"/>
                          </a:solidFill>
                          <a:latin typeface="Arial"/>
                          <a:ea typeface="Arial"/>
                          <a:cs typeface="Arial"/>
                        </a:rPr>
                        <a:t>Aksi</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Status asal</a:t>
                      </a:r>
                    </a:p>
                  </a:txBody>
                  <a:tcPr marL="91440" marR="91440" marT="45720" marB="45720">
                    <a:solidFill>
                      <a:srgbClr val="132B48"/>
                    </a:solidFill>
                  </a:tcPr>
                </a:tc>
                <a:tc>
                  <a:txBody>
                    <a:bodyPr>
                      <a:noAutofit/>
                    </a:bodyPr>
                    <a:lstStyle/>
                    <a:p>
                      <a:r>
                        <a:rPr sz="1800" b="1">
                          <a:solidFill>
                            <a:srgbClr val="FFFFFF"/>
                          </a:solidFill>
                          <a:latin typeface="Arial"/>
                          <a:ea typeface="Arial"/>
                          <a:cs typeface="Arial"/>
                        </a:rPr>
                        <a:t>Status hasil</a:t>
                      </a:r>
                    </a:p>
                  </a:txBody>
                  <a:tcPr marL="91440" marR="91440" marT="45720" marB="45720">
                    <a:solidFill>
                      <a:srgbClr val="132B48"/>
                    </a:solidFill>
                  </a:tcPr>
                </a:tc>
              </a:tr>
              <a:tr h="654050">
                <a:tc>
                  <a:txBody>
                    <a:bodyPr>
                      <a:noAutofit/>
                    </a:bodyPr>
                    <a:lstStyle/>
                    <a:p>
                      <a:r>
                        <a:rPr sz="1800" b="0">
                          <a:solidFill>
                            <a:srgbClr val="26384A"/>
                          </a:solidFill>
                          <a:latin typeface="Arial"/>
                          <a:ea typeface="Arial"/>
                          <a:cs typeface="Arial"/>
                        </a:rPr>
                        <a:t>Simpan event</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Event baru</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draft</a:t>
                      </a:r>
                    </a:p>
                  </a:txBody>
                  <a:tcPr marL="91440" marR="91440" marT="45720" marB="45720">
                    <a:solidFill>
                      <a:srgbClr val="FFF5EE"/>
                    </a:solidFill>
                  </a:tcPr>
                </a:tc>
              </a:tr>
              <a:tr h="654050">
                <a:tc>
                  <a:txBody>
                    <a:bodyPr>
                      <a:noAutofit/>
                    </a:bodyPr>
                    <a:lstStyle/>
                    <a:p>
                      <a:r>
                        <a:rPr sz="1800" b="0">
                          <a:solidFill>
                            <a:srgbClr val="26384A"/>
                          </a:solidFill>
                          <a:latin typeface="Arial"/>
                          <a:ea typeface="Arial"/>
                          <a:cs typeface="Arial"/>
                        </a:rPr>
                        <a:t>Ajukan / ajukan ulang</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draft atau ditolak</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menunggu_moderasi</a:t>
                      </a:r>
                    </a:p>
                  </a:txBody>
                  <a:tcPr marL="91440" marR="91440" marT="45720" marB="45720">
                    <a:solidFill>
                      <a:srgbClr val="FFFFFF"/>
                    </a:solidFill>
                  </a:tcPr>
                </a:tc>
              </a:tr>
              <a:tr h="654050">
                <a:tc>
                  <a:txBody>
                    <a:bodyPr>
                      <a:noAutofit/>
                    </a:bodyPr>
                    <a:lstStyle/>
                    <a:p>
                      <a:r>
                        <a:rPr sz="1800" b="0">
                          <a:solidFill>
                            <a:srgbClr val="26384A"/>
                          </a:solidFill>
                          <a:latin typeface="Arial"/>
                          <a:ea typeface="Arial"/>
                          <a:cs typeface="Arial"/>
                        </a:rPr>
                        <a:t>Keputusan admin</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menunggu_moderasi</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disetujui atau ditolak</a:t>
                      </a:r>
                    </a:p>
                  </a:txBody>
                  <a:tcPr marL="91440" marR="91440" marT="45720" marB="45720">
                    <a:solidFill>
                      <a:srgbClr val="FFF5EE"/>
                    </a:solidFill>
                  </a:tcPr>
                </a:tc>
              </a:tr>
              <a:tr h="654050">
                <a:tc>
                  <a:txBody>
                    <a:bodyPr>
                      <a:noAutofit/>
                    </a:bodyPr>
                    <a:lstStyle/>
                    <a:p>
                      <a:r>
                        <a:rPr sz="1800" b="0">
                          <a:solidFill>
                            <a:srgbClr val="26384A"/>
                          </a:solidFill>
                          <a:latin typeface="Arial"/>
                          <a:ea typeface="Arial"/>
                          <a:cs typeface="Arial"/>
                        </a:rPr>
                        <a:t>Batalkan</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Event milik organisasi</a:t>
                      </a:r>
                    </a:p>
                  </a:txBody>
                  <a:tcPr marL="91440" marR="91440" marT="45720" marB="45720">
                    <a:solidFill>
                      <a:srgbClr val="FFFFFF"/>
                    </a:solidFill>
                  </a:tcPr>
                </a:tc>
                <a:tc>
                  <a:txBody>
                    <a:bodyPr>
                      <a:noAutofit/>
                    </a:bodyPr>
                    <a:lstStyle/>
                    <a:p>
                      <a:r>
                        <a:rPr sz="1800" b="0">
                          <a:solidFill>
                            <a:srgbClr val="26384A"/>
                          </a:solidFill>
                          <a:latin typeface="Arial"/>
                          <a:ea typeface="Arial"/>
                          <a:cs typeface="Arial"/>
                        </a:rPr>
                        <a:t>dibatalkan</a:t>
                      </a:r>
                    </a:p>
                  </a:txBody>
                  <a:tcPr marL="91440" marR="91440" marT="45720" marB="45720">
                    <a:solidFill>
                      <a:srgbClr val="FFFFFF"/>
                    </a:solidFill>
                  </a:tcPr>
                </a:tc>
              </a:tr>
              <a:tr h="654050">
                <a:tc>
                  <a:txBody>
                    <a:bodyPr>
                      <a:noAutofit/>
                    </a:bodyPr>
                    <a:lstStyle/>
                    <a:p>
                      <a:r>
                        <a:rPr sz="1800" b="0">
                          <a:solidFill>
                            <a:srgbClr val="26384A"/>
                          </a:solidFill>
                          <a:latin typeface="Arial"/>
                          <a:ea typeface="Arial"/>
                          <a:cs typeface="Arial"/>
                        </a:rPr>
                        <a:t>Akhiri setelah end_at</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disetujui</a:t>
                      </a:r>
                    </a:p>
                  </a:txBody>
                  <a:tcPr marL="91440" marR="91440" marT="45720" marB="45720">
                    <a:solidFill>
                      <a:srgbClr val="FFF5EE"/>
                    </a:solidFill>
                  </a:tcPr>
                </a:tc>
                <a:tc>
                  <a:txBody>
                    <a:bodyPr>
                      <a:noAutofit/>
                    </a:bodyPr>
                    <a:lstStyle/>
                    <a:p>
                      <a:r>
                        <a:rPr sz="1800" b="0">
                          <a:solidFill>
                            <a:srgbClr val="26384A"/>
                          </a:solidFill>
                          <a:latin typeface="Arial"/>
                          <a:ea typeface="Arial"/>
                          <a:cs typeface="Arial"/>
                        </a:rPr>
                        <a:t>selesai [Should]</a:t>
                      </a:r>
                    </a:p>
                  </a:txBody>
                  <a:tcPr marL="91440" marR="91440" marT="45720" marB="45720">
                    <a:solidFill>
                      <a:srgbClr val="FFF5EE"/>
                    </a:solidFill>
                  </a:tcPr>
                </a:tc>
              </a:tr>
            </a:tbl>
          </a:graphicData>
        </a:graphic>
      </p:graphicFrame>
      <p:sp>
        <p:nvSpPr>
          <p:cNvPr id="4" name="">
            <a:extLst xmlns:a="http://schemas.openxmlformats.org/drawingml/2006/main">
              <a:ext uri="{FF2B5EF4-FFF2-40B4-BE49-F238E27FC236}">
                <a16:creationId xmlns:a16="http://schemas.microsoft.com/office/drawing/2014/main" id="{7008308E-17D7-4E07-B033-8826842E912B}"/>
              </a:ext>
            </a:extLst>
          </p:cNvPr>
          <p:cNvSpPr>
            <a:spLocks xmlns:a="http://schemas.openxmlformats.org/drawingml/2006/main" noGrp="1"/>
          </p:cNvSpPr>
          <p:nvPr/>
        </p:nvSpPr>
        <p:spPr>
          <a:xfrm xmlns:a="http://schemas.openxmlformats.org/drawingml/2006/main">
            <a:off x="571500" y="5619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Publik hanya melihat event disetujui. Penolakan wajib disertai alasan.</a:t>
            </a:r>
          </a:p>
        </p:txBody>
      </p:sp>
    </p:spTree>
    <p:extLst>
      <p:ext uri="{BB962C8B-B14F-4D97-AF65-F5344CB8AC3E}">
        <p14:creationId xmlns:p14="http://schemas.microsoft.com/office/powerpoint/2010/main" val="8088401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31EFDE-0E36-44FA-B6D5-16FBADB573F5}"/>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Algoritma pencarian event</a:t>
            </a:r>
          </a:p>
        </p:txBody>
      </p:sp>
      <p:sp>
        <p:nvSpPr>
          <p:cNvPr id="2" name="">
            <a:extLst xmlns:a="http://schemas.openxmlformats.org/drawingml/2006/main">
              <a:ext uri="{FF2B5EF4-FFF2-40B4-BE49-F238E27FC236}">
                <a16:creationId xmlns:a16="http://schemas.microsoft.com/office/drawing/2014/main" id="{8060B4DB-CB5E-4458-A0A4-BF8C0FBCBAF7}"/>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cebec8774b54fb0"/>
          <a:stretch xmlns:a="http://schemas.openxmlformats.org/drawingml/2006/main"/>
        </p:blipFill>
        <p:spPr>
          <a:xfrm xmlns:a="http://schemas.openxmlformats.org/drawingml/2006/main">
            <a:off x="1038022" y="1247775"/>
            <a:ext cx="656313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CF4D00-C01B-4F94-A8DA-CB59EFCC5ED2}"/>
              </a:ext>
            </a:extLst>
          </p:cNvPr>
          <p:cNvSpPr>
            <a:spLocks xmlns:a="http://schemas.openxmlformats.org/drawingml/2006/main" noGrp="1"/>
          </p:cNvSpPr>
          <p:nvPr/>
        </p:nvSpPr>
        <p:spPr>
          <a:xfrm xmlns:a="http://schemas.openxmlformats.org/drawingml/2006/main">
            <a:off x="8572500" y="147637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Validasi input</a:t>
            </a:r>
          </a:p>
        </p:txBody>
      </p:sp>
      <p:sp>
        <p:nvSpPr>
          <p:cNvPr id="5" name="">
            <a:extLst xmlns:a="http://schemas.openxmlformats.org/drawingml/2006/main">
              <a:ext uri="{FF2B5EF4-FFF2-40B4-BE49-F238E27FC236}">
                <a16:creationId xmlns:a16="http://schemas.microsoft.com/office/drawing/2014/main" id="{D127D08B-A8CE-44CC-B70D-6618525A7D65}"/>
              </a:ext>
            </a:extLst>
          </p:cNvPr>
          <p:cNvSpPr>
            <a:spLocks xmlns:a="http://schemas.openxmlformats.org/drawingml/2006/main" noGrp="1"/>
          </p:cNvSpPr>
          <p:nvPr/>
        </p:nvSpPr>
        <p:spPr>
          <a:xfrm xmlns:a="http://schemas.openxmlformats.org/drawingml/2006/main">
            <a:off x="8572500" y="1885950"/>
            <a:ext cx="304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page minimal 1, limit 1–20</a:t>
            </a:r>
          </a:p>
        </p:txBody>
      </p:sp>
      <p:sp>
        <p:nvSpPr>
          <p:cNvPr id="6" name="">
            <a:extLst xmlns:a="http://schemas.openxmlformats.org/drawingml/2006/main">
              <a:ext uri="{FF2B5EF4-FFF2-40B4-BE49-F238E27FC236}">
                <a16:creationId xmlns:a16="http://schemas.microsoft.com/office/drawing/2014/main" id="{7EEEE275-144F-40CD-BE2E-AEB341B817F9}"/>
              </a:ext>
            </a:extLst>
          </p:cNvPr>
          <p:cNvSpPr>
            <a:spLocks xmlns:a="http://schemas.openxmlformats.org/drawingml/2006/main" noGrp="1"/>
          </p:cNvSpPr>
          <p:nvPr/>
        </p:nvSpPr>
        <p:spPr>
          <a:xfrm xmlns:a="http://schemas.openxmlformats.org/drawingml/2006/main">
            <a:off x="8572500" y="309562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Query konsisten</a:t>
            </a:r>
          </a:p>
        </p:txBody>
      </p:sp>
      <p:sp>
        <p:nvSpPr>
          <p:cNvPr id="7" name="">
            <a:extLst xmlns:a="http://schemas.openxmlformats.org/drawingml/2006/main">
              <a:ext uri="{FF2B5EF4-FFF2-40B4-BE49-F238E27FC236}">
                <a16:creationId xmlns:a16="http://schemas.microsoft.com/office/drawing/2014/main" id="{CE91A48C-AB0D-4740-8FBB-3530A806A466}"/>
              </a:ext>
            </a:extLst>
          </p:cNvPr>
          <p:cNvSpPr>
            <a:spLocks xmlns:a="http://schemas.openxmlformats.org/drawingml/2006/main" noGrp="1"/>
          </p:cNvSpPr>
          <p:nvPr/>
        </p:nvSpPr>
        <p:spPr>
          <a:xfrm xmlns:a="http://schemas.openxmlformats.org/drawingml/2006/main">
            <a:off x="8572500" y="3505200"/>
            <a:ext cx="304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Filter AND dengan rentang start_at</a:t>
            </a:r>
          </a:p>
        </p:txBody>
      </p:sp>
      <p:sp>
        <p:nvSpPr>
          <p:cNvPr id="8" name="">
            <a:extLst xmlns:a="http://schemas.openxmlformats.org/drawingml/2006/main">
              <a:ext uri="{FF2B5EF4-FFF2-40B4-BE49-F238E27FC236}">
                <a16:creationId xmlns:a16="http://schemas.microsoft.com/office/drawing/2014/main" id="{2F8E82AF-C35A-40B2-9F03-38E5EF838996}"/>
              </a:ext>
            </a:extLst>
          </p:cNvPr>
          <p:cNvSpPr>
            <a:spLocks xmlns:a="http://schemas.openxmlformats.org/drawingml/2006/main" noGrp="1"/>
          </p:cNvSpPr>
          <p:nvPr/>
        </p:nvSpPr>
        <p:spPr>
          <a:xfrm xmlns:a="http://schemas.openxmlformats.org/drawingml/2006/main">
            <a:off x="8572500" y="471487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Hasil pencarian</a:t>
            </a:r>
          </a:p>
        </p:txBody>
      </p:sp>
      <p:sp>
        <p:nvSpPr>
          <p:cNvPr id="9" name="">
            <a:extLst xmlns:a="http://schemas.openxmlformats.org/drawingml/2006/main">
              <a:ext uri="{FF2B5EF4-FFF2-40B4-BE49-F238E27FC236}">
                <a16:creationId xmlns:a16="http://schemas.microsoft.com/office/drawing/2014/main" id="{E5735024-6D58-4224-94EA-D53B2648F85C}"/>
              </a:ext>
            </a:extLst>
          </p:cNvPr>
          <p:cNvSpPr>
            <a:spLocks xmlns:a="http://schemas.openxmlformats.org/drawingml/2006/main" noGrp="1"/>
          </p:cNvSpPr>
          <p:nvPr/>
        </p:nvSpPr>
        <p:spPr>
          <a:xfrm xmlns:a="http://schemas.openxmlformats.org/drawingml/2006/main">
            <a:off x="8572500" y="5124450"/>
            <a:ext cx="304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data, total dan page</a:t>
            </a:r>
          </a:p>
        </p:txBody>
      </p:sp>
    </p:spTree>
    <p:extLst>
      <p:ext uri="{BB962C8B-B14F-4D97-AF65-F5344CB8AC3E}">
        <p14:creationId xmlns:p14="http://schemas.microsoft.com/office/powerpoint/2010/main" val="1285930214"/>
      </p:ext>
    </p:extLst>
  </p:cSld>
</p:sld>
</file>

<file path=ppt/slides/slide8.xml><?xml version="1.0" encoding="utf-8"?>
<p:sld xmlns:p="http://schemas.openxmlformats.org/presentationml/2006/main">
  <p:cSld>
    <p:bg>
      <p:bgPr>
        <a:solidFill xmlns:a="http://schemas.openxmlformats.org/drawingml/2006/main">
          <a:srgbClr val="132B4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335122-4E1E-4E32-BE5A-FA336D1F84D8}"/>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RSVP dan konsistensi kuota</a:t>
            </a:r>
          </a:p>
        </p:txBody>
      </p:sp>
      <p:sp>
        <p:nvSpPr>
          <p:cNvPr id="2" name="">
            <a:extLst xmlns:a="http://schemas.openxmlformats.org/drawingml/2006/main">
              <a:ext uri="{FF2B5EF4-FFF2-40B4-BE49-F238E27FC236}">
                <a16:creationId xmlns:a16="http://schemas.microsoft.com/office/drawing/2014/main" id="{DAC5E3C2-E69B-4749-852B-69E6CDB0B62F}"/>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A7BCCB"/>
                </a:solidFill>
                <a:latin typeface="Arial"/>
                <a:ea typeface="Arial"/>
                <a:cs typeface="Arial"/>
              </a:defRPr>
            </a:pPr>
            <a:r>
              <a:rPr sz="1125" b="0">
                <a:solidFill>
                  <a:srgbClr val="A7BCC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D12D97C-AD89-40A0-AD5B-5137F6A0F1DD}"/>
              </a:ext>
            </a:extLst>
          </p:cNvPr>
          <p:cNvSpPr>
            <a:spLocks xmlns:a="http://schemas.openxmlformats.org/drawingml/2006/main" noGrp="1"/>
          </p:cNvSpPr>
          <p:nvPr/>
        </p:nvSpPr>
        <p:spPr>
          <a:xfrm xmlns:a="http://schemas.openxmlformats.org/drawingml/2006/main">
            <a:off x="571500" y="18288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550" b="1">
                <a:solidFill>
                  <a:srgbClr val="F5A16A"/>
                </a:solidFill>
                <a:latin typeface="Arial"/>
                <a:ea typeface="Arial"/>
                <a:cs typeface="Arial"/>
              </a:defRPr>
            </a:pPr>
            <a:r>
              <a:rPr sz="5550" b="1">
                <a:solidFill>
                  <a:srgbClr val="F5A16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7EAE2BA-B068-4592-81D9-071E8900D784}"/>
              </a:ext>
            </a:extLst>
          </p:cNvPr>
          <p:cNvSpPr>
            <a:spLocks xmlns:a="http://schemas.openxmlformats.org/drawingml/2006/main" noGrp="1"/>
          </p:cNvSpPr>
          <p:nvPr/>
        </p:nvSpPr>
        <p:spPr>
          <a:xfrm xmlns:a="http://schemas.openxmlformats.org/drawingml/2006/main">
            <a:off x="571500" y="3057525"/>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Validasi</a:t>
            </a:r>
          </a:p>
        </p:txBody>
      </p:sp>
      <p:sp>
        <p:nvSpPr>
          <p:cNvPr id="5" name="">
            <a:extLst xmlns:a="http://schemas.openxmlformats.org/drawingml/2006/main">
              <a:ext uri="{FF2B5EF4-FFF2-40B4-BE49-F238E27FC236}">
                <a16:creationId xmlns:a16="http://schemas.microsoft.com/office/drawing/2014/main" id="{7DE2D809-DDBD-488B-B993-BC090B333467}"/>
              </a:ext>
            </a:extLst>
          </p:cNvPr>
          <p:cNvSpPr>
            <a:spLocks xmlns:a="http://schemas.openxmlformats.org/drawingml/2006/main" noGrp="1"/>
          </p:cNvSpPr>
          <p:nvPr/>
        </p:nvSpPr>
        <p:spPr>
          <a:xfrm xmlns:a="http://schemas.openxmlformats.org/drawingml/2006/main">
            <a:off x="571500" y="3876675"/>
            <a:ext cx="326707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8E3EA"/>
                </a:solidFill>
                <a:latin typeface="Arial"/>
                <a:ea typeface="Arial"/>
                <a:cs typeface="Arial"/>
              </a:defRPr>
            </a:pPr>
            <a:r>
              <a:rPr sz="1875" b="0">
                <a:solidFill>
                  <a:srgbClr val="D8E3EA"/>
                </a:solidFill>
                <a:latin typeface="Arial"/>
                <a:ea typeface="Arial"/>
                <a:cs typeface="Arial"/>
              </a:rPr>
              <a:t>Mahasiswa aktif, event disetujui dan waktu belum melewati end_at</a:t>
            </a:r>
          </a:p>
        </p:txBody>
      </p:sp>
      <p:sp>
        <p:nvSpPr>
          <p:cNvPr id="6" name="">
            <a:extLst xmlns:a="http://schemas.openxmlformats.org/drawingml/2006/main">
              <a:ext uri="{FF2B5EF4-FFF2-40B4-BE49-F238E27FC236}">
                <a16:creationId xmlns:a16="http://schemas.microsoft.com/office/drawing/2014/main" id="{3A7C9C63-64D7-47DE-BB91-60DB7C53D509}"/>
              </a:ext>
            </a:extLst>
          </p:cNvPr>
          <p:cNvSpPr>
            <a:spLocks xmlns:a="http://schemas.openxmlformats.org/drawingml/2006/main" noGrp="1"/>
          </p:cNvSpPr>
          <p:nvPr/>
        </p:nvSpPr>
        <p:spPr>
          <a:xfrm xmlns:a="http://schemas.openxmlformats.org/drawingml/2006/main">
            <a:off x="4429125" y="18288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550" b="1">
                <a:solidFill>
                  <a:srgbClr val="F5A16A"/>
                </a:solidFill>
                <a:latin typeface="Arial"/>
                <a:ea typeface="Arial"/>
                <a:cs typeface="Arial"/>
              </a:defRPr>
            </a:pPr>
            <a:r>
              <a:rPr sz="5550" b="1">
                <a:solidFill>
                  <a:srgbClr val="F5A16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894B972B-29CF-46CB-A813-BCA9EF2CE018}"/>
              </a:ext>
            </a:extLst>
          </p:cNvPr>
          <p:cNvSpPr>
            <a:spLocks xmlns:a="http://schemas.openxmlformats.org/drawingml/2006/main" noGrp="1"/>
          </p:cNvSpPr>
          <p:nvPr/>
        </p:nvSpPr>
        <p:spPr>
          <a:xfrm xmlns:a="http://schemas.openxmlformats.org/drawingml/2006/main">
            <a:off x="4429125" y="3057525"/>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Satu transaksi</a:t>
            </a:r>
          </a:p>
        </p:txBody>
      </p:sp>
      <p:sp>
        <p:nvSpPr>
          <p:cNvPr id="8" name="">
            <a:extLst xmlns:a="http://schemas.openxmlformats.org/drawingml/2006/main">
              <a:ext uri="{FF2B5EF4-FFF2-40B4-BE49-F238E27FC236}">
                <a16:creationId xmlns:a16="http://schemas.microsoft.com/office/drawing/2014/main" id="{35B1464B-FE36-4D8E-AC1F-C5525BE057B1}"/>
              </a:ext>
            </a:extLst>
          </p:cNvPr>
          <p:cNvSpPr>
            <a:spLocks xmlns:a="http://schemas.openxmlformats.org/drawingml/2006/main" noGrp="1"/>
          </p:cNvSpPr>
          <p:nvPr/>
        </p:nvSpPr>
        <p:spPr>
          <a:xfrm xmlns:a="http://schemas.openxmlformats.org/drawingml/2006/main">
            <a:off x="4429125" y="3876675"/>
            <a:ext cx="326707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8E3EA"/>
                </a:solidFill>
                <a:latin typeface="Arial"/>
                <a:ea typeface="Arial"/>
                <a:cs typeface="Arial"/>
              </a:defRPr>
            </a:pPr>
            <a:r>
              <a:rPr sz="1875" b="0">
                <a:solidFill>
                  <a:srgbClr val="D8E3EA"/>
                </a:solidFill>
                <a:latin typeface="Arial"/>
                <a:ea typeface="Arial"/>
                <a:cs typeface="Arial"/>
              </a:rPr>
              <a:t>Reservasi kursi atomik lalu simpan registration yang unik</a:t>
            </a:r>
          </a:p>
        </p:txBody>
      </p:sp>
      <p:sp>
        <p:nvSpPr>
          <p:cNvPr id="9" name="">
            <a:extLst xmlns:a="http://schemas.openxmlformats.org/drawingml/2006/main">
              <a:ext uri="{FF2B5EF4-FFF2-40B4-BE49-F238E27FC236}">
                <a16:creationId xmlns:a16="http://schemas.microsoft.com/office/drawing/2014/main" id="{B21783D9-E745-43C4-8838-8251CA202A5A}"/>
              </a:ext>
            </a:extLst>
          </p:cNvPr>
          <p:cNvSpPr>
            <a:spLocks xmlns:a="http://schemas.openxmlformats.org/drawingml/2006/main" noGrp="1"/>
          </p:cNvSpPr>
          <p:nvPr/>
        </p:nvSpPr>
        <p:spPr>
          <a:xfrm xmlns:a="http://schemas.openxmlformats.org/drawingml/2006/main">
            <a:off x="8286750" y="18288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550" b="1">
                <a:solidFill>
                  <a:srgbClr val="F5A16A"/>
                </a:solidFill>
                <a:latin typeface="Arial"/>
                <a:ea typeface="Arial"/>
                <a:cs typeface="Arial"/>
              </a:defRPr>
            </a:pPr>
            <a:r>
              <a:rPr sz="5550" b="1">
                <a:solidFill>
                  <a:srgbClr val="F5A16A"/>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15ABC36-83EC-4912-984B-82D012CC51F9}"/>
              </a:ext>
            </a:extLst>
          </p:cNvPr>
          <p:cNvSpPr>
            <a:spLocks xmlns:a="http://schemas.openxmlformats.org/drawingml/2006/main" noGrp="1"/>
          </p:cNvSpPr>
          <p:nvPr/>
        </p:nvSpPr>
        <p:spPr>
          <a:xfrm xmlns:a="http://schemas.openxmlformats.org/drawingml/2006/main">
            <a:off x="8286750" y="3057525"/>
            <a:ext cx="328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Sesudah commit</a:t>
            </a:r>
          </a:p>
        </p:txBody>
      </p:sp>
      <p:sp>
        <p:nvSpPr>
          <p:cNvPr id="11" name="">
            <a:extLst xmlns:a="http://schemas.openxmlformats.org/drawingml/2006/main">
              <a:ext uri="{FF2B5EF4-FFF2-40B4-BE49-F238E27FC236}">
                <a16:creationId xmlns:a16="http://schemas.microsoft.com/office/drawing/2014/main" id="{C4AEB379-C243-4681-8D05-F99AB795DA4F}"/>
              </a:ext>
            </a:extLst>
          </p:cNvPr>
          <p:cNvSpPr>
            <a:spLocks xmlns:a="http://schemas.openxmlformats.org/drawingml/2006/main" noGrp="1"/>
          </p:cNvSpPr>
          <p:nvPr/>
        </p:nvSpPr>
        <p:spPr>
          <a:xfrm xmlns:a="http://schemas.openxmlformats.org/drawingml/2006/main">
            <a:off x="8286750" y="3876675"/>
            <a:ext cx="326707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8E3EA"/>
                </a:solidFill>
                <a:latin typeface="Arial"/>
                <a:ea typeface="Arial"/>
                <a:cs typeface="Arial"/>
              </a:defRPr>
            </a:pPr>
            <a:r>
              <a:rPr sz="1875" b="0">
                <a:solidFill>
                  <a:srgbClr val="D8E3EA"/>
                </a:solidFill>
                <a:latin typeface="Arial"/>
                <a:ea typeface="Arial"/>
                <a:cs typeface="Arial"/>
              </a:rPr>
              <a:t>Terbitkan StudentRegistered setelah transaksi berhasil</a:t>
            </a:r>
          </a:p>
        </p:txBody>
      </p:sp>
      <p:sp>
        <p:nvSpPr>
          <p:cNvPr id="12" name="">
            <a:extLst xmlns:a="http://schemas.openxmlformats.org/drawingml/2006/main">
              <a:ext uri="{FF2B5EF4-FFF2-40B4-BE49-F238E27FC236}">
                <a16:creationId xmlns:a16="http://schemas.microsoft.com/office/drawing/2014/main" id="{0CD401FB-87EF-46FD-9E39-3C1CFF1BDDA3}"/>
              </a:ext>
            </a:extLst>
          </p:cNvPr>
          <p:cNvSpPr>
            <a:spLocks xmlns:a="http://schemas.openxmlformats.org/drawingml/2006/main" noGrp="1"/>
          </p:cNvSpPr>
          <p:nvPr/>
        </p:nvSpPr>
        <p:spPr>
          <a:xfrm xmlns:a="http://schemas.openxmlformats.org/drawingml/2006/main">
            <a:off x="571500" y="58197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F5A16A"/>
                </a:solidFill>
                <a:latin typeface="Arial"/>
                <a:ea typeface="Arial"/>
                <a:cs typeface="Arial"/>
              </a:defRPr>
            </a:pPr>
            <a:r>
              <a:rPr sz="1875" b="1">
                <a:solidFill>
                  <a:srgbClr val="F5A16A"/>
                </a:solidFill>
                <a:latin typeface="Arial"/>
                <a:ea typeface="Arial"/>
                <a:cs typeface="Arial"/>
              </a:rPr>
              <a:t>Gagal satu operasi, rollback seluruh transaksi. Pembatalan hanya sebelum start_at.</a:t>
            </a:r>
          </a:p>
        </p:txBody>
      </p:sp>
    </p:spTree>
    <p:extLst>
      <p:ext uri="{BB962C8B-B14F-4D97-AF65-F5344CB8AC3E}">
        <p14:creationId xmlns:p14="http://schemas.microsoft.com/office/powerpoint/2010/main" val="10650423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89F7DF-D345-4D65-9207-9741E03FEFA3}"/>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MVC pada frontend dan backend</a:t>
            </a:r>
          </a:p>
        </p:txBody>
      </p:sp>
      <p:sp>
        <p:nvSpPr>
          <p:cNvPr id="2" name="">
            <a:extLst xmlns:a="http://schemas.openxmlformats.org/drawingml/2006/main">
              <a:ext uri="{FF2B5EF4-FFF2-40B4-BE49-F238E27FC236}">
                <a16:creationId xmlns:a16="http://schemas.microsoft.com/office/drawing/2014/main" id="{24D24636-1588-4D1C-BB3A-A6DD569DEFD0}"/>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09</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eacc89397f34ede"/>
          <a:stretch xmlns:a="http://schemas.openxmlformats.org/drawingml/2006/main"/>
        </p:blipFill>
        <p:spPr>
          <a:xfrm xmlns:a="http://schemas.openxmlformats.org/drawingml/2006/main">
            <a:off x="1696104" y="1400175"/>
            <a:ext cx="8799793" cy="35337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C0D46F-FCFC-4095-99D0-3717B43BA832}"/>
              </a:ext>
            </a:extLst>
          </p:cNvPr>
          <p:cNvSpPr>
            <a:spLocks xmlns:a="http://schemas.openxmlformats.org/drawingml/2006/main" noGrp="1"/>
          </p:cNvSpPr>
          <p:nvPr/>
        </p:nvSpPr>
        <p:spPr>
          <a:xfrm xmlns:a="http://schemas.openxmlformats.org/drawingml/2006/main">
            <a:off x="571500" y="5334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32B48"/>
                </a:solidFill>
                <a:latin typeface="Arial"/>
                <a:ea typeface="Arial"/>
                <a:cs typeface="Arial"/>
              </a:defRPr>
            </a:pPr>
            <a:r>
              <a:rPr sz="2100" b="1">
                <a:solidFill>
                  <a:srgbClr val="132B48"/>
                </a:solidFill>
                <a:latin typeface="Arial"/>
                <a:ea typeface="Arial"/>
                <a:cs typeface="Arial"/>
              </a:rPr>
              <a:t>View menampilkan hasil</a:t>
            </a:r>
          </a:p>
        </p:txBody>
      </p:sp>
      <p:sp>
        <p:nvSpPr>
          <p:cNvPr id="5" name="">
            <a:extLst xmlns:a="http://schemas.openxmlformats.org/drawingml/2006/main">
              <a:ext uri="{FF2B5EF4-FFF2-40B4-BE49-F238E27FC236}">
                <a16:creationId xmlns:a16="http://schemas.microsoft.com/office/drawing/2014/main" id="{F2FBA363-E569-4A04-A4ED-F13D689D97A0}"/>
              </a:ext>
            </a:extLst>
          </p:cNvPr>
          <p:cNvSpPr>
            <a:spLocks xmlns:a="http://schemas.openxmlformats.org/drawingml/2006/main" noGrp="1"/>
          </p:cNvSpPr>
          <p:nvPr/>
        </p:nvSpPr>
        <p:spPr>
          <a:xfrm xmlns:a="http://schemas.openxmlformats.org/drawingml/2006/main">
            <a:off x="4429125" y="5334000"/>
            <a:ext cx="328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32B48"/>
                </a:solidFill>
                <a:latin typeface="Arial"/>
                <a:ea typeface="Arial"/>
                <a:cs typeface="Arial"/>
              </a:defRPr>
            </a:pPr>
            <a:r>
              <a:rPr sz="2100" b="1">
                <a:solidFill>
                  <a:srgbClr val="132B48"/>
                </a:solidFill>
                <a:latin typeface="Arial"/>
                <a:ea typeface="Arial"/>
                <a:cs typeface="Arial"/>
              </a:rPr>
              <a:t>Controller menangani request</a:t>
            </a:r>
          </a:p>
        </p:txBody>
      </p:sp>
      <p:sp>
        <p:nvSpPr>
          <p:cNvPr id="6" name="">
            <a:extLst xmlns:a="http://schemas.openxmlformats.org/drawingml/2006/main">
              <a:ext uri="{FF2B5EF4-FFF2-40B4-BE49-F238E27FC236}">
                <a16:creationId xmlns:a16="http://schemas.microsoft.com/office/drawing/2014/main" id="{DE500F45-6EF0-4D9F-9296-A9F83B98C0AA}"/>
              </a:ext>
            </a:extLst>
          </p:cNvPr>
          <p:cNvSpPr>
            <a:spLocks xmlns:a="http://schemas.openxmlformats.org/drawingml/2006/main" noGrp="1"/>
          </p:cNvSpPr>
          <p:nvPr/>
        </p:nvSpPr>
        <p:spPr>
          <a:xfrm xmlns:a="http://schemas.openxmlformats.org/drawingml/2006/main">
            <a:off x="8286750" y="5334000"/>
            <a:ext cx="328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32B48"/>
                </a:solidFill>
                <a:latin typeface="Arial"/>
                <a:ea typeface="Arial"/>
                <a:cs typeface="Arial"/>
              </a:defRPr>
            </a:pPr>
            <a:r>
              <a:rPr sz="2100" b="1">
                <a:solidFill>
                  <a:srgbClr val="132B48"/>
                </a:solidFill>
                <a:latin typeface="Arial"/>
                <a:ea typeface="Arial"/>
                <a:cs typeface="Arial"/>
              </a:rPr>
              <a:t>Model memuat aturan bisnis</a:t>
            </a:r>
          </a:p>
        </p:txBody>
      </p:sp>
    </p:spTree>
    <p:extLst>
      <p:ext uri="{BB962C8B-B14F-4D97-AF65-F5344CB8AC3E}">
        <p14:creationId xmlns:p14="http://schemas.microsoft.com/office/powerpoint/2010/main" val="5651078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AEDD30-C3C9-49A3-89E7-C4351F49E47B}"/>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Repository Pattern</a:t>
            </a:r>
          </a:p>
        </p:txBody>
      </p:sp>
      <p:sp>
        <p:nvSpPr>
          <p:cNvPr id="2" name="">
            <a:extLst xmlns:a="http://schemas.openxmlformats.org/drawingml/2006/main">
              <a:ext uri="{FF2B5EF4-FFF2-40B4-BE49-F238E27FC236}">
                <a16:creationId xmlns:a16="http://schemas.microsoft.com/office/drawing/2014/main" id="{2DEE1F4E-DD5B-4FD8-AEDD-627D688168CA}"/>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b581c57ba7d40ee"/>
          <a:stretch xmlns:a="http://schemas.openxmlformats.org/drawingml/2006/main"/>
        </p:blipFill>
        <p:spPr>
          <a:xfrm xmlns:a="http://schemas.openxmlformats.org/drawingml/2006/main">
            <a:off x="729258" y="1428750"/>
            <a:ext cx="7409259"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8837A3-91F7-4F33-B6DA-4D30289DE10C}"/>
              </a:ext>
            </a:extLst>
          </p:cNvPr>
          <p:cNvSpPr>
            <a:spLocks xmlns:a="http://schemas.openxmlformats.org/drawingml/2006/main" noGrp="1"/>
          </p:cNvSpPr>
          <p:nvPr/>
        </p:nvSpPr>
        <p:spPr>
          <a:xfrm xmlns:a="http://schemas.openxmlformats.org/drawingml/2006/main">
            <a:off x="8620125" y="1504950"/>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Masalah</a:t>
            </a:r>
          </a:p>
        </p:txBody>
      </p:sp>
      <p:sp>
        <p:nvSpPr>
          <p:cNvPr id="5" name="">
            <a:extLst xmlns:a="http://schemas.openxmlformats.org/drawingml/2006/main">
              <a:ext uri="{FF2B5EF4-FFF2-40B4-BE49-F238E27FC236}">
                <a16:creationId xmlns:a16="http://schemas.microsoft.com/office/drawing/2014/main" id="{74F2901E-62F0-4201-A57D-C8AE119ED0F5}"/>
              </a:ext>
            </a:extLst>
          </p:cNvPr>
          <p:cNvSpPr>
            <a:spLocks xmlns:a="http://schemas.openxmlformats.org/drawingml/2006/main" noGrp="1"/>
          </p:cNvSpPr>
          <p:nvPr/>
        </p:nvSpPr>
        <p:spPr>
          <a:xfrm xmlns:a="http://schemas.openxmlformats.org/drawingml/2006/main">
            <a:off x="8620125" y="1914525"/>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Aturan bisnis terikat ke SQL</a:t>
            </a:r>
          </a:p>
        </p:txBody>
      </p:sp>
      <p:sp>
        <p:nvSpPr>
          <p:cNvPr id="6" name="">
            <a:extLst xmlns:a="http://schemas.openxmlformats.org/drawingml/2006/main">
              <a:ext uri="{FF2B5EF4-FFF2-40B4-BE49-F238E27FC236}">
                <a16:creationId xmlns:a16="http://schemas.microsoft.com/office/drawing/2014/main" id="{F81DD851-2BED-4494-B6DB-853D47D83F15}"/>
              </a:ext>
            </a:extLst>
          </p:cNvPr>
          <p:cNvSpPr>
            <a:spLocks xmlns:a="http://schemas.openxmlformats.org/drawingml/2006/main" noGrp="1"/>
          </p:cNvSpPr>
          <p:nvPr/>
        </p:nvSpPr>
        <p:spPr>
          <a:xfrm xmlns:a="http://schemas.openxmlformats.org/drawingml/2006/main">
            <a:off x="8620125" y="3067050"/>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Penerapan</a:t>
            </a:r>
          </a:p>
        </p:txBody>
      </p:sp>
      <p:sp>
        <p:nvSpPr>
          <p:cNvPr id="7" name="">
            <a:extLst xmlns:a="http://schemas.openxmlformats.org/drawingml/2006/main">
              <a:ext uri="{FF2B5EF4-FFF2-40B4-BE49-F238E27FC236}">
                <a16:creationId xmlns:a16="http://schemas.microsoft.com/office/drawing/2014/main" id="{58DE2603-0F70-4EEB-A428-D292A2D15FE5}"/>
              </a:ext>
            </a:extLst>
          </p:cNvPr>
          <p:cNvSpPr>
            <a:spLocks xmlns:a="http://schemas.openxmlformats.org/drawingml/2006/main" noGrp="1"/>
          </p:cNvSpPr>
          <p:nvPr/>
        </p:nvSpPr>
        <p:spPr>
          <a:xfrm xmlns:a="http://schemas.openxmlformats.org/drawingml/2006/main">
            <a:off x="8620125" y="3476625"/>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Service memakai interface repository</a:t>
            </a:r>
          </a:p>
        </p:txBody>
      </p:sp>
      <p:sp>
        <p:nvSpPr>
          <p:cNvPr id="8" name="">
            <a:extLst xmlns:a="http://schemas.openxmlformats.org/drawingml/2006/main">
              <a:ext uri="{FF2B5EF4-FFF2-40B4-BE49-F238E27FC236}">
                <a16:creationId xmlns:a16="http://schemas.microsoft.com/office/drawing/2014/main" id="{113CB69C-5201-4F4E-9A83-7DA4A5AA8E23}"/>
              </a:ext>
            </a:extLst>
          </p:cNvPr>
          <p:cNvSpPr>
            <a:spLocks xmlns:a="http://schemas.openxmlformats.org/drawingml/2006/main" noGrp="1"/>
          </p:cNvSpPr>
          <p:nvPr/>
        </p:nvSpPr>
        <p:spPr>
          <a:xfrm xmlns:a="http://schemas.openxmlformats.org/drawingml/2006/main">
            <a:off x="8620125" y="4629150"/>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Manfaat</a:t>
            </a:r>
          </a:p>
        </p:txBody>
      </p:sp>
      <p:sp>
        <p:nvSpPr>
          <p:cNvPr id="9" name="">
            <a:extLst xmlns:a="http://schemas.openxmlformats.org/drawingml/2006/main">
              <a:ext uri="{FF2B5EF4-FFF2-40B4-BE49-F238E27FC236}">
                <a16:creationId xmlns:a16="http://schemas.microsoft.com/office/drawing/2014/main" id="{46216455-706F-4A68-9167-05B2B654387F}"/>
              </a:ext>
            </a:extLst>
          </p:cNvPr>
          <p:cNvSpPr>
            <a:spLocks xmlns:a="http://schemas.openxmlformats.org/drawingml/2006/main" noGrp="1"/>
          </p:cNvSpPr>
          <p:nvPr/>
        </p:nvSpPr>
        <p:spPr>
          <a:xfrm xmlns:a="http://schemas.openxmlformats.org/drawingml/2006/main">
            <a:off x="8620125" y="5038725"/>
            <a:ext cx="295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Implementasi dan test double mudah diganti</a:t>
            </a:r>
          </a:p>
        </p:txBody>
      </p:sp>
    </p:spTree>
    <p:extLst>
      <p:ext uri="{BB962C8B-B14F-4D97-AF65-F5344CB8AC3E}">
        <p14:creationId xmlns:p14="http://schemas.microsoft.com/office/powerpoint/2010/main" val="7308107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A761D7-C9AB-433A-B0C3-0301D2364A1D}"/>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Observer untuk notifikasi</a:t>
            </a:r>
          </a:p>
        </p:txBody>
      </p:sp>
      <p:sp>
        <p:nvSpPr>
          <p:cNvPr id="2" name="">
            <a:extLst xmlns:a="http://schemas.openxmlformats.org/drawingml/2006/main">
              <a:ext uri="{FF2B5EF4-FFF2-40B4-BE49-F238E27FC236}">
                <a16:creationId xmlns:a16="http://schemas.microsoft.com/office/drawing/2014/main" id="{06FC700E-51A2-4C15-AA65-67CF69E05C9E}"/>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3171d3ea72e4cb2"/>
          <a:stretch xmlns:a="http://schemas.openxmlformats.org/drawingml/2006/main"/>
        </p:blipFill>
        <p:spPr>
          <a:xfrm xmlns:a="http://schemas.openxmlformats.org/drawingml/2006/main">
            <a:off x="1231602" y="1362075"/>
            <a:ext cx="6375995" cy="4819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20C3A7-9E3D-468E-BAA0-6EB7A832462D}"/>
              </a:ext>
            </a:extLst>
          </p:cNvPr>
          <p:cNvSpPr>
            <a:spLocks xmlns:a="http://schemas.openxmlformats.org/drawingml/2006/main" noGrp="1"/>
          </p:cNvSpPr>
          <p:nvPr/>
        </p:nvSpPr>
        <p:spPr>
          <a:xfrm xmlns:a="http://schemas.openxmlformats.org/drawingml/2006/main">
            <a:off x="8667750" y="1485900"/>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Publisher</a:t>
            </a:r>
          </a:p>
        </p:txBody>
      </p:sp>
      <p:sp>
        <p:nvSpPr>
          <p:cNvPr id="5" name="">
            <a:extLst xmlns:a="http://schemas.openxmlformats.org/drawingml/2006/main">
              <a:ext uri="{FF2B5EF4-FFF2-40B4-BE49-F238E27FC236}">
                <a16:creationId xmlns:a16="http://schemas.microsoft.com/office/drawing/2014/main" id="{623A225D-83CE-4EAB-8D6C-83A64A2A33B4}"/>
              </a:ext>
            </a:extLst>
          </p:cNvPr>
          <p:cNvSpPr>
            <a:spLocks xmlns:a="http://schemas.openxmlformats.org/drawingml/2006/main" noGrp="1"/>
          </p:cNvSpPr>
          <p:nvPr/>
        </p:nvSpPr>
        <p:spPr>
          <a:xfrm xmlns:a="http://schemas.openxmlformats.org/drawingml/2006/main">
            <a:off x="8667750" y="1895475"/>
            <a:ext cx="29337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Event dan Pendaftaran menerbitkan domain event</a:t>
            </a:r>
          </a:p>
        </p:txBody>
      </p:sp>
      <p:sp>
        <p:nvSpPr>
          <p:cNvPr id="6" name="">
            <a:extLst xmlns:a="http://schemas.openxmlformats.org/drawingml/2006/main">
              <a:ext uri="{FF2B5EF4-FFF2-40B4-BE49-F238E27FC236}">
                <a16:creationId xmlns:a16="http://schemas.microsoft.com/office/drawing/2014/main" id="{C7601E27-CBA9-4008-8700-395B34F8A0AA}"/>
              </a:ext>
            </a:extLst>
          </p:cNvPr>
          <p:cNvSpPr>
            <a:spLocks xmlns:a="http://schemas.openxmlformats.org/drawingml/2006/main" noGrp="1"/>
          </p:cNvSpPr>
          <p:nvPr/>
        </p:nvSpPr>
        <p:spPr>
          <a:xfrm xmlns:a="http://schemas.openxmlformats.org/drawingml/2006/main">
            <a:off x="8667750" y="309562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Subscriber</a:t>
            </a:r>
          </a:p>
        </p:txBody>
      </p:sp>
      <p:sp>
        <p:nvSpPr>
          <p:cNvPr id="7" name="">
            <a:extLst xmlns:a="http://schemas.openxmlformats.org/drawingml/2006/main">
              <a:ext uri="{FF2B5EF4-FFF2-40B4-BE49-F238E27FC236}">
                <a16:creationId xmlns:a16="http://schemas.microsoft.com/office/drawing/2014/main" id="{2849D9EC-09DB-42D2-BC36-805F6421FF2A}"/>
              </a:ext>
            </a:extLst>
          </p:cNvPr>
          <p:cNvSpPr>
            <a:spLocks xmlns:a="http://schemas.openxmlformats.org/drawingml/2006/main" noGrp="1"/>
          </p:cNvSpPr>
          <p:nvPr/>
        </p:nvSpPr>
        <p:spPr>
          <a:xfrm xmlns:a="http://schemas.openxmlformats.org/drawingml/2006/main">
            <a:off x="8667750" y="3505200"/>
            <a:ext cx="29337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NotificationService menangani event</a:t>
            </a:r>
          </a:p>
        </p:txBody>
      </p:sp>
      <p:sp>
        <p:nvSpPr>
          <p:cNvPr id="8" name="">
            <a:extLst xmlns:a="http://schemas.openxmlformats.org/drawingml/2006/main">
              <a:ext uri="{FF2B5EF4-FFF2-40B4-BE49-F238E27FC236}">
                <a16:creationId xmlns:a16="http://schemas.microsoft.com/office/drawing/2014/main" id="{A464ED04-2C83-477B-88E0-9D3B4C57A31A}"/>
              </a:ext>
            </a:extLst>
          </p:cNvPr>
          <p:cNvSpPr>
            <a:spLocks xmlns:a="http://schemas.openxmlformats.org/drawingml/2006/main" noGrp="1"/>
          </p:cNvSpPr>
          <p:nvPr/>
        </p:nvSpPr>
        <p:spPr>
          <a:xfrm xmlns:a="http://schemas.openxmlformats.org/drawingml/2006/main">
            <a:off x="8667750" y="4705350"/>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Sesudah commit</a:t>
            </a:r>
          </a:p>
        </p:txBody>
      </p:sp>
      <p:sp>
        <p:nvSpPr>
          <p:cNvPr id="9" name="">
            <a:extLst xmlns:a="http://schemas.openxmlformats.org/drawingml/2006/main">
              <a:ext uri="{FF2B5EF4-FFF2-40B4-BE49-F238E27FC236}">
                <a16:creationId xmlns:a16="http://schemas.microsoft.com/office/drawing/2014/main" id="{4A9161EE-CCCD-4B08-8685-888998AF528F}"/>
              </a:ext>
            </a:extLst>
          </p:cNvPr>
          <p:cNvSpPr>
            <a:spLocks xmlns:a="http://schemas.openxmlformats.org/drawingml/2006/main" noGrp="1"/>
          </p:cNvSpPr>
          <p:nvPr/>
        </p:nvSpPr>
        <p:spPr>
          <a:xfrm xmlns:a="http://schemas.openxmlformats.org/drawingml/2006/main">
            <a:off x="8667750" y="5114925"/>
            <a:ext cx="29337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Notifikasi mengikuti transaksi berhasil</a:t>
            </a:r>
          </a:p>
        </p:txBody>
      </p:sp>
    </p:spTree>
    <p:extLst>
      <p:ext uri="{BB962C8B-B14F-4D97-AF65-F5344CB8AC3E}">
        <p14:creationId xmlns:p14="http://schemas.microsoft.com/office/powerpoint/2010/main" val="21260902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AB4CDB-E7CE-44DF-BF3D-0EF54A6DDE02}"/>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Struktur frontend React</a:t>
            </a:r>
          </a:p>
        </p:txBody>
      </p:sp>
      <p:sp>
        <p:nvSpPr>
          <p:cNvPr id="2" name="">
            <a:extLst xmlns:a="http://schemas.openxmlformats.org/drawingml/2006/main">
              <a:ext uri="{FF2B5EF4-FFF2-40B4-BE49-F238E27FC236}">
                <a16:creationId xmlns:a16="http://schemas.microsoft.com/office/drawing/2014/main" id="{4E944559-8616-46EF-8203-F3B66B03BAAB}"/>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92d3960639f4e83"/>
          <a:stretch xmlns:a="http://schemas.openxmlformats.org/drawingml/2006/main"/>
        </p:blipFill>
        <p:spPr>
          <a:xfrm xmlns:a="http://schemas.openxmlformats.org/drawingml/2006/main">
            <a:off x="533400" y="1943812"/>
            <a:ext cx="7658100" cy="3437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F12D4E-51AD-42DB-B4E1-6BDB4DBE2FCC}"/>
              </a:ext>
            </a:extLst>
          </p:cNvPr>
          <p:cNvSpPr>
            <a:spLocks xmlns:a="http://schemas.openxmlformats.org/drawingml/2006/main" noGrp="1"/>
          </p:cNvSpPr>
          <p:nvPr/>
        </p:nvSpPr>
        <p:spPr>
          <a:xfrm xmlns:a="http://schemas.openxmlformats.org/drawingml/2006/main">
            <a:off x="8572500" y="147637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pages / components</a:t>
            </a:r>
          </a:p>
        </p:txBody>
      </p:sp>
      <p:sp>
        <p:nvSpPr>
          <p:cNvPr id="5" name="">
            <a:extLst xmlns:a="http://schemas.openxmlformats.org/drawingml/2006/main">
              <a:ext uri="{FF2B5EF4-FFF2-40B4-BE49-F238E27FC236}">
                <a16:creationId xmlns:a16="http://schemas.microsoft.com/office/drawing/2014/main" id="{41CB7E68-8F69-423C-944B-1D7B53A74DE4}"/>
              </a:ext>
            </a:extLst>
          </p:cNvPr>
          <p:cNvSpPr>
            <a:spLocks xmlns:a="http://schemas.openxmlformats.org/drawingml/2006/main" noGrp="1"/>
          </p:cNvSpPr>
          <p:nvPr/>
        </p:nvSpPr>
        <p:spPr>
          <a:xfrm xmlns:a="http://schemas.openxmlformats.org/drawingml/2006/main">
            <a:off x="8572500" y="1885950"/>
            <a:ext cx="304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Halaman dan komponen tampilan</a:t>
            </a:r>
          </a:p>
        </p:txBody>
      </p:sp>
      <p:sp>
        <p:nvSpPr>
          <p:cNvPr id="6" name="">
            <a:extLst xmlns:a="http://schemas.openxmlformats.org/drawingml/2006/main">
              <a:ext uri="{FF2B5EF4-FFF2-40B4-BE49-F238E27FC236}">
                <a16:creationId xmlns:a16="http://schemas.microsoft.com/office/drawing/2014/main" id="{47B716F1-4087-4E38-B9C6-62B43A010A92}"/>
              </a:ext>
            </a:extLst>
          </p:cNvPr>
          <p:cNvSpPr>
            <a:spLocks xmlns:a="http://schemas.openxmlformats.org/drawingml/2006/main" noGrp="1"/>
          </p:cNvSpPr>
          <p:nvPr/>
        </p:nvSpPr>
        <p:spPr>
          <a:xfrm xmlns:a="http://schemas.openxmlformats.org/drawingml/2006/main">
            <a:off x="8572500" y="309562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hooks / services</a:t>
            </a:r>
          </a:p>
        </p:txBody>
      </p:sp>
      <p:sp>
        <p:nvSpPr>
          <p:cNvPr id="7" name="">
            <a:extLst xmlns:a="http://schemas.openxmlformats.org/drawingml/2006/main">
              <a:ext uri="{FF2B5EF4-FFF2-40B4-BE49-F238E27FC236}">
                <a16:creationId xmlns:a16="http://schemas.microsoft.com/office/drawing/2014/main" id="{8DA2A956-195E-4D63-B586-CDF53008535C}"/>
              </a:ext>
            </a:extLst>
          </p:cNvPr>
          <p:cNvSpPr>
            <a:spLocks xmlns:a="http://schemas.openxmlformats.org/drawingml/2006/main" noGrp="1"/>
          </p:cNvSpPr>
          <p:nvPr/>
        </p:nvSpPr>
        <p:spPr>
          <a:xfrm xmlns:a="http://schemas.openxmlformats.org/drawingml/2006/main">
            <a:off x="8572500" y="3505200"/>
            <a:ext cx="304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Aksi UI dan akses API terpusat</a:t>
            </a:r>
          </a:p>
        </p:txBody>
      </p:sp>
      <p:sp>
        <p:nvSpPr>
          <p:cNvPr id="8" name="">
            <a:extLst xmlns:a="http://schemas.openxmlformats.org/drawingml/2006/main">
              <a:ext uri="{FF2B5EF4-FFF2-40B4-BE49-F238E27FC236}">
                <a16:creationId xmlns:a16="http://schemas.microsoft.com/office/drawing/2014/main" id="{C00743C3-BE5B-4597-92C5-806919CF548B}"/>
              </a:ext>
            </a:extLst>
          </p:cNvPr>
          <p:cNvSpPr>
            <a:spLocks xmlns:a="http://schemas.openxmlformats.org/drawingml/2006/main" noGrp="1"/>
          </p:cNvSpPr>
          <p:nvPr/>
        </p:nvSpPr>
        <p:spPr>
          <a:xfrm xmlns:a="http://schemas.openxmlformats.org/drawingml/2006/main">
            <a:off x="8572500" y="4714875"/>
            <a:ext cx="304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Context</a:t>
            </a:r>
          </a:p>
        </p:txBody>
      </p:sp>
      <p:sp>
        <p:nvSpPr>
          <p:cNvPr id="9" name="">
            <a:extLst xmlns:a="http://schemas.openxmlformats.org/drawingml/2006/main">
              <a:ext uri="{FF2B5EF4-FFF2-40B4-BE49-F238E27FC236}">
                <a16:creationId xmlns:a16="http://schemas.microsoft.com/office/drawing/2014/main" id="{A4114CB4-DA41-4E66-BD88-D1A2107DDF4F}"/>
              </a:ext>
            </a:extLst>
          </p:cNvPr>
          <p:cNvSpPr>
            <a:spLocks xmlns:a="http://schemas.openxmlformats.org/drawingml/2006/main" noGrp="1"/>
          </p:cNvSpPr>
          <p:nvPr/>
        </p:nvSpPr>
        <p:spPr>
          <a:xfrm xmlns:a="http://schemas.openxmlformats.org/drawingml/2006/main">
            <a:off x="8572500" y="5124450"/>
            <a:ext cx="304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6384A"/>
                </a:solidFill>
                <a:latin typeface="Arial"/>
                <a:ea typeface="Arial"/>
                <a:cs typeface="Arial"/>
              </a:defRPr>
            </a:pPr>
            <a:r>
              <a:rPr sz="1875" b="0">
                <a:solidFill>
                  <a:srgbClr val="26384A"/>
                </a:solidFill>
                <a:latin typeface="Arial"/>
                <a:ea typeface="Arial"/>
                <a:cs typeface="Arial"/>
              </a:rPr>
              <a:t>Sesi, organisasi dan unreadCount</a:t>
            </a:r>
          </a:p>
        </p:txBody>
      </p:sp>
    </p:spTree>
    <p:extLst>
      <p:ext uri="{BB962C8B-B14F-4D97-AF65-F5344CB8AC3E}">
        <p14:creationId xmlns:p14="http://schemas.microsoft.com/office/powerpoint/2010/main" val="12164608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2A6EB9-E2F6-4BE6-BEA9-B72F90179761}"/>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Kemajuan dan tindak lanjut</a:t>
            </a:r>
          </a:p>
        </p:txBody>
      </p:sp>
      <p:sp>
        <p:nvSpPr>
          <p:cNvPr id="2" name="">
            <a:extLst xmlns:a="http://schemas.openxmlformats.org/drawingml/2006/main">
              <a:ext uri="{FF2B5EF4-FFF2-40B4-BE49-F238E27FC236}">
                <a16:creationId xmlns:a16="http://schemas.microsoft.com/office/drawing/2014/main" id="{8BA852E6-7CDD-4C58-ACDB-E413A50ECC0C}"/>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F674C567-B173-4037-B5F0-BAF59B179F53}"/>
              </a:ext>
            </a:extLst>
          </p:cNvPr>
          <p:cNvSpPr>
            <a:spLocks xmlns:a="http://schemas.openxmlformats.org/drawingml/2006/main" noGrp="1"/>
          </p:cNvSpPr>
          <p:nvPr/>
        </p:nvSpPr>
        <p:spPr>
          <a:xfrm xmlns:a="http://schemas.openxmlformats.org/drawingml/2006/main">
            <a:off x="571500" y="1590675"/>
            <a:ext cx="471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C44C21"/>
                </a:solidFill>
                <a:latin typeface="Arial"/>
                <a:ea typeface="Arial"/>
                <a:cs typeface="Arial"/>
              </a:defRPr>
            </a:pPr>
            <a:r>
              <a:rPr sz="2550" b="1">
                <a:solidFill>
                  <a:srgbClr val="C44C21"/>
                </a:solidFill>
                <a:latin typeface="Arial"/>
                <a:ea typeface="Arial"/>
                <a:cs typeface="Arial"/>
              </a:rPr>
              <a:t>Tersedia</a:t>
            </a:r>
          </a:p>
        </p:txBody>
      </p:sp>
      <p:sp>
        <p:nvSpPr>
          <p:cNvPr id="4" name="">
            <a:extLst xmlns:a="http://schemas.openxmlformats.org/drawingml/2006/main">
              <a:ext uri="{FF2B5EF4-FFF2-40B4-BE49-F238E27FC236}">
                <a16:creationId xmlns:a16="http://schemas.microsoft.com/office/drawing/2014/main" id="{D51825F8-930D-4DBF-9C94-B466C6198F76}"/>
              </a:ext>
            </a:extLst>
          </p:cNvPr>
          <p:cNvSpPr>
            <a:spLocks xmlns:a="http://schemas.openxmlformats.org/drawingml/2006/main" noGrp="1"/>
          </p:cNvSpPr>
          <p:nvPr/>
        </p:nvSpPr>
        <p:spPr>
          <a:xfrm xmlns:a="http://schemas.openxmlformats.org/drawingml/2006/main">
            <a:off x="571500" y="22288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32B48"/>
                </a:solidFill>
                <a:latin typeface="Arial"/>
                <a:ea typeface="Arial"/>
                <a:cs typeface="Arial"/>
              </a:defRPr>
            </a:pPr>
            <a:r>
              <a:rPr sz="2325" b="0">
                <a:solidFill>
                  <a:srgbClr val="132B48"/>
                </a:solidFill>
                <a:latin typeface="Arial"/>
                <a:ea typeface="Arial"/>
                <a:cs typeface="Arial"/>
              </a:rPr>
              <a:t>DOCX Minggu 5–7</a:t>
            </a:r>
          </a:p>
          <a:p xmlns:a="http://schemas.openxmlformats.org/drawingml/2006/main">
            <a:pPr>
              <a:defRPr sz="2325" b="0">
                <a:solidFill>
                  <a:srgbClr val="132B48"/>
                </a:solidFill>
                <a:latin typeface="Arial"/>
                <a:ea typeface="Arial"/>
                <a:cs typeface="Arial"/>
              </a:defRPr>
            </a:pPr>
            <a:r>
              <a:rPr sz="2325" b="0">
                <a:solidFill>
                  <a:srgbClr val="132B48"/>
                </a:solidFill>
                <a:latin typeface="Arial"/>
                <a:ea typeface="Arial"/>
                <a:cs typeface="Arial"/>
              </a:rPr>
              <a:t>Diagram Lucidchart</a:t>
            </a:r>
          </a:p>
          <a:p xmlns:a="http://schemas.openxmlformats.org/drawingml/2006/main">
            <a:pPr>
              <a:defRPr sz="2325" b="0">
                <a:solidFill>
                  <a:srgbClr val="132B48"/>
                </a:solidFill>
                <a:latin typeface="Arial"/>
                <a:ea typeface="Arial"/>
                <a:cs typeface="Arial"/>
              </a:defRPr>
            </a:pPr>
            <a:r>
              <a:rPr sz="2325" b="0">
                <a:solidFill>
                  <a:srgbClr val="132B48"/>
                </a:solidFill>
                <a:latin typeface="Arial"/>
                <a:ea typeface="Arial"/>
                <a:cs typeface="Arial"/>
              </a:rPr>
              <a:t>Kontrak API rancangan</a:t>
            </a:r>
          </a:p>
        </p:txBody>
      </p:sp>
      <p:sp>
        <p:nvSpPr>
          <p:cNvPr id="5" name="">
            <a:extLst xmlns:a="http://schemas.openxmlformats.org/drawingml/2006/main">
              <a:ext uri="{FF2B5EF4-FFF2-40B4-BE49-F238E27FC236}">
                <a16:creationId xmlns:a16="http://schemas.microsoft.com/office/drawing/2014/main" id="{1471FF55-2B48-4C60-847B-6E7418977BF9}"/>
              </a:ext>
            </a:extLst>
          </p:cNvPr>
          <p:cNvSpPr>
            <a:spLocks xmlns:a="http://schemas.openxmlformats.org/drawingml/2006/main" noGrp="1"/>
          </p:cNvSpPr>
          <p:nvPr/>
        </p:nvSpPr>
        <p:spPr>
          <a:xfrm xmlns:a="http://schemas.openxmlformats.org/drawingml/2006/main">
            <a:off x="6419850" y="1590675"/>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C44C21"/>
                </a:solidFill>
                <a:latin typeface="Arial"/>
                <a:ea typeface="Arial"/>
                <a:cs typeface="Arial"/>
              </a:defRPr>
            </a:pPr>
            <a:r>
              <a:rPr sz="2550" b="1">
                <a:solidFill>
                  <a:srgbClr val="C44C21"/>
                </a:solidFill>
                <a:latin typeface="Arial"/>
                <a:ea typeface="Arial"/>
                <a:cs typeface="Arial"/>
              </a:rPr>
              <a:t>Berikutnya</a:t>
            </a:r>
          </a:p>
        </p:txBody>
      </p:sp>
      <p:sp>
        <p:nvSpPr>
          <p:cNvPr id="6" name="">
            <a:extLst xmlns:a="http://schemas.openxmlformats.org/drawingml/2006/main">
              <a:ext uri="{FF2B5EF4-FFF2-40B4-BE49-F238E27FC236}">
                <a16:creationId xmlns:a16="http://schemas.microsoft.com/office/drawing/2014/main" id="{75C0819B-FDF2-45D8-8438-FD94BD577C99}"/>
              </a:ext>
            </a:extLst>
          </p:cNvPr>
          <p:cNvSpPr>
            <a:spLocks xmlns:a="http://schemas.openxmlformats.org/drawingml/2006/main" noGrp="1"/>
          </p:cNvSpPr>
          <p:nvPr/>
        </p:nvSpPr>
        <p:spPr>
          <a:xfrm xmlns:a="http://schemas.openxmlformats.org/drawingml/2006/main">
            <a:off x="6419850" y="2228850"/>
            <a:ext cx="51816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32B48"/>
                </a:solidFill>
                <a:latin typeface="Arial"/>
                <a:ea typeface="Arial"/>
                <a:cs typeface="Arial"/>
              </a:defRPr>
            </a:pPr>
            <a:r>
              <a:rPr sz="2175" b="0">
                <a:solidFill>
                  <a:srgbClr val="132B48"/>
                </a:solidFill>
                <a:latin typeface="Arial"/>
                <a:ea typeface="Arial"/>
                <a:cs typeface="Arial"/>
              </a:rPr>
              <a:t>Konfirmasi database dan tipe ID</a:t>
            </a:r>
          </a:p>
          <a:p xmlns:a="http://schemas.openxmlformats.org/drawingml/2006/main">
            <a:pPr>
              <a:defRPr sz="2175" b="0">
                <a:solidFill>
                  <a:srgbClr val="132B48"/>
                </a:solidFill>
                <a:latin typeface="Arial"/>
                <a:ea typeface="Arial"/>
                <a:cs typeface="Arial"/>
              </a:defRPr>
            </a:pPr>
            <a:r>
              <a:rPr sz="2175" b="0">
                <a:solidFill>
                  <a:srgbClr val="132B48"/>
                </a:solidFill>
                <a:latin typeface="Arial"/>
                <a:ea typeface="Arial"/>
                <a:cs typeface="Arial"/>
              </a:rPr>
              <a:t>Implementasi API</a:t>
            </a:r>
          </a:p>
          <a:p xmlns:a="http://schemas.openxmlformats.org/drawingml/2006/main">
            <a:pPr>
              <a:defRPr sz="2175" b="0">
                <a:solidFill>
                  <a:srgbClr val="132B48"/>
                </a:solidFill>
                <a:latin typeface="Arial"/>
                <a:ea typeface="Arial"/>
                <a:cs typeface="Arial"/>
              </a:defRPr>
            </a:pPr>
            <a:r>
              <a:rPr sz="2175" b="0">
                <a:solidFill>
                  <a:srgbClr val="132B48"/>
                </a:solidFill>
                <a:latin typeface="Arial"/>
                <a:ea typeface="Arial"/>
                <a:cs typeface="Arial"/>
              </a:rPr>
              <a:t>Integrasi React</a:t>
            </a:r>
          </a:p>
        </p:txBody>
      </p:sp>
      <p:sp>
        <p:nvSpPr>
          <p:cNvPr id="7" name="">
            <a:extLst xmlns:a="http://schemas.openxmlformats.org/drawingml/2006/main">
              <a:ext uri="{FF2B5EF4-FFF2-40B4-BE49-F238E27FC236}">
                <a16:creationId xmlns:a16="http://schemas.microsoft.com/office/drawing/2014/main" id="{245161A8-F72A-468D-8772-CBAE5AC7A3F6}"/>
              </a:ext>
            </a:extLst>
          </p:cNvPr>
          <p:cNvSpPr>
            <a:spLocks xmlns:a="http://schemas.openxmlformats.org/drawingml/2006/main" noGrp="1"/>
          </p:cNvSpPr>
          <p:nvPr/>
        </p:nvSpPr>
        <p:spPr>
          <a:xfrm xmlns:a="http://schemas.openxmlformats.org/drawingml/2006/main">
            <a:off x="571500" y="46196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C44C21"/>
                </a:solidFill>
                <a:latin typeface="Arial"/>
                <a:ea typeface="Arial"/>
                <a:cs typeface="Arial"/>
              </a:defRPr>
            </a:pPr>
            <a:r>
              <a:rPr sz="2025" b="1">
                <a:solidFill>
                  <a:srgbClr val="C44C21"/>
                </a:solidFill>
                <a:latin typeface="Arial"/>
                <a:ea typeface="Arial"/>
                <a:cs typeface="Arial"/>
              </a:rPr>
              <a:t>Fokus pengujian</a:t>
            </a:r>
          </a:p>
        </p:txBody>
      </p:sp>
      <p:sp>
        <p:nvSpPr>
          <p:cNvPr id="8" name="">
            <a:extLst xmlns:a="http://schemas.openxmlformats.org/drawingml/2006/main">
              <a:ext uri="{FF2B5EF4-FFF2-40B4-BE49-F238E27FC236}">
                <a16:creationId xmlns:a16="http://schemas.microsoft.com/office/drawing/2014/main" id="{C32FBF02-3464-4985-A072-E1B38EFAB345}"/>
              </a:ext>
            </a:extLst>
          </p:cNvPr>
          <p:cNvSpPr>
            <a:spLocks xmlns:a="http://schemas.openxmlformats.org/drawingml/2006/main" noGrp="1"/>
          </p:cNvSpPr>
          <p:nvPr/>
        </p:nvSpPr>
        <p:spPr>
          <a:xfrm xmlns:a="http://schemas.openxmlformats.org/drawingml/2006/main">
            <a:off x="571500" y="5143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Kuota bersamaan, otorisasi organisasi dan ketahanan pengiriman notifikasi</a:t>
            </a:r>
          </a:p>
        </p:txBody>
      </p:sp>
    </p:spTree>
    <p:extLst>
      <p:ext uri="{BB962C8B-B14F-4D97-AF65-F5344CB8AC3E}">
        <p14:creationId xmlns:p14="http://schemas.microsoft.com/office/powerpoint/2010/main" val="14443416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12C566-65D4-4E11-97A4-894A294A9D0D}"/>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B48"/>
                </a:solidFill>
                <a:latin typeface="Arial"/>
                <a:ea typeface="Arial"/>
                <a:cs typeface="Arial"/>
              </a:defRPr>
            </a:pPr>
            <a:r>
              <a:rPr sz="3300" b="1">
                <a:solidFill>
                  <a:srgbClr val="132B48"/>
                </a:solidFill>
                <a:latin typeface="Arial"/>
                <a:ea typeface="Arial"/>
                <a:cs typeface="Arial"/>
              </a:rPr>
              <a:t>Dokumen acuan dan diagram</a:t>
            </a:r>
          </a:p>
        </p:txBody>
      </p:sp>
      <p:sp>
        <p:nvSpPr>
          <p:cNvPr id="2" name="">
            <a:extLst xmlns:a="http://schemas.openxmlformats.org/drawingml/2006/main">
              <a:ext uri="{FF2B5EF4-FFF2-40B4-BE49-F238E27FC236}">
                <a16:creationId xmlns:a16="http://schemas.microsoft.com/office/drawing/2014/main" id="{85EF2021-BC91-4F8D-9D43-A3407F0A608D}"/>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EB3F4F3C-68B2-40B3-8B57-486EC6A841B5}"/>
              </a:ext>
            </a:extLst>
          </p:cNvPr>
          <p:cNvSpPr>
            <a:spLocks xmlns:a="http://schemas.openxmlformats.org/drawingml/2006/main" noGrp="1"/>
          </p:cNvSpPr>
          <p:nvPr/>
        </p:nvSpPr>
        <p:spPr>
          <a:xfrm xmlns:a="http://schemas.openxmlformats.org/drawingml/2006/main">
            <a:off x="571500" y="162877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C44C21"/>
                </a:solidFill>
                <a:latin typeface="Arial"/>
                <a:ea typeface="Arial"/>
                <a:cs typeface="Arial"/>
              </a:defRPr>
            </a:pPr>
            <a:r>
              <a:rPr sz="2475" b="1">
                <a:solidFill>
                  <a:srgbClr val="C44C21"/>
                </a:solidFill>
                <a:latin typeface="Arial"/>
                <a:ea typeface="Arial"/>
                <a:cs typeface="Arial"/>
              </a:rPr>
              <a:t>Acuan rancangan</a:t>
            </a:r>
          </a:p>
        </p:txBody>
      </p:sp>
      <p:sp>
        <p:nvSpPr>
          <p:cNvPr id="4" name="">
            <a:extLst xmlns:a="http://schemas.openxmlformats.org/drawingml/2006/main">
              <a:ext uri="{FF2B5EF4-FFF2-40B4-BE49-F238E27FC236}">
                <a16:creationId xmlns:a16="http://schemas.microsoft.com/office/drawing/2014/main" id="{7CA973BF-F8C0-42E1-ADC3-D64DB6FA07D3}"/>
              </a:ext>
            </a:extLst>
          </p:cNvPr>
          <p:cNvSpPr>
            <a:spLocks xmlns:a="http://schemas.openxmlformats.org/drawingml/2006/main" noGrp="1"/>
          </p:cNvSpPr>
          <p:nvPr/>
        </p:nvSpPr>
        <p:spPr>
          <a:xfrm xmlns:a="http://schemas.openxmlformats.org/drawingml/2006/main">
            <a:off x="571500" y="2362200"/>
            <a:ext cx="5238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SRS EventKu versi 2</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DOCX Bambang Minggu 5–7</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INF300 RPL UTS</a:t>
            </a:r>
          </a:p>
        </p:txBody>
      </p:sp>
      <p:sp>
        <p:nvSpPr>
          <p:cNvPr id="5" name="">
            <a:extLst xmlns:a="http://schemas.openxmlformats.org/drawingml/2006/main">
              <a:ext uri="{FF2B5EF4-FFF2-40B4-BE49-F238E27FC236}">
                <a16:creationId xmlns:a16="http://schemas.microsoft.com/office/drawing/2014/main" id="{59604091-FC74-45F3-818D-F1F713E902DF}"/>
              </a:ext>
            </a:extLst>
          </p:cNvPr>
          <p:cNvSpPr>
            <a:spLocks xmlns:a="http://schemas.openxmlformats.org/drawingml/2006/main" noGrp="1"/>
          </p:cNvSpPr>
          <p:nvPr/>
        </p:nvSpPr>
        <p:spPr>
          <a:xfrm xmlns:a="http://schemas.openxmlformats.org/drawingml/2006/main">
            <a:off x="6858000" y="162877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C44C21"/>
                </a:solidFill>
                <a:latin typeface="Arial"/>
                <a:ea typeface="Arial"/>
                <a:cs typeface="Arial"/>
              </a:defRPr>
            </a:pPr>
            <a:r>
              <a:rPr sz="2475" b="1">
                <a:solidFill>
                  <a:srgbClr val="C44C21"/>
                </a:solidFill>
                <a:latin typeface="Arial"/>
                <a:ea typeface="Arial"/>
                <a:cs typeface="Arial"/>
              </a:rPr>
              <a:t>Dokumen online</a:t>
            </a:r>
          </a:p>
        </p:txBody>
      </p:sp>
      <p:sp>
        <p:nvSpPr>
          <p:cNvPr id="6" name="">
            <a:extLst xmlns:a="http://schemas.openxmlformats.org/drawingml/2006/main">
              <a:ext uri="{FF2B5EF4-FFF2-40B4-BE49-F238E27FC236}">
                <a16:creationId xmlns:a16="http://schemas.microsoft.com/office/drawing/2014/main" id="{89C194BD-4485-4AF2-88A6-C906CF8B9434}"/>
              </a:ext>
            </a:extLst>
          </p:cNvPr>
          <p:cNvSpPr>
            <a:spLocks xmlns:a="http://schemas.openxmlformats.org/drawingml/2006/main" noGrp="1"/>
          </p:cNvSpPr>
          <p:nvPr/>
        </p:nvSpPr>
        <p:spPr>
          <a:xfrm xmlns:a="http://schemas.openxmlformats.org/drawingml/2006/main">
            <a:off x="6858000" y="247650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C44C21"/>
                </a:solidFill>
                <a:latin typeface="Arial"/>
                <a:ea typeface="Arial"/>
                <a:cs typeface="Arial"/>
              </a:defRPr>
            </a:pPr>
            <a:r>
              <a:rPr sz="1875" u="sng">
                <a:solidFill>
                  <a:srgbClr val="C44C21"/>
                </a:solidFill>
                <a:latin typeface="Arial"/>
                <a:ea typeface="Arial"/>
                <a:cs typeface="Arial"/>
                <a:hlinkClick xmlns:r="http://schemas.openxmlformats.org/officeDocument/2006/relationships" r:id="R5f65a22bfe6b4679"/>
              </a:rPr>
              <a:t>Diagram Lucidchart</a:t>
            </a:r>
          </a:p>
        </p:txBody>
      </p:sp>
      <p:sp>
        <p:nvSpPr>
          <p:cNvPr id="7" name="">
            <a:extLst xmlns:a="http://schemas.openxmlformats.org/drawingml/2006/main">
              <a:ext uri="{FF2B5EF4-FFF2-40B4-BE49-F238E27FC236}">
                <a16:creationId xmlns:a16="http://schemas.microsoft.com/office/drawing/2014/main" id="{D450D632-BD1B-4121-875F-DB6A7FE3CBC9}"/>
              </a:ext>
            </a:extLst>
          </p:cNvPr>
          <p:cNvSpPr>
            <a:spLocks xmlns:a="http://schemas.openxmlformats.org/drawingml/2006/main" noGrp="1"/>
          </p:cNvSpPr>
          <p:nvPr/>
        </p:nvSpPr>
        <p:spPr>
          <a:xfrm xmlns:a="http://schemas.openxmlformats.org/drawingml/2006/main">
            <a:off x="6858000" y="317182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C44C21"/>
                </a:solidFill>
                <a:latin typeface="Arial"/>
                <a:ea typeface="Arial"/>
                <a:cs typeface="Arial"/>
              </a:defRPr>
            </a:pPr>
            <a:r>
              <a:rPr sz="1875" u="sng">
                <a:solidFill>
                  <a:srgbClr val="C44C21"/>
                </a:solidFill>
                <a:latin typeface="Arial"/>
                <a:ea typeface="Arial"/>
                <a:cs typeface="Arial"/>
                <a:hlinkClick xmlns:r="http://schemas.openxmlformats.org/officeDocument/2006/relationships" r:id="Rf9a44e7406e440a8"/>
              </a:rPr>
              <a:t>Repositori GitHub</a:t>
            </a:r>
          </a:p>
        </p:txBody>
      </p:sp>
      <p:sp>
        <p:nvSpPr>
          <p:cNvPr id="8" name="">
            <a:extLst xmlns:a="http://schemas.openxmlformats.org/drawingml/2006/main">
              <a:ext uri="{FF2B5EF4-FFF2-40B4-BE49-F238E27FC236}">
                <a16:creationId xmlns:a16="http://schemas.microsoft.com/office/drawing/2014/main" id="{ED331924-8A18-4367-9678-62E375DD63DC}"/>
              </a:ext>
            </a:extLst>
          </p:cNvPr>
          <p:cNvSpPr>
            <a:spLocks xmlns:a="http://schemas.openxmlformats.org/drawingml/2006/main" noGrp="1"/>
          </p:cNvSpPr>
          <p:nvPr/>
        </p:nvSpPr>
        <p:spPr>
          <a:xfrm xmlns:a="http://schemas.openxmlformats.org/drawingml/2006/main">
            <a:off x="571500" y="4953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32B48"/>
                </a:solidFill>
                <a:latin typeface="Arial"/>
                <a:ea typeface="Arial"/>
                <a:cs typeface="Arial"/>
              </a:defRPr>
            </a:pPr>
            <a:r>
              <a:rPr sz="2700" b="1">
                <a:solidFill>
                  <a:srgbClr val="132B48"/>
                </a:solidFill>
                <a:latin typeface="Arial"/>
                <a:ea typeface="Arial"/>
                <a:cs typeface="Arial"/>
              </a:rPr>
              <a:t>Lampiran teknis</a:t>
            </a:r>
          </a:p>
        </p:txBody>
      </p:sp>
      <p:sp>
        <p:nvSpPr>
          <p:cNvPr id="9" name="">
            <a:extLst xmlns:a="http://schemas.openxmlformats.org/drawingml/2006/main">
              <a:ext uri="{FF2B5EF4-FFF2-40B4-BE49-F238E27FC236}">
                <a16:creationId xmlns:a16="http://schemas.microsoft.com/office/drawing/2014/main" id="{D34092B7-73A1-4A0E-8E4C-E32FDD02A7F8}"/>
              </a:ext>
            </a:extLst>
          </p:cNvPr>
          <p:cNvSpPr>
            <a:spLocks xmlns:a="http://schemas.openxmlformats.org/drawingml/2006/main" noGrp="1"/>
          </p:cNvSpPr>
          <p:nvPr/>
        </p:nvSpPr>
        <p:spPr>
          <a:xfrm xmlns:a="http://schemas.openxmlformats.org/drawingml/2006/main">
            <a:off x="571500" y="55721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6384A"/>
                </a:solidFill>
                <a:latin typeface="Arial"/>
                <a:ea typeface="Arial"/>
                <a:cs typeface="Arial"/>
              </a:defRPr>
            </a:pPr>
            <a:r>
              <a:rPr sz="2100" b="0">
                <a:solidFill>
                  <a:srgbClr val="26384A"/>
                </a:solidFill>
                <a:latin typeface="Arial"/>
                <a:ea typeface="Arial"/>
                <a:cs typeface="Arial"/>
              </a:rPr>
              <a:t>ERD final dan class diagram setiap modul</a:t>
            </a:r>
          </a:p>
        </p:txBody>
      </p:sp>
    </p:spTree>
    <p:extLst>
      <p:ext uri="{BB962C8B-B14F-4D97-AF65-F5344CB8AC3E}">
        <p14:creationId xmlns:p14="http://schemas.microsoft.com/office/powerpoint/2010/main" val="632079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919BE70-EC08-4417-9C30-9D3E8C3F0664}"/>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32B48"/>
                </a:solidFill>
                <a:latin typeface="Arial"/>
                <a:ea typeface="Arial"/>
                <a:cs typeface="Arial"/>
              </a:defRPr>
            </a:pPr>
            <a:r>
              <a:rPr sz="2850" b="1">
                <a:solidFill>
                  <a:srgbClr val="132B48"/>
                </a:solidFill>
                <a:latin typeface="Arial"/>
                <a:ea typeface="Arial"/>
                <a:cs typeface="Arial"/>
              </a:rPr>
              <a:t>ERD final</a:t>
            </a:r>
          </a:p>
        </p:txBody>
      </p:sp>
      <p:sp>
        <p:nvSpPr>
          <p:cNvPr id="2" name="">
            <a:extLst xmlns:a="http://schemas.openxmlformats.org/drawingml/2006/main">
              <a:ext uri="{FF2B5EF4-FFF2-40B4-BE49-F238E27FC236}">
                <a16:creationId xmlns:a16="http://schemas.microsoft.com/office/drawing/2014/main" id="{CAB2AB24-B686-4291-81EE-7060592DC590}"/>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15</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8bb2568918744d5"/>
          <a:stretch xmlns:a="http://schemas.openxmlformats.org/drawingml/2006/main"/>
        </p:blipFill>
        <p:spPr>
          <a:xfrm xmlns:a="http://schemas.openxmlformats.org/drawingml/2006/main">
            <a:off x="3238180" y="1076325"/>
            <a:ext cx="5715640" cy="5210175"/>
          </a:xfrm>
          <a:prstGeom xmlns:a="http://schemas.openxmlformats.org/drawingml/2006/main" prst="rect">
            <a:avLst/>
          </a:prstGeom>
        </p:spPr>
      </p:pic>
    </p:spTree>
    <p:extLst>
      <p:ext uri="{BB962C8B-B14F-4D97-AF65-F5344CB8AC3E}">
        <p14:creationId xmlns:p14="http://schemas.microsoft.com/office/powerpoint/2010/main" val="14132339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0DCB9CA-B27F-4B1C-AAEE-196CABF11CAD}"/>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32B48"/>
                </a:solidFill>
                <a:latin typeface="Arial"/>
                <a:ea typeface="Arial"/>
                <a:cs typeface="Arial"/>
              </a:defRPr>
            </a:pPr>
            <a:r>
              <a:rPr sz="2850" b="1">
                <a:solidFill>
                  <a:srgbClr val="132B48"/>
                </a:solidFill>
                <a:latin typeface="Arial"/>
                <a:ea typeface="Arial"/>
                <a:cs typeface="Arial"/>
              </a:rPr>
              <a:t>class diagram Auth</a:t>
            </a:r>
          </a:p>
        </p:txBody>
      </p:sp>
      <p:sp>
        <p:nvSpPr>
          <p:cNvPr id="2" name="">
            <a:extLst xmlns:a="http://schemas.openxmlformats.org/drawingml/2006/main">
              <a:ext uri="{FF2B5EF4-FFF2-40B4-BE49-F238E27FC236}">
                <a16:creationId xmlns:a16="http://schemas.microsoft.com/office/drawing/2014/main" id="{7E0AEC67-8E49-4CC0-B7B0-EFC1F8A72A32}"/>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16</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86a784ec7e9432b"/>
          <a:stretch xmlns:a="http://schemas.openxmlformats.org/drawingml/2006/main"/>
        </p:blipFill>
        <p:spPr>
          <a:xfrm xmlns:a="http://schemas.openxmlformats.org/drawingml/2006/main">
            <a:off x="3698564" y="1076325"/>
            <a:ext cx="4794871" cy="5210175"/>
          </a:xfrm>
          <a:prstGeom xmlns:a="http://schemas.openxmlformats.org/drawingml/2006/main" prst="rect">
            <a:avLst/>
          </a:prstGeom>
        </p:spPr>
      </p:pic>
    </p:spTree>
    <p:extLst>
      <p:ext uri="{BB962C8B-B14F-4D97-AF65-F5344CB8AC3E}">
        <p14:creationId xmlns:p14="http://schemas.microsoft.com/office/powerpoint/2010/main" val="15411454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21BED6A-13FB-4C1F-BDE9-B39113174594}"/>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32B48"/>
                </a:solidFill>
                <a:latin typeface="Arial"/>
                <a:ea typeface="Arial"/>
                <a:cs typeface="Arial"/>
              </a:defRPr>
            </a:pPr>
            <a:r>
              <a:rPr sz="2850" b="1">
                <a:solidFill>
                  <a:srgbClr val="132B48"/>
                </a:solidFill>
                <a:latin typeface="Arial"/>
                <a:ea typeface="Arial"/>
                <a:cs typeface="Arial"/>
              </a:rPr>
              <a:t>class diagram Event</a:t>
            </a:r>
          </a:p>
        </p:txBody>
      </p:sp>
      <p:sp>
        <p:nvSpPr>
          <p:cNvPr id="2" name="">
            <a:extLst xmlns:a="http://schemas.openxmlformats.org/drawingml/2006/main">
              <a:ext uri="{FF2B5EF4-FFF2-40B4-BE49-F238E27FC236}">
                <a16:creationId xmlns:a16="http://schemas.microsoft.com/office/drawing/2014/main" id="{E0E77B80-FE29-4530-BD8C-91309BAB5766}"/>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17</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6a24cc1e19a4e3b"/>
          <a:stretch xmlns:a="http://schemas.openxmlformats.org/drawingml/2006/main"/>
        </p:blipFill>
        <p:spPr>
          <a:xfrm xmlns:a="http://schemas.openxmlformats.org/drawingml/2006/main">
            <a:off x="3193841" y="1076325"/>
            <a:ext cx="5804318" cy="5210175"/>
          </a:xfrm>
          <a:prstGeom xmlns:a="http://schemas.openxmlformats.org/drawingml/2006/main" prst="rect">
            <a:avLst/>
          </a:prstGeom>
        </p:spPr>
      </p:pic>
    </p:spTree>
    <p:extLst>
      <p:ext uri="{BB962C8B-B14F-4D97-AF65-F5344CB8AC3E}">
        <p14:creationId xmlns:p14="http://schemas.microsoft.com/office/powerpoint/2010/main" val="1554472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B55E61A-A3B3-4CE5-BE4C-0E17B80EA795}"/>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32B48"/>
                </a:solidFill>
                <a:latin typeface="Arial"/>
                <a:ea typeface="Arial"/>
                <a:cs typeface="Arial"/>
              </a:defRPr>
            </a:pPr>
            <a:r>
              <a:rPr sz="2850" b="1">
                <a:solidFill>
                  <a:srgbClr val="132B48"/>
                </a:solidFill>
                <a:latin typeface="Arial"/>
                <a:ea typeface="Arial"/>
                <a:cs typeface="Arial"/>
              </a:rPr>
              <a:t>class diagram Pendaftaran</a:t>
            </a:r>
          </a:p>
        </p:txBody>
      </p:sp>
      <p:sp>
        <p:nvSpPr>
          <p:cNvPr id="2" name="">
            <a:extLst xmlns:a="http://schemas.openxmlformats.org/drawingml/2006/main">
              <a:ext uri="{FF2B5EF4-FFF2-40B4-BE49-F238E27FC236}">
                <a16:creationId xmlns:a16="http://schemas.microsoft.com/office/drawing/2014/main" id="{76664213-5EE2-4698-8AC2-6DCFBB48DD57}"/>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18</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3b48815d6254e5e"/>
          <a:stretch xmlns:a="http://schemas.openxmlformats.org/drawingml/2006/main"/>
        </p:blipFill>
        <p:spPr>
          <a:xfrm xmlns:a="http://schemas.openxmlformats.org/drawingml/2006/main">
            <a:off x="3626999" y="1076325"/>
            <a:ext cx="4938002" cy="5210175"/>
          </a:xfrm>
          <a:prstGeom xmlns:a="http://schemas.openxmlformats.org/drawingml/2006/main" prst="rect">
            <a:avLst/>
          </a:prstGeom>
        </p:spPr>
      </p:pic>
    </p:spTree>
    <p:extLst>
      <p:ext uri="{BB962C8B-B14F-4D97-AF65-F5344CB8AC3E}">
        <p14:creationId xmlns:p14="http://schemas.microsoft.com/office/powerpoint/2010/main" val="4652289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2E39811-9E5F-408C-A6AE-904AF8121B76}"/>
              </a:ext>
            </a:extLst>
          </p:cNvPr>
          <p:cNvSpPr>
            <a:spLocks xmlns:a="http://schemas.openxmlformats.org/drawingml/2006/main" noGrp="1"/>
          </p:cNvSpPr>
          <p:nvPr/>
        </p:nvSpPr>
        <p:spPr>
          <a:xfrm xmlns:a="http://schemas.openxmlformats.org/drawingml/2006/main">
            <a:off x="533400" y="4000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32B48"/>
                </a:solidFill>
                <a:latin typeface="Arial"/>
                <a:ea typeface="Arial"/>
                <a:cs typeface="Arial"/>
              </a:defRPr>
            </a:pPr>
            <a:r>
              <a:rPr sz="2850" b="1">
                <a:solidFill>
                  <a:srgbClr val="132B48"/>
                </a:solidFill>
                <a:latin typeface="Arial"/>
                <a:ea typeface="Arial"/>
                <a:cs typeface="Arial"/>
              </a:rPr>
              <a:t>class diagram Notifikasi</a:t>
            </a:r>
          </a:p>
        </p:txBody>
      </p:sp>
      <p:sp>
        <p:nvSpPr>
          <p:cNvPr id="2" name="">
            <a:extLst xmlns:a="http://schemas.openxmlformats.org/drawingml/2006/main">
              <a:ext uri="{FF2B5EF4-FFF2-40B4-BE49-F238E27FC236}">
                <a16:creationId xmlns:a16="http://schemas.microsoft.com/office/drawing/2014/main" id="{7239133F-0222-4547-A8BE-95AD2280E10B}"/>
              </a:ext>
            </a:extLst>
          </p:cNvPr>
          <p:cNvSpPr>
            <a:spLocks xmlns:a="http://schemas.openxmlformats.org/drawingml/2006/main" noGrp="1"/>
          </p:cNvSpPr>
          <p:nvPr/>
        </p:nvSpPr>
        <p:spPr>
          <a:xfrm xmlns:a="http://schemas.openxmlformats.org/drawingml/2006/main">
            <a:off x="11258550" y="64103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66788B"/>
                </a:solidFill>
                <a:latin typeface="Arial"/>
                <a:ea typeface="Arial"/>
                <a:cs typeface="Arial"/>
              </a:defRPr>
            </a:pPr>
            <a:r>
              <a:rPr sz="1125" b="0">
                <a:solidFill>
                  <a:srgbClr val="66788B"/>
                </a:solidFill>
                <a:latin typeface="Arial"/>
                <a:ea typeface="Arial"/>
                <a:cs typeface="Arial"/>
              </a:rPr>
              <a:t>19</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7a3d3c045bc4ad8"/>
          <a:stretch xmlns:a="http://schemas.openxmlformats.org/drawingml/2006/main"/>
        </p:blipFill>
        <p:spPr>
          <a:xfrm xmlns:a="http://schemas.openxmlformats.org/drawingml/2006/main">
            <a:off x="3749574" y="1076325"/>
            <a:ext cx="4692853" cy="5210175"/>
          </a:xfrm>
          <a:prstGeom xmlns:a="http://schemas.openxmlformats.org/drawingml/2006/main" prst="rect">
            <a:avLst/>
          </a:prstGeom>
        </p:spPr>
      </p:pic>
    </p:spTree>
    <p:extLst>
      <p:ext uri="{BB962C8B-B14F-4D97-AF65-F5344CB8AC3E}">
        <p14:creationId xmlns:p14="http://schemas.microsoft.com/office/powerpoint/2010/main" val="874625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2026-10-06T18:46:16.3390000Z</dcterms:created>
  <dcterms:modified xsi:type="dcterms:W3CDTF">2026-10-06T18:46:16.3390000Z</dcterms:modified>
</coreProperties>
</file>